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0" y="-1097280"/>
            <a:ext cx="3840480" cy="384048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9535" y="685800"/>
            <a:ext cx="5120640" cy="384048"/>
          </a:xfrm>
          <a:prstGeom prst="roundRect">
            <a:avLst/>
          </a:prstGeom>
          <a:solidFill>
            <a:srgbClr val="162440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✦  تحدي الذكاء الاصطناعي في خدمة المحتوى الإسلامي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0"/>
              </a:spcAft>
              <a:defRPr sz="4400" b="1">
                <a:solidFill>
                  <a:srgbClr val="FFFFFF"/>
                </a:solidFill>
                <a:latin typeface="Noto Sans Arabic"/>
              </a:defRPr>
            </a:pPr>
            <a:r>
              <a:t>بيّنة AI</a:t>
            </a:r>
          </a:p>
          <a:p>
            <a:pPr algn="r" rtl="1">
              <a:spcAft>
                <a:spcPts val="1200"/>
              </a:spcAft>
              <a:defRPr sz="1800" b="1">
                <a:solidFill>
                  <a:srgbClr val="94A3B8"/>
                </a:solidFill>
                <a:latin typeface="Arial"/>
              </a:defRPr>
            </a:pPr>
            <a:r>
              <a:t>Bayyinah Engine — Grounded Verification System</a:t>
            </a:r>
          </a:p>
          <a:p>
            <a:pPr algn="r" rtl="1">
              <a:spcAft>
                <a:spcPts val="1200"/>
              </a:spcAft>
              <a:defRPr sz="2100" b="1">
                <a:solidFill>
                  <a:srgbClr val="10B981"/>
                </a:solidFill>
                <a:latin typeface="Noto Sans Arabic"/>
              </a:defRPr>
            </a:pPr>
            <a:r>
              <a:t>محرك التحقق المعرفي وتتبع الأدلة الشرعية لتمكين المعرّفين بالإسلام</a:t>
            </a:r>
          </a:p>
          <a:p>
            <a:pPr algn="r" rtl="1">
              <a:spcAft>
                <a:spcPts val="600"/>
              </a:spcAft>
              <a:defRPr sz="1400">
                <a:solidFill>
                  <a:srgbClr val="CBD5E1"/>
                </a:solidFill>
                <a:latin typeface="Noto Sans Arabic"/>
              </a:defRPr>
            </a:pPr>
            <a:r>
              <a:t>المسار التنافسي: أدوات المعرفة والتحقق لتمكين المعرفين بالإسلام</a:t>
            </a:r>
          </a:p>
          <a:p>
            <a:pPr algn="r" rtl="1">
              <a:defRPr sz="1250">
                <a:solidFill>
                  <a:srgbClr val="94A3B8"/>
                </a:solidFill>
                <a:latin typeface="Noto Sans Arabic"/>
              </a:defRPr>
            </a:pPr>
            <a:r>
              <a:t>منظومة استدلال مقيد (Grounded RAG) مع إسناد لحظي للأحاديث والمتون المحققة وبروتوكول امتناع صارم ضد الهلوسة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4462272"/>
            <a:ext cx="3364992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66176" y="4462272"/>
            <a:ext cx="2999232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4464" y="4626864"/>
            <a:ext cx="29626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Arabic"/>
              </a:defRPr>
            </a:pPr>
            <a:r>
              <a:t>التحقق الفوري والإسناد  •  01</a:t>
            </a:r>
          </a:p>
          <a:p>
            <a:pPr algn="r" rtl="1">
              <a:defRPr sz="1150">
                <a:solidFill>
                  <a:srgbClr val="94A3B8"/>
                </a:solidFill>
                <a:latin typeface="Noto Sans Arabic"/>
              </a:defRPr>
            </a:pPr>
            <a:r>
              <a:t>ربط مباشر بين كل ادعاء أو اقتباس ونص الشاهد ورقم الحديث من أمهات المصادر المعتمدة.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4462272"/>
            <a:ext cx="3364992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288" y="4462272"/>
            <a:ext cx="2999232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4626864"/>
            <a:ext cx="29626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Arabic"/>
              </a:defRPr>
            </a:pPr>
            <a:r>
              <a:t>صفر هلوسة معرفية  •  02</a:t>
            </a:r>
          </a:p>
          <a:p>
            <a:pPr algn="r" rtl="1">
              <a:defRPr sz="1150">
                <a:solidFill>
                  <a:srgbClr val="94A3B8"/>
                </a:solidFill>
                <a:latin typeface="Noto Sans Arabic"/>
              </a:defRPr>
            </a:pPr>
            <a:r>
              <a:t>حصر التوليد في سياق المراجع المحققة مع بروتوكول الامتناع الذكي عند عدم التيقن.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62272"/>
            <a:ext cx="3364992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462272"/>
            <a:ext cx="2999232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626864"/>
            <a:ext cx="29626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Arabic"/>
              </a:defRPr>
            </a:pPr>
            <a:r>
              <a:t>تمكين ميداني للدعاة  •  03</a:t>
            </a:r>
          </a:p>
          <a:p>
            <a:pPr algn="r" rtl="1">
              <a:defRPr sz="1150">
                <a:solidFill>
                  <a:srgbClr val="94A3B8"/>
                </a:solidFill>
                <a:latin typeface="Noto Sans Arabic"/>
              </a:defRPr>
            </a:pPr>
            <a:r>
              <a:t>بطاقة دليل موثقة (Evidence Card) جاهزة للاستخدام اللحظي في الحوارات والمناظرات.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1050">
                <a:solidFill>
                  <a:srgbClr val="64748B"/>
                </a:solidFill>
                <a:latin typeface="Noto Sans Arabic"/>
              </a:defRPr>
            </a:pPr>
            <a:r>
              <a:t>وثيقة العرض الفني والحل التقني  |  النسخة الموجهة للتحكيم  |  أكتوبر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سياق الحاجة  •  المشهد الميداني الحالي</a:t>
            </a:r>
          </a:p>
          <a:p>
            <a:pPr algn="r" rtl="1">
              <a:spcAft>
                <a:spcPts val="300"/>
              </a:spcAft>
              <a:defRPr sz="2600" b="1">
                <a:solidFill>
                  <a:srgbClr val="0F172A"/>
                </a:solidFill>
                <a:latin typeface="Noto Sans Arabic"/>
              </a:defRPr>
            </a:pPr>
            <a:r>
              <a:t>التحديات الواقعية في الميدان المعرفي والدعوي</a:t>
            </a:r>
          </a:p>
          <a:p>
            <a:pPr algn="r" rtl="1">
              <a:defRPr sz="1300">
                <a:solidFill>
                  <a:srgbClr val="64748B"/>
                </a:solidFill>
                <a:latin typeface="Noto Sans Arabic"/>
              </a:defRPr>
            </a:pPr>
            <a:r>
              <a:t>فجوات حرجة تعيق المعرّفين وصنّاع المحتوى وتفتح الباب لتسرب الروايات غير المحققة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83296" y="1920240"/>
            <a:ext cx="336499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66176" y="2084832"/>
            <a:ext cx="2999232" cy="32918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01  •  تحدي الكفاءة والوقت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4464" y="2523744"/>
            <a:ext cx="2962656" cy="3264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600" b="1">
                <a:solidFill>
                  <a:srgbClr val="0F172A"/>
                </a:solidFill>
                <a:latin typeface="Noto Sans Arabic"/>
              </a:defRPr>
            </a:pPr>
            <a:r>
              <a:t>صعوبة وبطء التحقق الميداني</a:t>
            </a:r>
          </a:p>
          <a:p>
            <a:pPr algn="r" rtl="1"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Manual Verification Overhead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استنزاف وقت الباحث والداعية في البحث اليدوي الشاق بين أمهات الكتب والموسوعات.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صعوبة التثبت اللحظي من درجة وصحة الأحاديث ورتبة الرواة أثناء الحوارات المباشرة.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تأخر الرد على التساؤلات والشبهات مما يؤدي إلى ضياع فرصة التأثير الإيجابي في المتلقي.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47888" y="5184647"/>
            <a:ext cx="3035808" cy="56692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r" rtl="1">
              <a:defRPr sz="1000" b="1">
                <a:solidFill>
                  <a:srgbClr val="0F172A"/>
                </a:solidFill>
                <a:latin typeface="Noto Sans Arabic"/>
              </a:defRPr>
            </a:pPr>
            <a:r>
              <a:t>الأثر: هدر أكثر من 60% من وقت الباحثين في التخريج اليدوي والتحقق المكتبي.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6499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0288" y="2084832"/>
            <a:ext cx="2999232" cy="32918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D97706"/>
                </a:solidFill>
                <a:latin typeface="Noto Sans Arabic"/>
              </a:defRPr>
            </a:pPr>
            <a:r>
              <a:t>02  •  خطر السلامة المعرفية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523744"/>
            <a:ext cx="2962656" cy="3264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600" b="1">
                <a:solidFill>
                  <a:srgbClr val="0F172A"/>
                </a:solidFill>
                <a:latin typeface="Noto Sans Arabic"/>
              </a:defRPr>
            </a:pPr>
            <a:r>
              <a:t>مخاطر الهلوسة الرقمية</a:t>
            </a:r>
          </a:p>
          <a:p>
            <a:pPr algn="r" rtl="1"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AI Hallucination &amp; Plausible Fiction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توليد نماذج اللغة العامة (LLMs) لأحاديث وروايات وتفاسير مختلقة كلياً أو ناقصة.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نسبة أقوال وأحكام لمصادر شرعية غير صحيحة بصياغة لغوية خادعة توهم بالموثوقية.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افتقار النماذج التجارية للمعاجم التخصصية والتمييز الدقيق بين الروايات الصحيحة والضعيفة.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184647"/>
            <a:ext cx="3035808" cy="56692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r" rtl="1">
              <a:defRPr sz="1000" b="1">
                <a:solidFill>
                  <a:srgbClr val="0F172A"/>
                </a:solidFill>
                <a:latin typeface="Noto Sans Arabic"/>
              </a:defRPr>
            </a:pPr>
            <a:r>
              <a:t>الأثر: تضليل معرفي خطير عند الاعتماد على الذكاء الاصطناعي العام دون رقابة وضبط.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336499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084832"/>
            <a:ext cx="2999232" cy="32918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03  •  فجوة التوثيق والمصدر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23744"/>
            <a:ext cx="2962656" cy="3264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600" b="1">
                <a:solidFill>
                  <a:srgbClr val="0F172A"/>
                </a:solidFill>
                <a:latin typeface="Noto Sans Arabic"/>
              </a:defRPr>
            </a:pPr>
            <a:r>
              <a:t>غياب أدوات التتبع اللحظي</a:t>
            </a:r>
          </a:p>
          <a:p>
            <a:pPr algn="r" rtl="1"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Lack of Real-Time Grounding Tools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افتقار المحتوى الرقمي الإسلامي إلى أداة تتبع مباشر تُظهر نص الشاهد والمصدر بدقة.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غياب الربط الآلي برقم الحديث، الباب، وحكم جهابذة المحدثين المعتمدين.</a:t>
            </a:r>
          </a:p>
          <a:p>
            <a:pPr algn="r" rtl="1">
              <a:spcAft>
                <a:spcPts val="6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•  صعوبة التحقق من صحة المقاطع والنصوص المتداولة على شبكات التواصل الاجتماعي فورياً.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5184647"/>
            <a:ext cx="3035808" cy="56692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r" rtl="1">
              <a:defRPr sz="1000" b="1">
                <a:solidFill>
                  <a:srgbClr val="0F172A"/>
                </a:solidFill>
                <a:latin typeface="Noto Sans Arabic"/>
              </a:defRPr>
            </a:pPr>
            <a:r>
              <a:t>الأثر: انعدام الثقة في المحتوى المنشور وصعوبة إسناد الحجج في النقاشات الفكرية.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89320"/>
            <a:ext cx="10728655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050" b="1">
                <a:solidFill>
                  <a:srgbClr val="059669"/>
                </a:solidFill>
                <a:latin typeface="Noto Sans Arabic"/>
              </a:defRPr>
            </a:pPr>
            <a:r>
              <a:t>الخلاصة: الميدان المعرفي بحاجة إلى محرك تحقق هندسي محكم لا يعتمد على التوليد المفتوح، بل يربط كل نص بمصدره المعتمد.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6382512"/>
            <a:ext cx="9174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000">
                <a:solidFill>
                  <a:srgbClr val="64748B"/>
                </a:solidFill>
                <a:latin typeface="Noto Sans Arabic"/>
              </a:defRPr>
            </a:pPr>
            <a:r>
              <a:t>بيّنة AI — Bayyinah Engine  |  تحدي الذكاء الاصطناعي في خدمة المحتوى الإسلامي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82512"/>
            <a:ext cx="1371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rtl="0">
              <a:defRPr sz="1000" b="1">
                <a:solidFill>
                  <a:srgbClr val="059669"/>
                </a:solidFill>
                <a:latin typeface="Arial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الحل المبتكر  •  القيمة التنافسية المضافة</a:t>
            </a:r>
          </a:p>
          <a:p>
            <a:pPr algn="r" rtl="1">
              <a:spcAft>
                <a:spcPts val="300"/>
              </a:spcAft>
              <a:defRPr sz="2600" b="1">
                <a:solidFill>
                  <a:srgbClr val="0F172A"/>
                </a:solidFill>
                <a:latin typeface="Noto Sans Arabic"/>
              </a:defRPr>
            </a:pPr>
            <a:r>
              <a:t>الحل: محرك استدلال وتحقق معزز بالاسترجاع المقيد</a:t>
            </a:r>
          </a:p>
          <a:p>
            <a:pPr algn="r" rtl="1">
              <a:defRPr sz="1300">
                <a:solidFill>
                  <a:srgbClr val="64748B"/>
                </a:solidFill>
                <a:latin typeface="Noto Sans Arabic"/>
              </a:defRPr>
            </a:pPr>
            <a:r>
              <a:t>Grounded RAG — منظومة هندسية ذكية تدمج الضبط الشرعي الصارم مع البحث الدلالي والهجين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83296" y="1920240"/>
            <a:ext cx="3364992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66176" y="2084832"/>
            <a:ext cx="2999232" cy="32918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✦  الركيزة الأولى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4464" y="2523744"/>
            <a:ext cx="2962656" cy="3264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600" b="1">
                <a:solidFill>
                  <a:srgbClr val="0F172A"/>
                </a:solidFill>
                <a:latin typeface="Noto Sans Arabic"/>
              </a:defRPr>
            </a:pPr>
            <a:r>
              <a:t>التحقق الفوري والإسناد</a:t>
            </a:r>
          </a:p>
          <a:p>
            <a:pPr algn="r" rtl="1"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Instant Verification &amp; Grounding</a:t>
            </a:r>
          </a:p>
          <a:p>
            <a:pPr algn="r" rtl="1">
              <a:spcAft>
                <a:spcPts val="10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استخراج الادعاءات والشواهد من استفسار المستخدم ومطابقتها دلالياً ولفظياً مع المراجع الحقلية المعتمدة فورياً.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تجزئة آلية دقيقة للنصوص وتحديد مواضع الاستدلال الشرعي.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مطابقة هجينة فائقة السرعة مع متون الحديث المعتمدة والمحققة.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كشف التصحيف أو التحريف اللفظي الطفيف في المتن بدقة عالية.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47888" y="5276087"/>
            <a:ext cx="3035808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 rtl="1"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سرعة الاستجابة  •  أقل من 800ms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6499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0288" y="2084832"/>
            <a:ext cx="2999232" cy="32918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✦  الركيزة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523744"/>
            <a:ext cx="2962656" cy="3264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600" b="1">
                <a:solidFill>
                  <a:srgbClr val="0F172A"/>
                </a:solidFill>
                <a:latin typeface="Noto Sans Arabic"/>
              </a:defRPr>
            </a:pPr>
            <a:r>
              <a:t>بطاقة الدليل الموثقة</a:t>
            </a:r>
          </a:p>
          <a:p>
            <a:pPr algn="r" rtl="1"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Evidence Card Architecture</a:t>
            </a:r>
          </a:p>
          <a:p>
            <a:pPr algn="r" rtl="1">
              <a:spcAft>
                <a:spcPts val="10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إبراز حالة الدليل ودرجته وسنده ورقم المرجع بشكل شفاف، مرئي، وقابل للتتبع الفوري بنقرة واحدة.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عرض حكم المحدثين (صحيح، حسن، ضعيف) بترميز لوني واضح.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إبراز المصدر، اسم الكتاب، الباب، ورقم الحديث المعتمد دولياً.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عرض نص الشاهد الأصلي مع سياقه الكامل لمنع الاقتطاع المخل.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276087"/>
            <a:ext cx="3035808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 rtl="1"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شفافية الإسناد  •  100% توثيق قطعي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336499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084832"/>
            <a:ext cx="2999232" cy="32918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✦  الركيزة الثالثة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23744"/>
            <a:ext cx="2962656" cy="3264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600" b="1">
                <a:solidFill>
                  <a:srgbClr val="0F172A"/>
                </a:solidFill>
                <a:latin typeface="Noto Sans Arabic"/>
              </a:defRPr>
            </a:pPr>
            <a:r>
              <a:t>بروتوكول الامتناع الذكي</a:t>
            </a:r>
          </a:p>
          <a:p>
            <a:pPr algn="r" rtl="1"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Abstention &amp; Human Handoff</a:t>
            </a:r>
          </a:p>
          <a:p>
            <a:pPr algn="r" rtl="1">
              <a:spcAft>
                <a:spcPts val="1000"/>
              </a:spcAft>
              <a:defRPr sz="1150">
                <a:solidFill>
                  <a:srgbClr val="334155"/>
                </a:solidFill>
                <a:latin typeface="Noto Sans Arabic"/>
              </a:defRPr>
            </a:pPr>
            <a:r>
              <a:t>توقف النظام تلقائياً عن التوليد عند انخفاض عتبة اليقين، مع إحالة الاستفسارات المشتبهة لمختص بشري.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تطبيق سياسة صارمة: الصمت والامتناع أفضل من توليد معلومة خاطئة.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حظر التوليد الحر تماماً عند غياب السند المباشر في قاعدة المعرفة.</a:t>
            </a:r>
          </a:p>
          <a:p>
            <a:pPr algn="r" rtl="1">
              <a:spcAft>
                <a:spcPts val="5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لوحة تدقيق بشري مدمجة لتحكيم المسائل الدقيقة وتطوير النظام.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5276087"/>
            <a:ext cx="3035808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 rtl="1"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الأمان المعرفي  •  0% هلوسة رقمية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6382512"/>
            <a:ext cx="9174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000">
                <a:solidFill>
                  <a:srgbClr val="64748B"/>
                </a:solidFill>
                <a:latin typeface="Noto Sans Arabic"/>
              </a:defRPr>
            </a:pPr>
            <a:r>
              <a:t>بيّنة AI — Bayyinah Engine  |  تحدي الذكاء الاصطناعي في خدمة المحتوى الإسلامي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82512"/>
            <a:ext cx="1371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rtl="0">
              <a:defRPr sz="1000" b="1">
                <a:solidFill>
                  <a:srgbClr val="059669"/>
                </a:solidFill>
                <a:latin typeface="Arial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المعمارية الهندسية  •  مسار تدفق البيانات</a:t>
            </a:r>
          </a:p>
          <a:p>
            <a:pPr algn="r" rtl="1">
              <a:spcAft>
                <a:spcPts val="300"/>
              </a:spcAft>
              <a:defRPr sz="2600" b="1">
                <a:solidFill>
                  <a:srgbClr val="0F172A"/>
                </a:solidFill>
                <a:latin typeface="Noto Sans Arabic"/>
              </a:defRPr>
            </a:pPr>
            <a:r>
              <a:t>المعمارية الهندسية ومسار البيانات المتكامل</a:t>
            </a:r>
          </a:p>
          <a:p>
            <a:pPr algn="r" rtl="1">
              <a:defRPr sz="1300">
                <a:solidFill>
                  <a:srgbClr val="64748B"/>
                </a:solidFill>
                <a:latin typeface="Noto Sans Arabic"/>
              </a:defRPr>
            </a:pPr>
            <a:r>
              <a:t>End-to-End Pipeline — خط أنابيب برمجي موجه للإنتاج يجمع بين الاسترجاع الهجين والتحكيم فائق الدقة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33688" y="1920240"/>
            <a:ext cx="2505456" cy="397763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98280" y="2084832"/>
            <a:ext cx="2176272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50" b="1">
                <a:solidFill>
                  <a:srgbClr val="10B981"/>
                </a:solidFill>
                <a:latin typeface="Noto Sans Arabic"/>
              </a:defRPr>
            </a:pPr>
            <a:r>
              <a:t>المرحلة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2578608"/>
            <a:ext cx="2176272" cy="3200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400" b="1">
                <a:solidFill>
                  <a:srgbClr val="0F172A"/>
                </a:solidFill>
                <a:latin typeface="Noto Sans Arabic"/>
              </a:defRPr>
            </a:pPr>
            <a:r>
              <a:t>طبقة البيانات المنسقة</a:t>
            </a:r>
          </a:p>
          <a:p>
            <a:pPr algn="r" rtl="1">
              <a:spcAft>
                <a:spcPts val="10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Curated Knowledge Ingestion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تجميع وتدقيق صحاح الحديث (البخاري، مسلم، والسنن).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كتب التفسير المحققة والمتون الفقهية المعتمدة.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تقسيم النصوص وتوليد التضمينات (Domain Embeddings).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0848" y="5303519"/>
            <a:ext cx="2231136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950" b="1">
                <a:solidFill>
                  <a:srgbClr val="1D4ED8"/>
                </a:solidFill>
                <a:latin typeface="Arial"/>
              </a:defRPr>
            </a:pPr>
            <a:r>
              <a:t>PostgreSQL • Normalized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20240"/>
            <a:ext cx="2505456" cy="397763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4224" y="2084832"/>
            <a:ext cx="2176272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50" b="1">
                <a:solidFill>
                  <a:srgbClr val="10B981"/>
                </a:solidFill>
                <a:latin typeface="Noto Sans Arabic"/>
              </a:defRPr>
            </a:pPr>
            <a:r>
              <a:t>المرحلة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2578608"/>
            <a:ext cx="2176272" cy="3200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400" b="1">
                <a:solidFill>
                  <a:srgbClr val="0F172A"/>
                </a:solidFill>
                <a:latin typeface="Noto Sans Arabic"/>
              </a:defRPr>
            </a:pPr>
            <a:r>
              <a:t>محرك البحث الهجين</a:t>
            </a:r>
          </a:p>
          <a:p>
            <a:pPr algn="r" rtl="1">
              <a:spcAft>
                <a:spcPts val="10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Hybrid pgvector + BM25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مطابقة دلالية بالأبعاد المتجهة عبر امتداد pgvector.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بحث معجمي لفظي دقيق (BM25) لمطابقة ألفاظ المتون.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دمج النتائج عبر خوارزمية Reciprocal Rank Fusion.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5303519"/>
            <a:ext cx="2231136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950" b="1">
                <a:solidFill>
                  <a:srgbClr val="1D4ED8"/>
                </a:solidFill>
                <a:latin typeface="Arial"/>
              </a:defRPr>
            </a:pPr>
            <a:r>
              <a:t>pgvector • BM25 • RRF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920240"/>
            <a:ext cx="2505456" cy="397763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0168" y="2084832"/>
            <a:ext cx="2176272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50" b="1">
                <a:solidFill>
                  <a:srgbClr val="10B981"/>
                </a:solidFill>
                <a:latin typeface="Noto Sans Arabic"/>
              </a:defRPr>
            </a:pPr>
            <a:r>
              <a:t>المرحلة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578608"/>
            <a:ext cx="2176272" cy="3200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400" b="1">
                <a:solidFill>
                  <a:srgbClr val="0F172A"/>
                </a:solidFill>
                <a:latin typeface="Noto Sans Arabic"/>
              </a:defRPr>
            </a:pPr>
            <a:r>
              <a:t>طبقة التحكيم وعتبة الثقة</a:t>
            </a:r>
          </a:p>
          <a:p>
            <a:pPr algn="r" rtl="1">
              <a:spcAft>
                <a:spcPts val="10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Confidence &amp; Re-ranking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إعادة ترتيب المخرجات عبر Cross-Encoder تخصصي.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تطبيق عتبة أمان صارمة (Confidence Threshold).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تفعيل بروتوكول الامتناع الذكي عند غياب السند القطعي.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5303519"/>
            <a:ext cx="2231136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950" b="1">
                <a:solidFill>
                  <a:srgbClr val="1D4ED8"/>
                </a:solidFill>
                <a:latin typeface="Arial"/>
              </a:defRPr>
            </a:pPr>
            <a:r>
              <a:t>Cross-Encoder •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920240"/>
            <a:ext cx="2505456" cy="397763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2084832"/>
            <a:ext cx="2176272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50" b="1">
                <a:solidFill>
                  <a:srgbClr val="10B981"/>
                </a:solidFill>
                <a:latin typeface="Noto Sans Arabic"/>
              </a:defRPr>
            </a:pPr>
            <a:r>
              <a:t>المرحلة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578608"/>
            <a:ext cx="2176272" cy="3200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400" b="1">
                <a:solidFill>
                  <a:srgbClr val="0F172A"/>
                </a:solidFill>
                <a:latin typeface="Noto Sans Arabic"/>
              </a:defRPr>
            </a:pPr>
            <a:r>
              <a:t>واجهة التشغيل والـ API</a:t>
            </a:r>
          </a:p>
          <a:p>
            <a:pPr algn="r" rtl="1">
              <a:spcAft>
                <a:spcPts val="10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FastAPI &amp; Interactive UI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خدمات برمجية سريعة وموثقة بالكامل عبر FastAPI.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واجهة استعراض تفاعلية لبطاقة الدليل (Evidence Card).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334155"/>
                </a:solidFill>
                <a:latin typeface="Noto Sans Arabic"/>
              </a:defRPr>
            </a:pPr>
            <a:r>
              <a:t>•  تصدير فوري للاستشهادات والتخريج الشرعي.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303519"/>
            <a:ext cx="2231136" cy="43891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950" b="1">
                <a:solidFill>
                  <a:srgbClr val="1D4ED8"/>
                </a:solidFill>
                <a:latin typeface="Arial"/>
              </a:defRPr>
            </a:pPr>
            <a:r>
              <a:t>FastAPI • Web UI • REST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6382512"/>
            <a:ext cx="9174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000">
                <a:solidFill>
                  <a:srgbClr val="64748B"/>
                </a:solidFill>
                <a:latin typeface="Noto Sans Arabic"/>
              </a:defRPr>
            </a:pPr>
            <a:r>
              <a:t>بيّنة AI — Bayyinah Engine  |  تحدي الذكاء الاصطناعي في خدمة المحتوى الإسلامي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371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rtl="0">
              <a:defRPr sz="1000" b="1">
                <a:solidFill>
                  <a:srgbClr val="059669"/>
                </a:solidFill>
                <a:latin typeface="Arial"/>
              </a:defRPr>
            </a:pPr>
            <a: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الموثوقية والضوابط  •  معايير الجودة الشرعية</a:t>
            </a:r>
          </a:p>
          <a:p>
            <a:pPr algn="r" rtl="1">
              <a:spcAft>
                <a:spcPts val="300"/>
              </a:spcAft>
              <a:defRPr sz="2600" b="1">
                <a:solidFill>
                  <a:srgbClr val="0F172A"/>
                </a:solidFill>
                <a:latin typeface="Noto Sans Arabic"/>
              </a:defRPr>
            </a:pPr>
            <a:r>
              <a:t>معايير السلامة المعرفية ومكافحة الخطأ</a:t>
            </a:r>
          </a:p>
          <a:p>
            <a:pPr algn="r" rtl="1">
              <a:defRPr sz="1300">
                <a:solidFill>
                  <a:srgbClr val="64748B"/>
                </a:solidFill>
                <a:latin typeface="Noto Sans Arabic"/>
              </a:defRPr>
            </a:pPr>
            <a:r>
              <a:t>منظومة حوكمة هندسية متشددة لضمان أعلى مستويات الدقة وحماية المحتوى الإسلامي من التضليل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83296" y="1874519"/>
            <a:ext cx="3364992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47888" y="1965959"/>
            <a:ext cx="3035808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2200" b="1">
                <a:solidFill>
                  <a:srgbClr val="10B981"/>
                </a:solidFill>
                <a:latin typeface="Arial"/>
              </a:defRPr>
            </a:pPr>
            <a:r>
              <a:t>0%</a:t>
            </a:r>
          </a:p>
          <a:p>
            <a:pPr algn="r" rtl="1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Arabic"/>
              </a:defRPr>
            </a:pPr>
            <a:r>
              <a:t>نسبة الهلوسة الرقمية</a:t>
            </a:r>
          </a:p>
          <a:p>
            <a:pPr algn="r" rtl="1">
              <a:defRPr sz="950">
                <a:solidFill>
                  <a:srgbClr val="CBD5E1"/>
                </a:solidFill>
                <a:latin typeface="Noto Sans Arabic"/>
              </a:defRPr>
            </a:pPr>
            <a:r>
              <a:t>تصفير التوليد الحر عبر تقييد النموذج بالنصوص المعتمدة حصراً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874519"/>
            <a:ext cx="3364992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65959"/>
            <a:ext cx="3035808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2200" b="1">
                <a:solidFill>
                  <a:srgbClr val="10B981"/>
                </a:solidFill>
                <a:latin typeface="Arial"/>
              </a:defRPr>
            </a:pPr>
            <a:r>
              <a:t>+95%</a:t>
            </a:r>
          </a:p>
          <a:p>
            <a:pPr algn="r" rtl="1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Arabic"/>
              </a:defRPr>
            </a:pPr>
            <a:r>
              <a:t>دقة استرجاع المصدر</a:t>
            </a:r>
          </a:p>
          <a:p>
            <a:pPr algn="r" rtl="1">
              <a:defRPr sz="950">
                <a:solidFill>
                  <a:srgbClr val="CBD5E1"/>
                </a:solidFill>
                <a:latin typeface="Noto Sans Arabic"/>
              </a:defRPr>
            </a:pPr>
            <a:r>
              <a:t>مطابقة دلالية وسياقية فائقة لمتون الأحاديث والروايات المعتمدة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64992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65959"/>
            <a:ext cx="3035808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2200" b="1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  <a:p>
            <a:pPr algn="r" rtl="1"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Arabic"/>
              </a:defRPr>
            </a:pPr>
            <a:r>
              <a:t>شفافية الإسناد والعزو</a:t>
            </a:r>
          </a:p>
          <a:p>
            <a:pPr algn="r" rtl="1">
              <a:defRPr sz="950">
                <a:solidFill>
                  <a:srgbClr val="CBD5E1"/>
                </a:solidFill>
                <a:latin typeface="Noto Sans Arabic"/>
              </a:defRPr>
            </a:pPr>
            <a:r>
              <a:t>كل مخرج مدعوم برقم الحديث، اسم الكتاب، وتخريج المحدثين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3291840"/>
            <a:ext cx="5202936" cy="2834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37376" y="3456432"/>
            <a:ext cx="4837176" cy="29260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050" b="1">
                <a:solidFill>
                  <a:srgbClr val="059669"/>
                </a:solidFill>
                <a:latin typeface="Noto Sans Arabic"/>
              </a:defRPr>
            </a:pPr>
            <a:r>
              <a:t>المعيار الأول • الحظر المطلق للتوليد الحر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3822192"/>
            <a:ext cx="4745736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450" b="1">
                <a:solidFill>
                  <a:srgbClr val="0F172A"/>
                </a:solidFill>
                <a:latin typeface="Noto Sans Arabic"/>
              </a:defRPr>
            </a:pPr>
            <a:r>
              <a:t>حصر المخرجات في سياق المراجع المعتمدة</a:t>
            </a:r>
          </a:p>
          <a:p>
            <a:pPr algn="r" rtl="1"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Zero Unbounded Generation Policy</a:t>
            </a:r>
          </a:p>
          <a:p>
            <a:pPr algn="r" rtl="1">
              <a:spcAft>
                <a:spcPts val="500"/>
              </a:spcAft>
              <a:defRPr sz="1120">
                <a:solidFill>
                  <a:srgbClr val="334155"/>
                </a:solidFill>
                <a:latin typeface="Noto Sans Arabic"/>
              </a:defRPr>
            </a:pPr>
            <a:r>
              <a:t>✔  منع نماذج الذكاء الاصطناعي من التخمين أو التوليد غير المستند إلى وثائق مسترجعة.</a:t>
            </a:r>
          </a:p>
          <a:p>
            <a:pPr algn="r" rtl="1">
              <a:spcAft>
                <a:spcPts val="500"/>
              </a:spcAft>
              <a:defRPr sz="1120">
                <a:solidFill>
                  <a:srgbClr val="334155"/>
                </a:solidFill>
                <a:latin typeface="Noto Sans Arabic"/>
              </a:defRPr>
            </a:pPr>
            <a:r>
              <a:t>✔  نظام فحص الحقائق المزدوج: مقارنة كل جملة مصدرة بسياق المتن المحقق حرفياً.</a:t>
            </a:r>
          </a:p>
          <a:p>
            <a:pPr algn="r" rtl="1">
              <a:spcAft>
                <a:spcPts val="500"/>
              </a:spcAft>
              <a:defRPr sz="1120">
                <a:solidFill>
                  <a:srgbClr val="334155"/>
                </a:solidFill>
                <a:latin typeface="Noto Sans Arabic"/>
              </a:defRPr>
            </a:pPr>
            <a:r>
              <a:t>✔  في حال عدم وجود تطابق بنسبة تتجاوز عتبة الأمان، يتم تفعيل بروتوكول الامتناع فوراً.</a:t>
            </a:r>
          </a:p>
          <a:p>
            <a:pPr algn="r" rtl="1">
              <a:spcAft>
                <a:spcPts val="500"/>
              </a:spcAft>
              <a:defRPr sz="1120">
                <a:solidFill>
                  <a:srgbClr val="334155"/>
                </a:solidFill>
                <a:latin typeface="Noto Sans Arabic"/>
              </a:defRPr>
            </a:pPr>
            <a:r>
              <a:t>✔  استبعاد الآراء الشاذة والروايات الضعيفة والموضوعة من نطاق الاستدلال المعتمد.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202936" cy="2834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456432"/>
            <a:ext cx="4837176" cy="29260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050" b="1">
                <a:solidFill>
                  <a:srgbClr val="059669"/>
                </a:solidFill>
                <a:latin typeface="Noto Sans Arabic"/>
              </a:defRPr>
            </a:pPr>
            <a:r>
              <a:t>المعيار الثاني • الحوكمة والتحكيم التخصصي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4745736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450" b="1">
                <a:solidFill>
                  <a:srgbClr val="0F172A"/>
                </a:solidFill>
                <a:latin typeface="Noto Sans Arabic"/>
              </a:defRPr>
            </a:pPr>
            <a:r>
              <a:t>مسار المراجعة والتدقيق البشري المدمج</a:t>
            </a:r>
          </a:p>
          <a:p>
            <a:pPr algn="r" rtl="1"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Human-in-the-Loop Verification Pipeline</a:t>
            </a:r>
          </a:p>
          <a:p>
            <a:pPr algn="r" rtl="1">
              <a:spcAft>
                <a:spcPts val="500"/>
              </a:spcAft>
              <a:defRPr sz="1120">
                <a:solidFill>
                  <a:srgbClr val="334155"/>
                </a:solidFill>
                <a:latin typeface="Noto Sans Arabic"/>
              </a:defRPr>
            </a:pPr>
            <a:r>
              <a:t>✔  لوحة مراجعة للمختصين الشرعيين لتقييم الحالات التي تقع في منطقة الشك المعرفي.</a:t>
            </a:r>
          </a:p>
          <a:p>
            <a:pPr algn="r" rtl="1">
              <a:spcAft>
                <a:spcPts val="500"/>
              </a:spcAft>
              <a:defRPr sz="1120">
                <a:solidFill>
                  <a:srgbClr val="334155"/>
                </a:solidFill>
                <a:latin typeface="Noto Sans Arabic"/>
              </a:defRPr>
            </a:pPr>
            <a:r>
              <a:t>✔  حلقة تغذية راجعة مستمرة (Feedback Loop) لإعادة معايرة أوزان التضمينات وتحسين الدقة.</a:t>
            </a:r>
          </a:p>
          <a:p>
            <a:pPr algn="r" rtl="1">
              <a:spcAft>
                <a:spcPts val="500"/>
              </a:spcAft>
              <a:defRPr sz="1120">
                <a:solidFill>
                  <a:srgbClr val="334155"/>
                </a:solidFill>
                <a:latin typeface="Noto Sans Arabic"/>
              </a:defRPr>
            </a:pPr>
            <a:r>
              <a:t>✔  توثيق سجل تدقيق غير قابل للتعديل (Audit Trail) يوضح كل استعلام ومصدره وحكمه.</a:t>
            </a:r>
          </a:p>
          <a:p>
            <a:pPr algn="r" rtl="1">
              <a:spcAft>
                <a:spcPts val="500"/>
              </a:spcAft>
              <a:defRPr sz="1120">
                <a:solidFill>
                  <a:srgbClr val="334155"/>
                </a:solidFill>
                <a:latin typeface="Noto Sans Arabic"/>
              </a:defRPr>
            </a:pPr>
            <a:r>
              <a:t>✔  تمكين المؤسسات الدعوية من تخصيص معايير القبول والترجيح حسب سياساتها المعتمدة.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6382512"/>
            <a:ext cx="9174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000">
                <a:solidFill>
                  <a:srgbClr val="64748B"/>
                </a:solidFill>
                <a:latin typeface="Noto Sans Arabic"/>
              </a:defRPr>
            </a:pPr>
            <a:r>
              <a:t>بيّنة AI — Bayyinah Engine  |  تحدي الذكاء الاصطناعي في خدمة المحتوى الإسلامي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82512"/>
            <a:ext cx="1371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rtl="0">
              <a:defRPr sz="1000" b="1">
                <a:solidFill>
                  <a:srgbClr val="059669"/>
                </a:solidFill>
                <a:latin typeface="Arial"/>
              </a:defRPr>
            </a:pPr>
            <a: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100" b="1">
                <a:solidFill>
                  <a:srgbClr val="059669"/>
                </a:solidFill>
                <a:latin typeface="Noto Sans Arabic"/>
              </a:defRPr>
            </a:pPr>
            <a:r>
              <a:t>خارطة الطريق  •  مراحل الإنجاز السريع</a:t>
            </a:r>
          </a:p>
          <a:p>
            <a:pPr algn="r" rtl="1">
              <a:spcAft>
                <a:spcPts val="300"/>
              </a:spcAft>
              <a:defRPr sz="2600" b="1">
                <a:solidFill>
                  <a:srgbClr val="0F172A"/>
                </a:solidFill>
                <a:latin typeface="Noto Sans Arabic"/>
              </a:defRPr>
            </a:pPr>
            <a:r>
              <a:t>خطة التنفيذ لبناء المنتج الأولي الجاهز</a:t>
            </a:r>
          </a:p>
          <a:p>
            <a:pPr algn="r" rtl="1">
              <a:defRPr sz="1300">
                <a:solidFill>
                  <a:srgbClr val="64748B"/>
                </a:solidFill>
                <a:latin typeface="Noto Sans Arabic"/>
              </a:defRPr>
            </a:pPr>
            <a:r>
              <a:t>Production-Ready MVP Roadmap — جدول زمني مكثف ومحكم لتحقيق أعلى مخرجات هندسية (4–6 أكتوبر)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83296" y="1920240"/>
            <a:ext cx="336499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47888" y="2084832"/>
            <a:ext cx="3035808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200" b="1">
                <a:solidFill>
                  <a:srgbClr val="10B981"/>
                </a:solidFill>
                <a:latin typeface="Noto Sans Arabic"/>
              </a:defRPr>
            </a:pPr>
            <a:r>
              <a:t>اليوم الأول (4 أكتوبر)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4464" y="2542032"/>
            <a:ext cx="2962656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400" b="1">
                <a:solidFill>
                  <a:srgbClr val="0F172A"/>
                </a:solidFill>
                <a:latin typeface="Noto Sans Arabic"/>
              </a:defRPr>
            </a:pPr>
            <a:r>
              <a:t>التأسيس والبيانات والبنية الخلفية</a:t>
            </a:r>
          </a:p>
          <a:p>
            <a:pPr algn="r" rtl="1">
              <a:spcAft>
                <a:spcPts val="10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Day 1 • Ingestion &amp; Infrastructure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تجهيز وهيكلة قاعدة بيانات المتون المحققة والتفاسير المعتمدة.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توليد التضمينات الدلالية وحفظ الفهارس المتجهة عبر pgvector.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بناء مسارات الـ API الأساسية وخدمات الاستعلام عبر FastAPI.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اختبار وتأكيد زمن الاستجابة الأولي للاسترجاع المتجه.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47888" y="5239511"/>
            <a:ext cx="3035808" cy="5029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r" rtl="1">
              <a:defRPr sz="1050" b="1">
                <a:solidFill>
                  <a:srgbClr val="059669"/>
                </a:solidFill>
                <a:latin typeface="Noto Sans Arabic"/>
              </a:defRPr>
            </a:pPr>
            <a:r>
              <a:t>المخرج: قاعدة معرفية مهيكلة وخادم API يعمل بنجاح.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6499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084832"/>
            <a:ext cx="3035808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200" b="1">
                <a:solidFill>
                  <a:srgbClr val="10B981"/>
                </a:solidFill>
                <a:latin typeface="Noto Sans Arabic"/>
              </a:defRPr>
            </a:pPr>
            <a:r>
              <a:t>اليوم الثاني (5 أكتوبر)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542032"/>
            <a:ext cx="2962656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400" b="1">
                <a:solidFill>
                  <a:srgbClr val="0F172A"/>
                </a:solidFill>
                <a:latin typeface="Noto Sans Arabic"/>
              </a:defRPr>
            </a:pPr>
            <a:r>
              <a:t>محرك البحث والامتناع والسلامة</a:t>
            </a:r>
          </a:p>
          <a:p>
            <a:pPr algn="r" rtl="1">
              <a:spcAft>
                <a:spcPts val="10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Day 2 • Hybrid Search &amp; Guardrails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دمج البحث اللفظي BM25 مع البحث الدلالي عبر خوارزمية RRF.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تفعيل طبقة إعادة الترتيب (Re-ranking) وتحديد عتبة الثقة.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برمجة منطق بروتوكول الامتناع الذكي وإحالة الحالات المشتبهة.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إجراء اختبارات دقة الاسترجاع والسلامة المعرفية ومكافحة الهلوسة.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239511"/>
            <a:ext cx="3035808" cy="5029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r" rtl="1">
              <a:defRPr sz="1050" b="1">
                <a:solidFill>
                  <a:srgbClr val="059669"/>
                </a:solidFill>
                <a:latin typeface="Noto Sans Arabic"/>
              </a:defRPr>
            </a:pPr>
            <a:r>
              <a:t>المخرج: محرك استدلال دقيق مع بروتوكول أمان معتمد.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3364992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2084832"/>
            <a:ext cx="3035808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200" b="1">
                <a:solidFill>
                  <a:srgbClr val="10B981"/>
                </a:solidFill>
                <a:latin typeface="Noto Sans Arabic"/>
              </a:defRPr>
            </a:pPr>
            <a:r>
              <a:t>اليوم الثالث (6 أكتوبر)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42032"/>
            <a:ext cx="2962656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400" b="1">
                <a:solidFill>
                  <a:srgbClr val="0F172A"/>
                </a:solidFill>
                <a:latin typeface="Noto Sans Arabic"/>
              </a:defRPr>
            </a:pPr>
            <a:r>
              <a:t>الواجهة التفاعلية والتوثيق والإطلاق</a:t>
            </a:r>
          </a:p>
          <a:p>
            <a:pPr algn="r" rtl="1">
              <a:spcAft>
                <a:spcPts val="10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Day 3 • Live Demo &amp; Submission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إطلاق الواجهة التفاعلية (Interactive UI) وبطاقة الدليل الموثقة.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توثيق المستودع البرمجي على GitHub مع تعليمات التشغيل السريع.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تسجيل الفيديو التوضيحي للحل واستعراض حالات الاستخدام الحية.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334155"/>
                </a:solidFill>
                <a:latin typeface="Noto Sans Arabic"/>
              </a:defRPr>
            </a:pPr>
            <a:r>
              <a:t>✔  مراجعة معايير التحكيم وضمان الجاهزية التامة للعرض النهائي.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5239511"/>
            <a:ext cx="3035808" cy="5029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r" rtl="1">
              <a:defRPr sz="1050" b="1">
                <a:solidFill>
                  <a:srgbClr val="059669"/>
                </a:solidFill>
                <a:latin typeface="Noto Sans Arabic"/>
              </a:defRPr>
            </a:pPr>
            <a:r>
              <a:t>المخرج: نموذج حي كامل جاهز لاختبارات لجنة التحكيم.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6382512"/>
            <a:ext cx="9174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000">
                <a:solidFill>
                  <a:srgbClr val="64748B"/>
                </a:solidFill>
                <a:latin typeface="Noto Sans Arabic"/>
              </a:defRPr>
            </a:pPr>
            <a:r>
              <a:t>بيّنة AI — Bayyinah Engine  |  تحدي الذكاء الاصطناعي في خدمة المحتوى الإسلامي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82512"/>
            <a:ext cx="1371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rtl="0">
              <a:defRPr sz="1000" b="1">
                <a:solidFill>
                  <a:srgbClr val="059669"/>
                </a:solidFill>
                <a:latin typeface="Arial"/>
              </a:defRPr>
            </a:pPr>
            <a: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القدرة التنفيذية  •  الاستدامة والتوسع</a:t>
            </a:r>
          </a:p>
          <a:p>
            <a:pPr algn="r" rtl="1">
              <a:spcAft>
                <a:spcPts val="300"/>
              </a:spcAft>
              <a:defRPr sz="2600" b="1">
                <a:solidFill>
                  <a:srgbClr val="FFFFFF"/>
                </a:solidFill>
                <a:latin typeface="Noto Sans Arabic"/>
              </a:defRPr>
            </a:pPr>
            <a:r>
              <a:t>القدرة التنفيذية والتوسع المستدام</a:t>
            </a:r>
          </a:p>
          <a:p>
            <a:pPr algn="r" rtl="1">
              <a:defRPr sz="1300">
                <a:solidFill>
                  <a:srgbClr val="94A3B8"/>
                </a:solidFill>
                <a:latin typeface="Noto Sans Arabic"/>
              </a:defRPr>
            </a:pPr>
            <a:r>
              <a:t>فريق متخصص بتكامل هندسي وعلمي، ورؤية طموحة لتحويل الفكرة إلى بنية تحتية دائمة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83296" y="1920240"/>
            <a:ext cx="3364992" cy="3977639"/>
          </a:xfrm>
          <a:prstGeom prst="roundRect">
            <a:avLst/>
          </a:prstGeom>
          <a:solidFill>
            <a:srgbClr val="1E293B"/>
          </a:solidFill>
          <a:ln w="1397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47888" y="2084832"/>
            <a:ext cx="3035808" cy="329184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✦  الكفاءة التنفيذية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4464" y="2542032"/>
            <a:ext cx="2962656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550" b="1">
                <a:solidFill>
                  <a:srgbClr val="FFFFFF"/>
                </a:solidFill>
                <a:latin typeface="Noto Sans Arabic"/>
              </a:defRPr>
            </a:pPr>
            <a:r>
              <a:t>الفريق وتكامل الخبرات</a:t>
            </a:r>
          </a:p>
          <a:p>
            <a:pPr algn="r" rtl="1">
              <a:spcAft>
                <a:spcPts val="10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Execution Capability &amp; Readiness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هندسة البرمجيات والأنظمة الموزعة: تصميم واجهات خلفية عالية الأداء وقابلة للتوسع اللامحدود.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هندسة الذكاء الاصطناعي وRAG: تخصص دقيق في معالجة اللغات الطبيعية والتضمينات المتجهة.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إدارة قواعد البيانات الحديثة: خبرة عملية في إدارة PostgreSQL وpgvector وفهارس البحث.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الاستيعاب الشرعي والمنهجي: حرص صارم على مراعاة أصول التخريج والتحقيق العلمي المعتمد.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20240"/>
            <a:ext cx="3364992" cy="3977639"/>
          </a:xfrm>
          <a:prstGeom prst="roundRect">
            <a:avLst/>
          </a:prstGeom>
          <a:solidFill>
            <a:srgbClr val="1E293B"/>
          </a:solidFill>
          <a:ln w="1397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084832"/>
            <a:ext cx="3035808" cy="329184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✦  الاستدامة بعد التحدي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542032"/>
            <a:ext cx="2962656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550" b="1">
                <a:solidFill>
                  <a:srgbClr val="FFFFFF"/>
                </a:solidFill>
                <a:latin typeface="Noto Sans Arabic"/>
              </a:defRPr>
            </a:pPr>
            <a:r>
              <a:t>التحقق كخدمة برمجية</a:t>
            </a:r>
          </a:p>
          <a:p>
            <a:pPr algn="r" rtl="1">
              <a:spcAft>
                <a:spcPts val="10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Verification-as-a-Service (VaaS)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توفير المحرك كخدمة برمجية سحابية (API) قابلة للربط السهل مع المنصات والمواقع الإسلامية.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إتاحة إضافة للمتصفح (Chrome/Edge Extension) تتيح التحقق الفوري من أي محتوى بنقرة زر.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درع أمان ذكي (Guardrail Plugin) لروبوتات المحادثة الإسلامية لمنع توليد الروايات الخاطئة.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نموذج تشغيلي مستدام عبر شراكات استراتيجية مع المراكز الدعوية والمؤسسات الرقمية.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3364992" cy="3977639"/>
          </a:xfrm>
          <a:prstGeom prst="roundRect">
            <a:avLst/>
          </a:prstGeom>
          <a:solidFill>
            <a:srgbClr val="1E293B"/>
          </a:solidFill>
          <a:ln w="1397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084832"/>
            <a:ext cx="3035808" cy="329184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✦  آفاق التوسع المعرفي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42032"/>
            <a:ext cx="2962656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200"/>
              </a:spcAft>
              <a:defRPr sz="1550" b="1">
                <a:solidFill>
                  <a:srgbClr val="FFFFFF"/>
                </a:solidFill>
                <a:latin typeface="Noto Sans Arabic"/>
              </a:defRPr>
            </a:pPr>
            <a:r>
              <a:t>الرؤية المستقبلية للمنظومة</a:t>
            </a:r>
          </a:p>
          <a:p>
            <a:pPr algn="r" rtl="1">
              <a:spcAft>
                <a:spcPts val="10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Future Roadmap &amp; Scaling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توسيع قاعدة المعرفة لتشمل فتاوى المجامع الفقهية المعتمدة والمعاجم اللغوية الموسعة.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دعم اللغات العالمية الحية (الإنجليزية، الفرنسية، الأردية، الإندونيسية) لخدمة دعاة المهجر.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تضمين المقارنة النصية بين طبعات وروايات المتون المعتمدة لتوفير أعلى مستويات التوثيق.</a:t>
            </a:r>
          </a:p>
          <a:p>
            <a:pPr algn="r" rtl="1">
              <a:spcAft>
                <a:spcPts val="600"/>
              </a:spcAft>
              <a:defRPr sz="1100">
                <a:solidFill>
                  <a:srgbClr val="E2E8F0"/>
                </a:solidFill>
                <a:latin typeface="Noto Sans Arabic"/>
              </a:defRPr>
            </a:pPr>
            <a:r>
              <a:t>•  بناء مرصد رقمي لرصد ومكافحة الأحاديث الموضوعة والشبهات المتداولة لحظياً.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61888"/>
            <a:ext cx="10728655" cy="292608"/>
          </a:xfrm>
          <a:prstGeom prst="roundRect">
            <a:avLst/>
          </a:prstGeom>
          <a:solidFill>
            <a:srgbClr val="162440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100" b="1">
                <a:solidFill>
                  <a:srgbClr val="10B981"/>
                </a:solidFill>
                <a:latin typeface="Noto Sans Arabic"/>
              </a:defRPr>
            </a:pPr>
            <a:r>
              <a:t>بيّنة AI: نحو محتوى إسلامي موثق، رصين، ومحصّن ضد الهلوسة بأحدث حلول الذكاء الاصطناعي.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6382512"/>
            <a:ext cx="9174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defRPr sz="1000">
                <a:solidFill>
                  <a:srgbClr val="94A3B8"/>
                </a:solidFill>
                <a:latin typeface="Noto Sans Arabic"/>
              </a:defRPr>
            </a:pPr>
            <a:r>
              <a:t>بيّنة AI — Bayyinah Engine  |  تحدي الذكاء الاصطناعي في خدمة المحتوى الإسلامي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82512"/>
            <a:ext cx="1371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rtl="0">
              <a:defRPr sz="1000" b="1">
                <a:solidFill>
                  <a:srgbClr val="10B981"/>
                </a:solidFill>
                <a:latin typeface="Arial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