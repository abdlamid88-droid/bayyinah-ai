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31.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4.xml" ContentType="application/vnd.openxmlformats-officedocument.presentationml.slide+xml"/>
  <Override PartName="/ppt/slides/slide27.xml" ContentType="application/vnd.openxmlformats-officedocument.presentationml.slide+xml"/>
  <Override PartName="/ppt/slides/slide31.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63" r:id="rId13"/>
    <p:sldId id="266" r:id="rId16"/>
    <p:sldId id="282" r:id="rId32"/>
    <p:sldId id="279" r:id="rId29"/>
    <p:sldId id="268" r:id="rId18"/>
    <p:sldId id="269" r:id="rId19"/>
    <p:sldId id="270" r:id="rId20"/>
    <p:sldId id="272" r:id="rId22"/>
    <p:sldId id="274" r:id="rId24"/>
    <p:sldId id="273" r:id="rId23"/>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3" Type="http://schemas.openxmlformats.org/officeDocument/2006/relationships/slide" Target="slides/slide8.xml"/><Relationship Id="rId16" Type="http://schemas.openxmlformats.org/officeDocument/2006/relationships/slide" Target="slides/slide11.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9" Type="http://schemas.openxmlformats.org/officeDocument/2006/relationships/slide" Target="slides/slide24.xml"/><Relationship Id="rId32" Type="http://schemas.openxmlformats.org/officeDocument/2006/relationships/slide" Target="slides/slide27.xml"/><Relationship Id="rId36" Type="http://schemas.openxmlformats.org/officeDocument/2006/relationships/slide" Target="slides/slide31.xml"/><Relationship Id="rId37" Type="http://schemas.openxmlformats.org/officeDocument/2006/relationships/font" Target="fonts/Urbanist-regular.fntdata"/><Relationship Id="rId38" Type="http://schemas.openxmlformats.org/officeDocument/2006/relationships/font" Target="fonts/Urbanist-bold.fntdata"/><Relationship Id="rId39" Type="http://schemas.openxmlformats.org/officeDocument/2006/relationships/font" Target="fonts/Urbanist-italic.fntdata"/><Relationship Id="rId40" Type="http://schemas.openxmlformats.org/officeDocument/2006/relationships/font" Target="fonts/Urbanist-boldItalic.fntdata"/><Relationship Id="rId41" Type="http://schemas.openxmlformats.org/officeDocument/2006/relationships/font" Target="fonts/ReadexProMedium-regular.fntdata"/><Relationship Id="rId42" Type="http://schemas.openxmlformats.org/officeDocument/2006/relationships/font" Target="fonts/ReadexProMedium-bold.fntdata"/><Relationship Id="rId43" Type="http://schemas.openxmlformats.org/officeDocument/2006/relationships/font" Target="fonts/ReadexProSemiBold-regular.fntdata"/><Relationship Id="rId44" Type="http://schemas.openxmlformats.org/officeDocument/2006/relationships/font" Target="fonts/ReadexProSemiBold-bold.fntdata"/><Relationship Id="rId45" Type="http://schemas.openxmlformats.org/officeDocument/2006/relationships/font" Target="fonts/ReadexPro-regular.fntdata"/><Relationship Id="rId46" Type="http://schemas.openxmlformats.org/officeDocument/2006/relationships/font" Target="fonts/ReadexPro-bold.fntdata"/><Relationship Id="rId47" Type="http://schemas.openxmlformats.org/officeDocument/2006/relationships/font" Target="fonts/ReadexProLight-regular.fntdata"/><Relationship Id="rId48" Type="http://schemas.openxmlformats.org/officeDocument/2006/relationships/font" Target="fonts/ReadexProLight-bold.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اسم المشروع والوصف واسم الفريق والتاريخ. اجعل اسم المشروع موجزًا. اكتب في الوصف ما يقدمه الحل ولمن. احتفظ بشعار باذل وشعار التحدي كما هما.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عنوانًا واضحًا لكل نقطة وشرحًا قصيرًا. يمكن استخدام هذا التخطيط لملخص المشكلة أو مميزات الحل. لا تضف نقاطًا لا تحتاجها لمجرد ملء المساحة.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لقطة شاشة أو صورة بنسبة تقارب 16:9. ضع تفسيرًا بجانبها، واحذف أي بيانات شخصية من لقطات الاختبار قبل استخدامها.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هذا العنصر النائب مربع بنسبة 1:1. أضف الصورة ثم اضبط القص لتحافظ على الموضوع الأساسي داخل الإطار.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84" name="Google Shape;58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القيم ببيانات حقيقية واذكر الوحدة والفترة والمصدر. إذا كان الرقم مستهدفًا، اكتب «مستهدف» في وصف المؤشر. لا تعرض القيم المستهدفة على أنها نتائج محققة.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عدّل عناوين الأعمدة بحسب بياناتك، ثم أضف الصفوف أو احذفها من أدوات الجدول. ترتيب الأعمدة يبدأ من اليمين.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املأ المراحل من اليمين إلى اليسار. لكل مرحلة اسم وفترة ومخرج واضح. هذا نموذج لخطة مشروع الفريق، وليس جدولًا رسميًا لمواعيد التحدي.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كل عضو واسمه ودوره الفعلي في المشروع. الصور اختيارية. احذف إطار الصورة إن لم تستخدمه، وعدّل عدد الأعضاء بحسب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التسلسل من اليمين إلى اليسار: المدخلات، ثم المعالجة، ثم المخرجات، ثم الأثر على المستخدم. استبدل النصوص بين الأقواس بما يناسب مشروعك. كل مرحلة مربع نص واحد قابل للتحرير، ويمكن تكراره أو حذفه. حافظ على تساوي المسافات عند تعديل عدد المراحل.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الأيقونات الأربع صور أصلية من القالب المرفق، ويمكن تحريكها وتغيير حجمها مع الحفاظ على النسب. كرّر الأيقونة التي تحتاجها. هذه الصفحة لا تدّعي توافر مكتبة أيقونات إضافية غير مرفقة.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احتفظ بشعاري التحول التقني وسدايا باللون الأبيض على الخلفية الداكنة. شعار سدايا أصلي مقتطع بإطار الصورة من مجموعة الشعارات داخل القالب المرفق. استبدل اسم المشروع والرابط، أو احذف سطر الرابط إذا لم تستخدمه.</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sz="4400" b="1">
                <a:solidFill>
                  <a:srgbClr val="2EF2C2"/>
                </a:solidFill>
              </a:rPr>
              <a:t>بَيّنة AI — Bayyinah Engine</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sz="2200" b="1">
                <a:solidFill>
                  <a:srgbClr val="F2F4FF"/>
                </a:solidFill>
              </a:rPr>
              <a:t>محرك التحقق المعرفي وتتبع الأدلة الشرعية لتمكين المعرّفين بالإسلام وصنّاع المحتوى</a:t>
            </a:r>
            <a:br/>
            <a:r>
              <a:rPr sz="1800" b="1">
                <a:solidFill>
                  <a:srgbClr val="F2F4FF"/>
                </a:solidFill>
              </a:rPr>
              <a:t>منظومة استدلال مقيدة بالاسترجاع (Grounded RAG) لمكافحة الهلوسة ونفي الروايات غير الثابتة</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sz="1800" b="1">
                <a:solidFill>
                  <a:srgbClr val="FFFFFF"/>
                </a:solidFill>
              </a:rPr>
              <a:t>فريق بَيّنة AI — تحدي الذكاء الاصطناعي في خدمة المحتوى الإسلامي 2026</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sz="1800" b="1">
                <a:solidFill>
                  <a:srgbClr val="2EF2C2"/>
                </a:solidFill>
              </a:rPr>
              <a:t>ربيع الأول 1448هـ / أكتوبر 2026</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المشكلة وسياق التحدي</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معضلة الموثوقية في عصر الذكاء الاصطناعي</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تحديات واقعية تمس الأمانة العلمية وسلامة المحتوى الإسلامي الرقمي</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هلوسة النماذج التوليدية (LLMs)</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اختلاق أسانيد ومتون وهمية ونسبتها زوراً إلى النبي ﷺ لافتقار النماذج للتأصيل الحديثي.</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انتشار الروايات المكذوبة والضعيفة</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تداول مقولات لا أصل لها على شبكات التواصل بكثافة دون وجود أداة تحقق فورية وميسرة.</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مشقة التخريج والتحقق السريع</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صعوبة وصول الدعاة وصناع المحتوى للمصادر المسندة والتأكد من صحة المتن في ثوانٍ معدودة.</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غياب بطاقات الإسناد الرقمية</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افتقار المحتوى المنشور لوثائق إسناد رقمية معتمدة تدعم مصداقية الطرح أمام الجمهور العالمي.</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180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واجهة التطبيق التفاعلية</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3800" b="1">
                <a:solidFill>
                  <a:srgbClr val="FFFFFF"/>
                </a:solidFill>
              </a:rPr>
              <a:t>تجربة تحقق فورية وموثقة عبر واجهة بَيّنة AI</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576" name="Google Shape;576;p13" descr="streamlit_ui_verified.png"/>
          <p:cNvPicPr>
            <a:picLocks noGrp="1" noChangeAspect="1"/>
          </p:cNvPicPr>
          <p:nvPr>
            <p:ph idx="2" type="pic"/>
          </p:nvPr>
        </p:nvPicPr>
        <p:blipFill>
          <a:blip r:embed="rId5"/>
          <a:srcRect t="26000" b="26000"/>
          <a:stretch>
            <a:fillRect/>
          </a:stretch>
        </p:blipFill>
        <p:spPr/>
      </p:pic>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بطاقة التحقق والإسناد المباشرة</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فحص فوري لحديث «إنما الأعمال بالنيات» بنسبة تطابق 96.4%، مع استخراج الكتاب والباب وتخريج الحديث في صحيح البخاري، وإبراز المفاهيم الدلالية المطابقة.</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التوثيق والتصدير الفوري</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إمكانية تصدير بطاقة إسناد وشهادة تحقق رقمية جاهزة للنشر، مع زمن استجابة لحظي يعزز موثوقية المحتوى الدعوي والمعرفي.</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85" name="Shape 585"/>
        <p:cNvGrpSpPr/>
        <p:nvPr/>
      </p:nvGrpSpPr>
      <p:grpSpPr>
        <a:xfrm>
          <a:off x="0" y="0"/>
          <a:ext cx="0" cy="0"/>
          <a:chOff x="0" y="0"/>
          <a:chExt cx="0" cy="0"/>
        </a:xfrm>
      </p:grpSpPr>
      <p:pic>
        <p:nvPicPr>
          <p:cNvPr id="586" name="Google Shape;586;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588" name="Google Shape;588;p1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89" name="Google Shape;589;p1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بروتوكول الرفض الذكي</a:t>
            </a:r>
            <a:endParaRPr/>
          </a:p>
        </p:txBody>
      </p:sp>
      <p:sp>
        <p:nvSpPr>
          <p:cNvPr id="590" name="Google Shape;590;p1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3800" b="1">
                <a:solidFill>
                  <a:srgbClr val="FFFFFF"/>
                </a:solidFill>
              </a:rPr>
              <a:t>كشف الروايات المكذوبة والامتناع الصارم عن التوليد</a:t>
            </a:r>
            <a:endParaRPr/>
          </a:p>
        </p:txBody>
      </p:sp>
      <p:sp>
        <p:nvSpPr>
          <p:cNvPr id="591" name="Google Shape;591;p1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592" name="Google Shape;592;p14" descr="streamlit_ui_refused.png"/>
          <p:cNvPicPr>
            <a:picLocks noGrp="1" noChangeAspect="1"/>
          </p:cNvPicPr>
          <p:nvPr>
            <p:ph idx="2" type="pic"/>
          </p:nvPr>
        </p:nvPicPr>
        <p:blipFill>
          <a:blip r:embed="rId5"/>
          <a:srcRect t="7333" b="7333"/>
          <a:stretch>
            <a:fillRect/>
          </a:stretch>
        </p:blipFill>
        <p:spPr/>
      </p:pic>
      <p:sp>
        <p:nvSpPr>
          <p:cNvPr id="593" name="Google Shape;593;p14"/>
          <p:cNvSpPr txBox="1"/>
          <p:nvPr>
            <p:ph idx="3" type="body"/>
          </p:nvPr>
        </p:nvSpPr>
        <p:spPr>
          <a:xfrm>
            <a:off x="9696450" y="3905250"/>
            <a:ext cx="7143900" cy="800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450"/>
              <a:buNone/>
            </a:pPr>
            <a:r>
              <a:rPr sz="2600" b="1">
                <a:solidFill>
                  <a:srgbClr val="2EF2C2"/>
                </a:solidFill>
              </a:rPr>
              <a:t>تحصين المحتوى ضد الأحاديث الموضوعة والباطلة</a:t>
            </a:r>
            <a:endParaRPr/>
          </a:p>
        </p:txBody>
      </p:sp>
      <p:sp>
        <p:nvSpPr>
          <p:cNvPr id="594" name="Google Shape;594;p14"/>
          <p:cNvSpPr txBox="1"/>
          <p:nvPr>
            <p:ph idx="4" type="body"/>
          </p:nvPr>
        </p:nvSpPr>
        <p:spPr>
          <a:xfrm>
            <a:off x="9696450" y="5191125"/>
            <a:ext cx="7143900" cy="20325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2850"/>
              <a:buNone/>
            </a:pPr>
            <a:r>
              <a:rPr sz="1800" b="1">
                <a:solidFill>
                  <a:srgbClr val="F2F4FF"/>
                </a:solidFill>
              </a:rPr>
              <a:t>عند فحص مقولة مشهورة مكذوبة («اطلبوا العلم ولو في الصين»)، يكتشف المحرك عدم ثبوتها في صحيحي البخاري ومسلم، ويهبط مؤشر التطابق إلى ما دون عتبة القبول، فيصدر النظام تنبيهاً صريحاً يمتنع فيه عن الإسناد أو التوليد.</a:t>
            </a:r>
            <a:endParaRPr>
              <a:latin typeface="Readex Pro Light"/>
              <a:ea typeface="Readex Pro Light"/>
              <a:cs typeface="Readex Pro Light"/>
              <a:sym typeface="Readex Pro Light"/>
            </a:endParaRPr>
          </a:p>
        </p:txBody>
      </p:sp>
      <p:sp>
        <p:nvSpPr>
          <p:cNvPr id="595" name="Google Shape;595;p14"/>
          <p:cNvSpPr txBox="1"/>
          <p:nvPr>
            <p:ph idx="5" type="body"/>
          </p:nvPr>
        </p:nvSpPr>
        <p:spPr>
          <a:xfrm>
            <a:off x="9696450" y="8048625"/>
            <a:ext cx="7143900" cy="743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950"/>
              <a:buNone/>
            </a:pPr>
            <a:r>
              <a:rPr sz="1800" b="1">
                <a:solidFill>
                  <a:srgbClr val="FFFFFF"/>
                </a:solidFill>
              </a:rPr>
              <a:t>بروتوكول الرفض الذكي لمنظومة بَيّنة AI — تصفير تام للهلوثة وحماية للأمانة العلمية</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الأثر والمؤشرات</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مؤشرات الكفاءة الهندسية والأمانة العلمية</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000" b="1">
                <a:solidFill>
                  <a:srgbClr val="F2F4FF"/>
                </a:solidFill>
              </a:rPr>
              <a:t>بيئة الإنتاج والقياس المعياري الفعلي 2026</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0%</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نسبة الهلوسة الرقمية</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تصفير تام للتوليد الحر</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&lt; 5ms</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زمن استجابة الكاش</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استرجاع فوري للذاكرة المؤقتة</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+95%</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دقة المطابقة الدلالية</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تطابق دلالي ولفظي هجين</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100%</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شفافية الإسناد والعزو</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توثيق قطعي بالأبواب والأرقام</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F2F4FF"/>
                </a:solidFill>
              </a:rPr>
              <a:t>سجلات القياس المعياري لنظام بَيّنة AI — أكتوبر 2026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المقارنة والتحكيم</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مقارنة منهجية التحقق: بَيّنة AI مقابل النماذج العامة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000" b="1">
                <a:solidFill>
                  <a:srgbClr val="F2F4FF"/>
                </a:solidFill>
              </a:rPr>
              <a:t>لماذا تتفوق الأنظمة المقيدة بالاسترجاع (Grounded RAG) على روبوتات المحادثة العامة؟</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algn="ctr"/>
                      <a:r>
                        <a:rPr sz="1800" b="1">
                          <a:solidFill>
                            <a:srgbClr val="2EF2C2"/>
                          </a:solidFill>
                        </a:rPr>
                        <a:t>الأثر والتميز</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محرك بَيّنة AI (Grounded RAG)</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نماذج الذكاء الاصطناعي العامة (LLMs)</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معيار المقارنة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algn="ctr"/>
                      <a:r>
                        <a:rPr sz="1600" b="1">
                          <a:solidFill>
                            <a:srgbClr val="2EF2C2"/>
                          </a:solidFill>
                        </a:rPr>
                        <a:t>موثوقية علمية مطلقة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تقييد قطعي بالأصول المسندة (البخاري ومسلم)</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توليد احتمالي عام من بيانات الويب غير المنقحة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الاعتماد على المصادر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أمان شرعي ومعرفي</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صفرية (0% - بروتوكول رفض صارم)</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مرتفعة (تختلق أسانيد ومتون وهمية وتنسبها)</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نسبة الهلوسة واختلاق الأحاديث</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كفاءة تشغيلية فائقة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فورية (&lt; 5ms بالكاش) وتكلفة تشغيل منخفضة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استجابة بطيئة (1.5 - 3 ثوانٍ) وتكلفة متكررة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سرعة الاستجابة والتكلفة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جاهزية تامة للنشر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بطاقة إسناد رقمية معتمدة برقم الحديث والباب</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إجابات نصية إنشائية دون عزو منضبط</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شفافية العزو والتوثيق</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F2F4FF"/>
                </a:solidFill>
              </a:rPr>
              <a:t>القياس المعياري لبيئة الإنتاج — تحدي الذكاء الاصطناعي في خدمة المحتوى الإسلامي 2026</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خطة التنفيذ</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خارطة طريق التطوير من النموذج الأولي إلى الإطلاق الشامل</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الجدول الزمني 2026 - 2027</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تأسيس قاعدة المعرفة</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1: الربع الأول 2026</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جمع وتدقيق متون صحيحي البخاري ومسلم والأربعين النووية وتوليد متجهات pgvector.</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تطوير محرك البحث والكاش</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2: الربع الثاني 2026</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دمج خوارزمية RRF الهجينة وتفعيل ذاكرة الكاش اللحظية واستقرار خدمات FastAPI.</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بناء الواجهة وبطاقات الإسناد</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3: الربع الثالث 2026</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إطلاق واجهة المستخدم التفاعلية وتضمين ميزة تصدير بطاقات الإسناد وشهادات التحقق.</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التحكيم والقياس المعياري</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4: أكتوبر 2026</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المشاركة في هاكاثون المحتوى الإسلامي، اختبار صفر هلوسة، وإثبات تفوق الأداء.</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التوسع السحابي (VaaS API)</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5: 2027</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إتاحة محرك التحقق كخدمة سحابية لكافة التطبيقات والمنصات الإسلامية وصناع المحتوى.</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القدرة التنفيذية</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فريق العمل والتنفيذ</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فريق بَيّنة AI — تكامل هندسي ومعرفي متكامل</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692" name="Google Shape;692;p19"/>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a:p/>
        </p:txBody>
      </p:sp>
      <p:sp>
        <p:nvSpPr>
          <p:cNvPr id="693" name="Google Shape;693;p19"/>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مهندس الذكاء الاصطناعي وأنظمة RAG</a:t>
            </a:r>
            <a:endParaRPr/>
          </a:p>
        </p:txBody>
      </p:sp>
      <p:sp>
        <p:nvSpPr>
          <p:cNvPr id="694" name="Google Shape;694;p19"/>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sz="1800" b="1">
                <a:solidFill>
                  <a:srgbClr val="FFFFFF"/>
                </a:solidFill>
              </a:rPr>
              <a:t>تطوير معمارية البحث الهجين، فهارس pgvector، وضبط نماذج التضمين الدلالي text-embedding-004.</a:t>
            </a:r>
            <a:endParaRPr/>
          </a:p>
        </p:txBody>
      </p:sp>
      <p:sp>
        <p:nvSpPr>
          <p:cNvPr id="695" name="Google Shape;695;p19"/>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a:p/>
        </p:txBody>
      </p:sp>
      <p:sp>
        <p:nvSpPr>
          <p:cNvPr id="696" name="Google Shape;696;p19"/>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مهندس البرمجيات والبنية التحتية</a:t>
            </a:r>
            <a:endParaRPr/>
          </a:p>
        </p:txBody>
      </p:sp>
      <p:sp>
        <p:nvSpPr>
          <p:cNvPr id="697" name="Google Shape;697;p19"/>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sz="1800" b="1">
                <a:solidFill>
                  <a:srgbClr val="FFFFFF"/>
                </a:solidFill>
              </a:rPr>
              <a:t>بناء خط أنابيب البيانات، خدمات FastAPI، كاش الذاكرة المؤقتة، ونشر الحاويات عبر Docker.</a:t>
            </a:r>
            <a:endParaRPr/>
          </a:p>
        </p:txBody>
      </p:sp>
      <p:sp>
        <p:nvSpPr>
          <p:cNvPr id="698" name="Google Shape;698;p19"/>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a:p/>
        </p:txBody>
      </p:sp>
      <p:sp>
        <p:nvSpPr>
          <p:cNvPr id="699" name="Google Shape;699;p19"/>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مستشار المحتوى الرقمي والتحقيق الشرعي</a:t>
            </a:r>
            <a:endParaRPr/>
          </a:p>
        </p:txBody>
      </p:sp>
      <p:sp>
        <p:nvSpPr>
          <p:cNvPr id="700" name="Google Shape;700;p19"/>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sz="1800" b="1">
                <a:solidFill>
                  <a:srgbClr val="FFFFFF"/>
                </a:solidFill>
              </a:rPr>
              <a:t>تدقيق معايير الأمانة العلمية، مطابقة أصول الروايات، وبناء سيناريوهات الرفض الذكي.</a:t>
            </a:r>
            <a:endParaRPr/>
          </a:p>
        </p:txBody>
      </p:sp>
      <p:sp>
        <p:nvSpPr>
          <p:cNvPr id="701" name="Google Shape;701;p19"/>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a:p/>
        </p:txBody>
      </p:sp>
      <p:sp>
        <p:nvSpPr>
          <p:cNvPr id="702" name="Google Shape;702;p19"/>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مهندس تجربة المستخدم والمنتج الرقمي</a:t>
            </a:r>
            <a:endParaRPr/>
          </a:p>
        </p:txBody>
      </p:sp>
      <p:sp>
        <p:nvSpPr>
          <p:cNvPr id="703" name="Google Shape;703;p19"/>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sz="1800" b="1">
                <a:solidFill>
                  <a:srgbClr val="FFFFFF"/>
                </a:solidFill>
              </a:rPr>
              <a:t>تصميم واجهة Streamlit المتجاوبة، بطاقات الإسناد القابلة للتصدير، وتكامل منصات النشر.</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المعمارية الهندسية</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آلية عمل المحرك ومسار البيانات المتكامل</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تدفق هندسي محكم من إدخال المتن وحتى إصدار بطاقة الإسناد الموثقة</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670" rtl="0" algn="r">
              <a:spcBef>
                <a:spcPts val="0"/>
              </a:spcBef>
              <a:spcAft>
                <a:spcPts val="0"/>
              </a:spcAft>
              <a:buNone/>
            </a:pPr>
            <a:r>
              <a:rPr sz="3400" b="1">
                <a:solidFill>
                  <a:srgbClr val="2EF2C2"/>
                </a:solidFill>
              </a:rPr>
              <a:t>01</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sz="2400" b="1">
                <a:solidFill>
                  <a:srgbClr val="FFFFFF"/>
                </a:solidFill>
              </a:rPr>
              <a:t>الاستعلام الدلالي</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sz="1800" b="1">
                <a:solidFill>
                  <a:srgbClr val="F2F4FF"/>
                </a:solidFill>
              </a:rPr>
              <a:t>إدخال المتن أو الفكرة المراد فحصها وتحليلها دلالياً</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sz="1800" b="1">
                <a:solidFill>
                  <a:srgbClr val="2EF2C2"/>
                </a:solidFill>
              </a:rPr>
              <a:t>واجهة المستخدم أو استدعاء الـ API الخارجي</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0"/>
              </a:spcAft>
              <a:buNone/>
            </a:pPr>
            <a: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sz="3400" b="1">
                <a:solidFill>
                  <a:srgbClr val="2EF2C2"/>
                </a:solidFill>
              </a:rPr>
              <a:t>02</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sz="2400" b="1">
                <a:solidFill>
                  <a:srgbClr val="FFFFFF"/>
                </a:solidFill>
              </a:rPr>
              <a:t>البحث الهجين RRF</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sz="1800" b="1">
                <a:solidFill>
                  <a:srgbClr val="F2F4FF"/>
                </a:solidFill>
              </a:rPr>
              <a:t>استرجاع متجهات text-embedding-004 ومطابقة الألفاظ</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sz="1800" b="1">
                <a:solidFill>
                  <a:srgbClr val="2EF2C2"/>
                </a:solidFill>
              </a:rPr>
              <a:t>قاعدة PostgreSQL مع امتداد pgvector وفهارس HNSW</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125" rtl="0" algn="r">
              <a:spcBef>
                <a:spcPts val="0"/>
              </a:spcBef>
              <a:spcAft>
                <a:spcPts val="0"/>
              </a:spcAft>
              <a:buNone/>
            </a:pPr>
            <a:r>
              <a:rPr sz="3400" b="1">
                <a:solidFill>
                  <a:srgbClr val="2EF2C2"/>
                </a:solidFill>
              </a:rPr>
              <a:t>03</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sz="2400" b="1">
                <a:solidFill>
                  <a:srgbClr val="FFFFFF"/>
                </a:solidFill>
              </a:rPr>
              <a:t>التحكيم والرفض الذكي</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sz="1800" b="1">
                <a:solidFill>
                  <a:srgbClr val="F2F4FF"/>
                </a:solidFill>
              </a:rPr>
              <a:t>فحص عتبة القبول الصارمة (85%) ونفي الروايات غير الثابتة</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sz="1800" b="1">
                <a:solidFill>
                  <a:srgbClr val="2EF2C2"/>
                </a:solidFill>
              </a:rPr>
              <a:t>طبقة التحكيم المنطقي وبروتوكول منع الهلوسة</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sz="3400" b="1">
                <a:solidFill>
                  <a:srgbClr val="2EF2C2"/>
                </a:solidFill>
              </a:rPr>
              <a:t>04</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sz="2400" b="1">
                <a:solidFill>
                  <a:srgbClr val="FFFFFF"/>
                </a:solidFill>
              </a:rPr>
              <a:t>بطاقة الإسناد الموثقة</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sz="1800" b="1">
                <a:solidFill>
                  <a:srgbClr val="F2F4FF"/>
                </a:solidFill>
              </a:rPr>
              <a:t>إصدار النتيجة موثقة برقم الحديث والباب وتصدير الشهادة</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sz="1800" b="1">
                <a:solidFill>
                  <a:srgbClr val="2EF2C2"/>
                </a:solidFill>
              </a:rPr>
              <a:t>شهادة رقمية قابلة للمشاركة وزمن استجابة &lt; 5ms</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الحل المبتكر</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الركائز الهندسية الأربع لمنظومة بَيّنة AI</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حل تقني متكامل يجمع بين الصرامة العلمية وأحدث تقنيات الذكاء الاصطناعي</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التقييد الصارم بالأصول (Grounded RAG)</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نفي التوليد الحر تماماً وحصر الاستدلال بمتون البخاري ومسلم والأربعين النووية.</a:t>
            </a:r>
            <a:endParaRPr/>
          </a:p>
          <a:p>
            <a:pPr indent="0" lvl="0" marL="0" rtl="1" algn="ctr">
              <a:lnSpc>
                <a:spcPct val="100000"/>
              </a:lnSpc>
              <a:spcBef>
                <a:spcPts val="0"/>
              </a:spcBef>
              <a:spcAft>
                <a:spcPts val="0"/>
              </a:spcAft>
              <a:buSzPts val="2250"/>
              <a:buNone/>
            </a:pPr>
            <a:endParaRPr/>
          </a:p>
        </p:txBody>
      </p:sp>
      <p:pic>
        <p:nvPicPr>
          <p:cNvPr id="867" name="Google Shape;867;p27"/>
          <p:cNvPicPr preferRelativeResize="0"/>
          <p:nvPr/>
        </p:nvPicPr>
        <p:blipFill rotWithShape="1">
          <a:blip r:embed="rId6">
            <a:alphaModFix/>
          </a:blip>
          <a:srcRect b="0" l="0" r="0" t="0"/>
          <a:stretch/>
        </p:blipFill>
        <p:spPr>
          <a:xfrm>
            <a:off x="10458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محرك البحث الدلالي والمعجمي الهجين</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دمج فهارس pgvector المتجهية مع البحث المعجمي بخوارزمية RRF لضمان أعلى دقة.</a:t>
            </a:r>
            <a:endParaRPr/>
          </a:p>
          <a:p>
            <a:pPr indent="0" lvl="0" marL="0" rtl="1" algn="ctr">
              <a:lnSpc>
                <a:spcPct val="100000"/>
              </a:lnSpc>
              <a:spcBef>
                <a:spcPts val="0"/>
              </a:spcBef>
              <a:spcAft>
                <a:spcPts val="0"/>
              </a:spcAft>
              <a:buSzPts val="2250"/>
              <a:buNone/>
            </a:pPr>
            <a:endParaRPr/>
          </a:p>
        </p:txBody>
      </p:sp>
      <p:pic>
        <p:nvPicPr>
          <p:cNvPr id="870" name="Google Shape;870;p27"/>
          <p:cNvPicPr preferRelativeResize="0"/>
          <p:nvPr/>
        </p:nvPicPr>
        <p:blipFill rotWithShape="1">
          <a:blip r:embed="rId7">
            <a:alphaModFix/>
          </a:blip>
          <a:srcRect b="0" l="0" r="0" t="0"/>
          <a:stretch/>
        </p:blipFill>
        <p:spPr>
          <a:xfrm>
            <a:off x="64579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بروتوكول الرفض الذكي (Smart Refusal)</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رصد فوري للأحاديث الباطلة والموضوعة ونفي نسبتها بحكم علمي معلل وصريح.</a:t>
            </a:r>
            <a:endParaRPr/>
          </a:p>
          <a:p>
            <a:pPr indent="0" lvl="0" marL="0" rtl="1" algn="ctr">
              <a:lnSpc>
                <a:spcPct val="100000"/>
              </a:lnSpc>
              <a:spcBef>
                <a:spcPts val="0"/>
              </a:spcBef>
              <a:spcAft>
                <a:spcPts val="0"/>
              </a:spcAft>
              <a:buSzPts val="2250"/>
              <a:buNone/>
            </a:pPr>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بطاقة الإسناد والتصدير الرقمي</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توليد شهادة تحقق رقمية توثق المصدر والباب ورقم الحديث ونسبة التطابق الدلالي.</a:t>
            </a:r>
            <a:endParaRPr/>
          </a:p>
          <a:p>
            <a:pPr indent="0" lvl="0" marL="0" rtl="1" algn="ctr">
              <a:lnSpc>
                <a:spcPct val="100000"/>
              </a:lnSpc>
              <a:spcBef>
                <a:spcPts val="0"/>
              </a:spcBef>
              <a:spcAft>
                <a:spcPts val="0"/>
              </a:spcAft>
              <a:buSzPts val="225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800" b="1">
                <a:solidFill>
                  <a:srgbClr val="FFFFFF"/>
                </a:solidFill>
              </a:rPr>
              <a:t>فريق بَيّنة AI — Bayyinah Engine</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sz="2000" b="1">
                <a:solidFill>
                  <a:srgbClr val="2EF2C2"/>
                </a:solidFill>
              </a:rPr>
              <a:t>النموذج الحي التفاعلي: http://localhost:8504 | تحدي الذكاء الاصطناعي في خدمة المحتوى الإسلامي 2026</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b="1">
                <a:solidFill>
                  <a:srgbClr val="2EF2C2"/>
                </a:solidFill>
                <a:latin typeface="Readex Pro"/>
                <a:ea typeface="Readex Pro"/>
                <a:cs typeface="Readex Pro"/>
                <a:sym typeface="Readex Pro"/>
              </a:rPr>
              <a:t>شركاؤنا</a:t>
            </a:r>
            <a:r>
              <a:rPr lang="ar-SA" sz="1800" b="1">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