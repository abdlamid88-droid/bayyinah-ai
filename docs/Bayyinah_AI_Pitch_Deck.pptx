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4.xml" ContentType="application/vnd.openxmlformats-officedocument.presentationml.notesSlide+xml"/>
  <Override PartName="/ppt/notesSlides/notesSlide27.xml" ContentType="application/vnd.openxmlformats-officedocument.presentationml.notesSlide+xml"/>
  <Override PartName="/ppt/notesSlides/notesSlide31.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63" r:id="rId13"/>
    <p:sldId id="266" r:id="rId16"/>
    <p:sldId id="282" r:id="rId32"/>
    <p:sldId id="279" r:id="rId29"/>
    <p:sldId id="268" r:id="rId18"/>
    <p:sldId id="269" r:id="rId19"/>
    <p:sldId id="270" r:id="rId20"/>
    <p:sldId id="287" r:id="rId30"/>
    <p:sldId id="272" r:id="rId22"/>
    <p:sldId id="274" r:id="rId24"/>
    <p:sldId id="273" r:id="rId23"/>
    <p:sldId id="286" r:id="rId36"/>
  </p:sldIdLst>
  <p:sldSz cy="10287000" cx="18288000"/>
  <p:notesSz cx="6858000" cy="9144000"/>
  <p:embeddedFontLst>
    <p:embeddedFont>
      <p:font typeface="Urbanist"/>
      <p:regular r:id="rId37"/>
      <p:bold r:id="rId38"/>
      <p:italic r:id="rId39"/>
      <p:boldItalic r:id="rId40"/>
    </p:embeddedFont>
    <p:embeddedFont>
      <p:font typeface="Readex Pro Medium"/>
      <p:regular r:id="rId41"/>
      <p:bold r:id="rId42"/>
    </p:embeddedFont>
    <p:embeddedFont>
      <p:font typeface="Readex Pro SemiBold"/>
      <p:regular r:id="rId43"/>
      <p:bold r:id="rId44"/>
    </p:embeddedFont>
    <p:embeddedFont>
      <p:font typeface="Readex Pro"/>
      <p:regular r:id="rId45"/>
      <p:bold r:id="rId46"/>
    </p:embeddedFont>
    <p:embeddedFont>
      <p:font typeface="Readex Pro Light"/>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h1GeQrG1kO//gaBT9ZQp796F1r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8ED9858-D163-4338-9E88-1F424354888F}">
  <a:tblStyle styleId="{B8ED9858-D163-4338-9E88-1F424354888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13" Type="http://schemas.openxmlformats.org/officeDocument/2006/relationships/slide" Target="slides/slide1.xml"/><Relationship Id="rId16" Type="http://schemas.openxmlformats.org/officeDocument/2006/relationships/slide" Target="slides/slide2.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2" Type="http://schemas.openxmlformats.org/officeDocument/2006/relationships/slide" Target="slides/slide9.xml"/><Relationship Id="rId23" Type="http://schemas.openxmlformats.org/officeDocument/2006/relationships/slide" Target="slides/slide11.xml"/><Relationship Id="rId24" Type="http://schemas.openxmlformats.org/officeDocument/2006/relationships/slide" Target="slides/slide10.xml"/><Relationship Id="rId29" Type="http://schemas.openxmlformats.org/officeDocument/2006/relationships/slide" Target="slides/slide4.xml"/><Relationship Id="rId30" Type="http://schemas.openxmlformats.org/officeDocument/2006/relationships/slide" Target="slides/slide8.xml"/><Relationship Id="rId32" Type="http://schemas.openxmlformats.org/officeDocument/2006/relationships/slide" Target="slides/slide3.xml"/><Relationship Id="rId36" Type="http://schemas.openxmlformats.org/officeDocument/2006/relationships/slide" Target="slides/slide12.xml"/><Relationship Id="rId37" Type="http://schemas.openxmlformats.org/officeDocument/2006/relationships/font" Target="fonts/Urbanist-regular.fntdata"/><Relationship Id="rId38" Type="http://schemas.openxmlformats.org/officeDocument/2006/relationships/font" Target="fonts/Urbanist-bold.fntdata"/><Relationship Id="rId39" Type="http://schemas.openxmlformats.org/officeDocument/2006/relationships/font" Target="fonts/Urbanist-italic.fntdata"/><Relationship Id="rId40" Type="http://schemas.openxmlformats.org/officeDocument/2006/relationships/font" Target="fonts/Urbanist-boldItalic.fntdata"/><Relationship Id="rId41" Type="http://schemas.openxmlformats.org/officeDocument/2006/relationships/font" Target="fonts/ReadexProMedium-regular.fntdata"/><Relationship Id="rId42" Type="http://schemas.openxmlformats.org/officeDocument/2006/relationships/font" Target="fonts/ReadexProMedium-bold.fntdata"/><Relationship Id="rId43" Type="http://schemas.openxmlformats.org/officeDocument/2006/relationships/font" Target="fonts/ReadexProSemiBold-regular.fntdata"/><Relationship Id="rId44" Type="http://schemas.openxmlformats.org/officeDocument/2006/relationships/font" Target="fonts/ReadexProSemiBold-bold.fntdata"/><Relationship Id="rId45" Type="http://schemas.openxmlformats.org/officeDocument/2006/relationships/font" Target="fonts/ReadexPro-regular.fntdata"/><Relationship Id="rId46" Type="http://schemas.openxmlformats.org/officeDocument/2006/relationships/font" Target="fonts/ReadexPro-bold.fntdata"/><Relationship Id="rId47" Type="http://schemas.openxmlformats.org/officeDocument/2006/relationships/font" Target="fonts/ReadexProLight-regular.fntdata"/><Relationship Id="rId48" Type="http://schemas.openxmlformats.org/officeDocument/2006/relationships/font" Target="fonts/ReadexProLight-bold.fntdata"/><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استبدل اسم المشروع والوصف واسم الفريق والتاريخ. اجعل اسم المشروع موجزًا. اكتب في الوصف ما يقدمه الحل ولمن. احتفظ بشعار باذل وشعار التحدي كما هما.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482" name="Google Shape;48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اكتب عنوانًا واضحًا لكل نقطة وشرحًا قصيرًا. يمكن استخدام هذا التخطيط لملخص المشكلة أو مميزات الحل. لا تضف نقاطًا لا تحتاجها لمجرد ملء المساحة.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34" name="Google Shape;53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أضف لقطة شاشة أو صورة بنسبة تقارب 16:9. ضع تفسيرًا بجانبها، واحذف أي بيانات شخصية من لقطات الاختبار قبل استخدامها.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68" name="Google Shape;568;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هذا العنصر النائب مربع بنسبة 1:1. أضف الصورة ثم اضبط القص لتحافظ على الموضوع الأساسي داخل الإطار.</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84" name="Google Shape;58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استبدل القيم ببيانات حقيقية واذكر الوحدة والفترة والمصدر. إذا كان الرقم مستهدفًا، اكتب «مستهدف» في وصف المؤشر. لا تعرض القيم المستهدفة على أنها نتائج محققة.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99" name="Google Shape;599;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4" name="Google Shape;63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جدول أصلي قابل للتحرير. عدّل عناوين الأعمدة بحسب بياناتك، ثم أضف الصفوف أو احذفها من أدوات الجدول. ترتيب الأعمدة يبدأ من اليمين.</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35" name="Google Shape;635;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املأ المراحل من اليمين إلى اليسار. لكل مرحلة اسم وفترة ومخرج واضح. هذا نموذج لخطة مشروع الفريق، وليس جدولًا رسميًا لمواعيد التحدي.</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48" name="Google Shape;64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3" name="Google Shape;68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أضف صورة كل عضو واسمه ودوره الفعلي في المشروع. الصور اختيارية. احذف إطار الصورة إن لم تستخدمه، وعدّل عدد الأعضاء بحسب الفريق.</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84" name="Google Shape;684;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التسلسل من اليمين إلى اليسار: المدخلات، ثم المعالجة، ثم المخرجات، ثم الأثر على المستخدم. استبدل النصوص بين الأقواس بما يناسب مشروعك. كل مرحلة مربع نص واحد قابل للتحرير، ويمكن تكراره أو حذفه. حافظ على تساوي المسافات عند تعديل عدد المراحل.</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15" name="Google Shape;815;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5" name="Google Shape;85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الأيقونات الأربع صور أصلية من القالب المرفق، ويمكن تحريكها وتغيير حجمها مع الحفاظ على النسب. كرّر الأيقونة التي تحتاجها. هذه الصفحة لا تدّعي توافر مكتبة أيقونات إضافية غير مرفقة.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56" name="Google Shape;856;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1" name="Google Shape;911;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احتفظ بشعاري التحول التقني وسدايا باللون الأبيض على الخلفية الداكنة. شعار سدايا أصلي مقتطع بإطار الصورة من مجموعة الشعارات داخل القالب المرفق. استبدل اسم المشروع والرابط، أو احذف سطر الرابط إذا لم تستخدمه.</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912" name="Google Shape;912;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غلاف المشروع">
  <p:cSld name="غلاف المشروع">
    <p:bg>
      <p:bgPr>
        <a:solidFill>
          <a:srgbClr val="12183F"/>
        </a:solidFill>
      </p:bgPr>
    </p:bg>
    <p:spTree>
      <p:nvGrpSpPr>
        <p:cNvPr id="11" name="Shape 11"/>
        <p:cNvGrpSpPr/>
        <p:nvPr/>
      </p:nvGrpSpPr>
      <p:grpSpPr>
        <a:xfrm>
          <a:off x="0" y="0"/>
          <a:ext cx="0" cy="0"/>
          <a:chOff x="0" y="0"/>
          <a:chExt cx="0" cy="0"/>
        </a:xfrm>
      </p:grpSpPr>
      <p:pic>
        <p:nvPicPr>
          <p:cNvPr id="12" name="Google Shape;12;p3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 name="Google Shape;13;p34"/>
          <p:cNvPicPr preferRelativeResize="0"/>
          <p:nvPr/>
        </p:nvPicPr>
        <p:blipFill rotWithShape="1">
          <a:blip r:embed="rId3">
            <a:alphaModFix/>
          </a:blip>
          <a:srcRect b="0" l="0" r="0" t="0"/>
          <a:stretch/>
        </p:blipFill>
        <p:spPr>
          <a:xfrm>
            <a:off x="1066800" y="876872"/>
            <a:ext cx="6572250" cy="1684781"/>
          </a:xfrm>
          <a:prstGeom prst="rect">
            <a:avLst/>
          </a:prstGeom>
          <a:noFill/>
          <a:ln>
            <a:noFill/>
          </a:ln>
        </p:spPr>
      </p:pic>
      <p:pic>
        <p:nvPicPr>
          <p:cNvPr id="14" name="Google Shape;14;p34"/>
          <p:cNvPicPr preferRelativeResize="0"/>
          <p:nvPr/>
        </p:nvPicPr>
        <p:blipFill rotWithShape="1">
          <a:blip r:embed="rId4">
            <a:alphaModFix/>
          </a:blip>
          <a:srcRect b="0" l="0" r="0" t="0"/>
          <a:stretch/>
        </p:blipFill>
        <p:spPr>
          <a:xfrm>
            <a:off x="14954250" y="840995"/>
            <a:ext cx="2190750" cy="1385061"/>
          </a:xfrm>
          <a:prstGeom prst="rect">
            <a:avLst/>
          </a:prstGeom>
          <a:noFill/>
          <a:ln>
            <a:noFill/>
          </a:ln>
        </p:spPr>
      </p:pic>
      <p:pic>
        <p:nvPicPr>
          <p:cNvPr id="15" name="Google Shape;15;p34"/>
          <p:cNvPicPr preferRelativeResize="0"/>
          <p:nvPr/>
        </p:nvPicPr>
        <p:blipFill rotWithShape="1">
          <a:blip r:embed="rId5">
            <a:alphaModFix/>
          </a:blip>
          <a:srcRect b="0" l="0" r="0" t="0"/>
          <a:stretch/>
        </p:blipFill>
        <p:spPr>
          <a:xfrm>
            <a:off x="1078258" y="3190875"/>
            <a:ext cx="6701734" cy="6191250"/>
          </a:xfrm>
          <a:prstGeom prst="rect">
            <a:avLst/>
          </a:prstGeom>
          <a:noFill/>
          <a:ln>
            <a:noFill/>
          </a:ln>
        </p:spPr>
      </p:pic>
      <p:sp>
        <p:nvSpPr>
          <p:cNvPr id="16" name="Google Shape;16;p34"/>
          <p:cNvSpPr txBox="1"/>
          <p:nvPr>
            <p:ph type="title"/>
          </p:nvPr>
        </p:nvSpPr>
        <p:spPr>
          <a:xfrm>
            <a:off x="8096250" y="3524250"/>
            <a:ext cx="9048750" cy="1333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 name="Google Shape;17;p34"/>
          <p:cNvSpPr txBox="1"/>
          <p:nvPr>
            <p:ph idx="1" type="body"/>
          </p:nvPr>
        </p:nvSpPr>
        <p:spPr>
          <a:xfrm>
            <a:off x="8096250" y="5334000"/>
            <a:ext cx="9048750" cy="1619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 name="Google Shape;18;p34"/>
          <p:cNvSpPr txBox="1"/>
          <p:nvPr>
            <p:ph idx="2" type="body"/>
          </p:nvPr>
        </p:nvSpPr>
        <p:spPr>
          <a:xfrm>
            <a:off x="8953500" y="7762875"/>
            <a:ext cx="81915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 name="Google Shape;19;p34"/>
          <p:cNvSpPr txBox="1"/>
          <p:nvPr>
            <p:ph idx="3" type="body"/>
          </p:nvPr>
        </p:nvSpPr>
        <p:spPr>
          <a:xfrm>
            <a:off x="1066800" y="9391650"/>
            <a:ext cx="5429250" cy="4953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حتويات العرض">
  <p:cSld name="محتويات العرض">
    <p:bg>
      <p:bgPr>
        <a:solidFill>
          <a:srgbClr val="12183F"/>
        </a:solidFill>
      </p:bgPr>
    </p:bg>
    <p:spTree>
      <p:nvGrpSpPr>
        <p:cNvPr id="20" name="Shape 20"/>
        <p:cNvGrpSpPr/>
        <p:nvPr/>
      </p:nvGrpSpPr>
      <p:grpSpPr>
        <a:xfrm>
          <a:off x="0" y="0"/>
          <a:ext cx="0" cy="0"/>
          <a:chOff x="0" y="0"/>
          <a:chExt cx="0" cy="0"/>
        </a:xfrm>
      </p:grpSpPr>
      <p:pic>
        <p:nvPicPr>
          <p:cNvPr id="21" name="Google Shape;21;p3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 name="Google Shape;22;p3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 name="Google Shape;23;p3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 name="Google Shape;24;p3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 name="Google Shape;25;p3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 name="Google Shape;26;p3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 name="Google Shape;27;p35"/>
          <p:cNvSpPr txBox="1"/>
          <p:nvPr>
            <p:ph idx="2" type="body"/>
          </p:nvPr>
        </p:nvSpPr>
        <p:spPr>
          <a:xfrm>
            <a:off x="12382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 name="Google Shape;28;p35"/>
          <p:cNvSpPr txBox="1"/>
          <p:nvPr>
            <p:ph idx="3" type="body"/>
          </p:nvPr>
        </p:nvSpPr>
        <p:spPr>
          <a:xfrm>
            <a:off x="12382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 name="Google Shape;29;p35"/>
          <p:cNvSpPr txBox="1"/>
          <p:nvPr>
            <p:ph idx="4" type="body"/>
          </p:nvPr>
        </p:nvSpPr>
        <p:spPr>
          <a:xfrm>
            <a:off x="12382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0" name="Google Shape;30;p35"/>
          <p:cNvSpPr txBox="1"/>
          <p:nvPr>
            <p:ph idx="5" type="body"/>
          </p:nvPr>
        </p:nvSpPr>
        <p:spPr>
          <a:xfrm>
            <a:off x="7048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 name="Google Shape;31;p35"/>
          <p:cNvSpPr txBox="1"/>
          <p:nvPr>
            <p:ph idx="6" type="body"/>
          </p:nvPr>
        </p:nvSpPr>
        <p:spPr>
          <a:xfrm>
            <a:off x="7048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2" name="Google Shape;32;p35"/>
          <p:cNvSpPr txBox="1"/>
          <p:nvPr>
            <p:ph idx="7" type="body"/>
          </p:nvPr>
        </p:nvSpPr>
        <p:spPr>
          <a:xfrm>
            <a:off x="7048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3" name="Google Shape;33;p35"/>
          <p:cNvSpPr txBox="1"/>
          <p:nvPr>
            <p:ph idx="8" type="body"/>
          </p:nvPr>
        </p:nvSpPr>
        <p:spPr>
          <a:xfrm>
            <a:off x="1714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4" name="Google Shape;34;p35"/>
          <p:cNvSpPr txBox="1"/>
          <p:nvPr>
            <p:ph idx="9" type="body"/>
          </p:nvPr>
        </p:nvSpPr>
        <p:spPr>
          <a:xfrm>
            <a:off x="1714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5" name="Google Shape;35;p35"/>
          <p:cNvSpPr txBox="1"/>
          <p:nvPr>
            <p:ph idx="13" type="body"/>
          </p:nvPr>
        </p:nvSpPr>
        <p:spPr>
          <a:xfrm>
            <a:off x="1714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6" name="Google Shape;36;p35"/>
          <p:cNvSpPr txBox="1"/>
          <p:nvPr>
            <p:ph idx="14" type="body"/>
          </p:nvPr>
        </p:nvSpPr>
        <p:spPr>
          <a:xfrm>
            <a:off x="12382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7" name="Google Shape;37;p35"/>
          <p:cNvSpPr txBox="1"/>
          <p:nvPr>
            <p:ph idx="15" type="body"/>
          </p:nvPr>
        </p:nvSpPr>
        <p:spPr>
          <a:xfrm>
            <a:off x="12382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8" name="Google Shape;38;p35"/>
          <p:cNvSpPr txBox="1"/>
          <p:nvPr>
            <p:ph idx="16" type="body"/>
          </p:nvPr>
        </p:nvSpPr>
        <p:spPr>
          <a:xfrm>
            <a:off x="12382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9" name="Google Shape;39;p35"/>
          <p:cNvSpPr txBox="1"/>
          <p:nvPr>
            <p:ph idx="17" type="body"/>
          </p:nvPr>
        </p:nvSpPr>
        <p:spPr>
          <a:xfrm>
            <a:off x="7048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0" name="Google Shape;40;p35"/>
          <p:cNvSpPr txBox="1"/>
          <p:nvPr>
            <p:ph idx="18" type="body"/>
          </p:nvPr>
        </p:nvSpPr>
        <p:spPr>
          <a:xfrm>
            <a:off x="7048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1" name="Google Shape;41;p35"/>
          <p:cNvSpPr txBox="1"/>
          <p:nvPr>
            <p:ph idx="19" type="body"/>
          </p:nvPr>
        </p:nvSpPr>
        <p:spPr>
          <a:xfrm>
            <a:off x="7048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2" name="Google Shape;42;p35"/>
          <p:cNvSpPr txBox="1"/>
          <p:nvPr>
            <p:ph idx="20" type="body"/>
          </p:nvPr>
        </p:nvSpPr>
        <p:spPr>
          <a:xfrm>
            <a:off x="1714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3" name="Google Shape;43;p35"/>
          <p:cNvSpPr txBox="1"/>
          <p:nvPr>
            <p:ph idx="21" type="body"/>
          </p:nvPr>
        </p:nvSpPr>
        <p:spPr>
          <a:xfrm>
            <a:off x="1714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4" name="Google Shape;44;p35"/>
          <p:cNvSpPr txBox="1"/>
          <p:nvPr>
            <p:ph idx="22" type="body"/>
          </p:nvPr>
        </p:nvSpPr>
        <p:spPr>
          <a:xfrm>
            <a:off x="1714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صل قسم">
  <p:cSld name="فاصل قسم">
    <p:bg>
      <p:bgPr>
        <a:solidFill>
          <a:srgbClr val="12183F"/>
        </a:solidFill>
      </p:bgPr>
    </p:bg>
    <p:spTree>
      <p:nvGrpSpPr>
        <p:cNvPr id="45" name="Shape 45"/>
        <p:cNvGrpSpPr/>
        <p:nvPr/>
      </p:nvGrpSpPr>
      <p:grpSpPr>
        <a:xfrm>
          <a:off x="0" y="0"/>
          <a:ext cx="0" cy="0"/>
          <a:chOff x="0" y="0"/>
          <a:chExt cx="0" cy="0"/>
        </a:xfrm>
      </p:grpSpPr>
      <p:pic>
        <p:nvPicPr>
          <p:cNvPr id="46" name="Google Shape;46;p3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47" name="Google Shape;47;p36"/>
          <p:cNvPicPr preferRelativeResize="0"/>
          <p:nvPr/>
        </p:nvPicPr>
        <p:blipFill rotWithShape="1">
          <a:blip r:embed="rId3">
            <a:alphaModFix/>
          </a:blip>
          <a:srcRect b="0" l="0" r="0" t="0"/>
          <a:stretch/>
        </p:blipFill>
        <p:spPr>
          <a:xfrm>
            <a:off x="1066800" y="687391"/>
            <a:ext cx="4000500" cy="1025519"/>
          </a:xfrm>
          <a:prstGeom prst="rect">
            <a:avLst/>
          </a:prstGeom>
          <a:noFill/>
          <a:ln>
            <a:noFill/>
          </a:ln>
        </p:spPr>
      </p:pic>
      <p:sp>
        <p:nvSpPr>
          <p:cNvPr id="48" name="Google Shape;48;p36"/>
          <p:cNvSpPr txBox="1"/>
          <p:nvPr>
            <p:ph idx="1" type="body"/>
          </p:nvPr>
        </p:nvSpPr>
        <p:spPr>
          <a:xfrm>
            <a:off x="13430250" y="3143250"/>
            <a:ext cx="3619500" cy="1238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9" name="Google Shape;49;p36"/>
          <p:cNvSpPr txBox="1"/>
          <p:nvPr>
            <p:ph type="title"/>
          </p:nvPr>
        </p:nvSpPr>
        <p:spPr>
          <a:xfrm>
            <a:off x="4953000" y="4810125"/>
            <a:ext cx="12096750" cy="12382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0" name="Google Shape;50;p36"/>
          <p:cNvSpPr txBox="1"/>
          <p:nvPr>
            <p:ph idx="2" type="body"/>
          </p:nvPr>
        </p:nvSpPr>
        <p:spPr>
          <a:xfrm>
            <a:off x="6667500" y="6572250"/>
            <a:ext cx="10382250" cy="1047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p:cSld name="أربع نقاط">
    <p:bg>
      <p:bgPr>
        <a:solidFill>
          <a:srgbClr val="12183F"/>
        </a:solidFill>
      </p:bgPr>
    </p:bg>
    <p:spTree>
      <p:nvGrpSpPr>
        <p:cNvPr id="51" name="Shape 51"/>
        <p:cNvGrpSpPr/>
        <p:nvPr/>
      </p:nvGrpSpPr>
      <p:grpSpPr>
        <a:xfrm>
          <a:off x="0" y="0"/>
          <a:ext cx="0" cy="0"/>
          <a:chOff x="0" y="0"/>
          <a:chExt cx="0" cy="0"/>
        </a:xfrm>
      </p:grpSpPr>
      <p:pic>
        <p:nvPicPr>
          <p:cNvPr id="52" name="Google Shape;52;p3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53" name="Google Shape;53;p37"/>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54" name="Google Shape;54;p3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5" name="Google Shape;55;p3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6" name="Google Shape;56;p3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7" name="Google Shape;57;p3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58" name="Google Shape;58;p3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59" name="Google Shape;59;p37"/>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0" name="Google Shape;60;p37"/>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1" name="Google Shape;61;p37"/>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2" name="Google Shape;62;p37"/>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3" name="Google Shape;63;p37"/>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4" name="Google Shape;64;p37"/>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5" name="Google Shape;65;p37"/>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6" name="Google Shape;66;p37"/>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رئيسي">
  <p:cSld name="نص رئيسي">
    <p:bg>
      <p:bgPr>
        <a:solidFill>
          <a:srgbClr val="12183F"/>
        </a:solidFill>
      </p:bgPr>
    </p:bg>
    <p:spTree>
      <p:nvGrpSpPr>
        <p:cNvPr id="67" name="Shape 67"/>
        <p:cNvGrpSpPr/>
        <p:nvPr/>
      </p:nvGrpSpPr>
      <p:grpSpPr>
        <a:xfrm>
          <a:off x="0" y="0"/>
          <a:ext cx="0" cy="0"/>
          <a:chOff x="0" y="0"/>
          <a:chExt cx="0" cy="0"/>
        </a:xfrm>
      </p:grpSpPr>
      <p:pic>
        <p:nvPicPr>
          <p:cNvPr id="68" name="Google Shape;68;p3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69" name="Google Shape;69;p3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70" name="Google Shape;70;p3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1" name="Google Shape;71;p3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2" name="Google Shape;72;p3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73" name="Google Shape;73;p3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74" name="Google Shape;74;p38"/>
          <p:cNvSpPr txBox="1"/>
          <p:nvPr>
            <p:ph idx="2" type="body"/>
          </p:nvPr>
        </p:nvSpPr>
        <p:spPr>
          <a:xfrm>
            <a:off x="6191250" y="4000500"/>
            <a:ext cx="10953750" cy="2667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5" name="Google Shape;75;p38"/>
          <p:cNvSpPr txBox="1"/>
          <p:nvPr>
            <p:ph idx="3" type="body"/>
          </p:nvPr>
        </p:nvSpPr>
        <p:spPr>
          <a:xfrm>
            <a:off x="6191250" y="7239000"/>
            <a:ext cx="1095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6" name="Google Shape;76;p38"/>
          <p:cNvSpPr txBox="1"/>
          <p:nvPr>
            <p:ph idx="4" type="body"/>
          </p:nvPr>
        </p:nvSpPr>
        <p:spPr>
          <a:xfrm>
            <a:off x="6191250" y="8001000"/>
            <a:ext cx="1095375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عريضة">
  <p:cSld name="نص وصورة عريضة">
    <p:bg>
      <p:bgPr>
        <a:solidFill>
          <a:srgbClr val="12183F"/>
        </a:solidFill>
      </p:bgPr>
    </p:bg>
    <p:spTree>
      <p:nvGrpSpPr>
        <p:cNvPr id="77" name="Shape 77"/>
        <p:cNvGrpSpPr/>
        <p:nvPr/>
      </p:nvGrpSpPr>
      <p:grpSpPr>
        <a:xfrm>
          <a:off x="0" y="0"/>
          <a:ext cx="0" cy="0"/>
          <a:chOff x="0" y="0"/>
          <a:chExt cx="0" cy="0"/>
        </a:xfrm>
      </p:grpSpPr>
      <p:pic>
        <p:nvPicPr>
          <p:cNvPr id="78" name="Google Shape;78;p3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79" name="Google Shape;79;p3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80" name="Google Shape;80;p3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1" name="Google Shape;81;p3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2" name="Google Shape;82;p3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83" name="Google Shape;83;p3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84" name="Google Shape;84;p39"/>
          <p:cNvSpPr/>
          <p:nvPr>
            <p:ph idx="2" type="pic"/>
          </p:nvPr>
        </p:nvSpPr>
        <p:spPr>
          <a:xfrm>
            <a:off x="1428750" y="4048125"/>
            <a:ext cx="8382000" cy="4714875"/>
          </a:xfrm>
          <a:prstGeom prst="rect">
            <a:avLst/>
          </a:prstGeom>
          <a:solidFill>
            <a:srgbClr val="161D48"/>
          </a:solidFill>
          <a:ln cap="flat" cmpd="sng" w="11425">
            <a:solidFill>
              <a:srgbClr val="4A5590"/>
            </a:solidFill>
            <a:prstDash val="solid"/>
            <a:round/>
            <a:headEnd len="sm" w="sm" type="none"/>
            <a:tailEnd len="sm" w="sm" type="none"/>
          </a:ln>
        </p:spPr>
      </p:sp>
      <p:sp>
        <p:nvSpPr>
          <p:cNvPr id="85" name="Google Shape;85;p39"/>
          <p:cNvSpPr txBox="1"/>
          <p:nvPr>
            <p:ph idx="3" type="body"/>
          </p:nvPr>
        </p:nvSpPr>
        <p:spPr>
          <a:xfrm>
            <a:off x="10763250" y="409575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6" name="Google Shape;86;p39"/>
          <p:cNvSpPr txBox="1"/>
          <p:nvPr>
            <p:ph idx="4" type="body"/>
          </p:nvPr>
        </p:nvSpPr>
        <p:spPr>
          <a:xfrm>
            <a:off x="10763250" y="480060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7" name="Google Shape;87;p39"/>
          <p:cNvSpPr txBox="1"/>
          <p:nvPr>
            <p:ph idx="5" type="body"/>
          </p:nvPr>
        </p:nvSpPr>
        <p:spPr>
          <a:xfrm>
            <a:off x="10763250" y="666750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8" name="Google Shape;88;p39"/>
          <p:cNvSpPr txBox="1"/>
          <p:nvPr>
            <p:ph idx="6" type="body"/>
          </p:nvPr>
        </p:nvSpPr>
        <p:spPr>
          <a:xfrm>
            <a:off x="10763250" y="737235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مربعة">
  <p:cSld name="نص وصورة مربعة">
    <p:bg>
      <p:bgPr>
        <a:solidFill>
          <a:srgbClr val="12183F"/>
        </a:solidFill>
      </p:bgPr>
    </p:bg>
    <p:spTree>
      <p:nvGrpSpPr>
        <p:cNvPr id="89" name="Shape 89"/>
        <p:cNvGrpSpPr/>
        <p:nvPr/>
      </p:nvGrpSpPr>
      <p:grpSpPr>
        <a:xfrm>
          <a:off x="0" y="0"/>
          <a:ext cx="0" cy="0"/>
          <a:chOff x="0" y="0"/>
          <a:chExt cx="0" cy="0"/>
        </a:xfrm>
      </p:grpSpPr>
      <p:pic>
        <p:nvPicPr>
          <p:cNvPr id="90" name="Google Shape;90;p4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91" name="Google Shape;91;p4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92" name="Google Shape;92;p4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3" name="Google Shape;93;p4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4" name="Google Shape;94;p4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95" name="Google Shape;95;p4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96" name="Google Shape;96;p40"/>
          <p:cNvSpPr/>
          <p:nvPr>
            <p:ph idx="2" type="pic"/>
          </p:nvPr>
        </p:nvSpPr>
        <p:spPr>
          <a:xfrm>
            <a:off x="2190750" y="3476625"/>
            <a:ext cx="5715000" cy="5715000"/>
          </a:xfrm>
          <a:prstGeom prst="rect">
            <a:avLst/>
          </a:prstGeom>
          <a:solidFill>
            <a:srgbClr val="161D48"/>
          </a:solidFill>
          <a:ln cap="flat" cmpd="sng" w="11425">
            <a:solidFill>
              <a:srgbClr val="4A5590"/>
            </a:solidFill>
            <a:prstDash val="solid"/>
            <a:round/>
            <a:headEnd len="sm" w="sm" type="none"/>
            <a:tailEnd len="sm" w="sm" type="none"/>
          </a:ln>
        </p:spPr>
      </p:sp>
      <p:sp>
        <p:nvSpPr>
          <p:cNvPr id="97" name="Google Shape;97;p40"/>
          <p:cNvSpPr txBox="1"/>
          <p:nvPr>
            <p:ph idx="3" type="body"/>
          </p:nvPr>
        </p:nvSpPr>
        <p:spPr>
          <a:xfrm>
            <a:off x="10001250" y="3905250"/>
            <a:ext cx="7143750" cy="800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8" name="Google Shape;98;p40"/>
          <p:cNvSpPr txBox="1"/>
          <p:nvPr>
            <p:ph idx="4" type="body"/>
          </p:nvPr>
        </p:nvSpPr>
        <p:spPr>
          <a:xfrm>
            <a:off x="10001250" y="5191125"/>
            <a:ext cx="7143750" cy="2428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9" name="Google Shape;99;p40"/>
          <p:cNvSpPr txBox="1"/>
          <p:nvPr>
            <p:ph idx="5" type="body"/>
          </p:nvPr>
        </p:nvSpPr>
        <p:spPr>
          <a:xfrm>
            <a:off x="10001250" y="8048625"/>
            <a:ext cx="71437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ؤشرات">
  <p:cSld name="مؤشرات">
    <p:bg>
      <p:bgPr>
        <a:solidFill>
          <a:srgbClr val="12183F"/>
        </a:solidFill>
      </p:bgPr>
    </p:bg>
    <p:spTree>
      <p:nvGrpSpPr>
        <p:cNvPr id="100" name="Shape 100"/>
        <p:cNvGrpSpPr/>
        <p:nvPr/>
      </p:nvGrpSpPr>
      <p:grpSpPr>
        <a:xfrm>
          <a:off x="0" y="0"/>
          <a:ext cx="0" cy="0"/>
          <a:chOff x="0" y="0"/>
          <a:chExt cx="0" cy="0"/>
        </a:xfrm>
      </p:grpSpPr>
      <p:pic>
        <p:nvPicPr>
          <p:cNvPr id="101" name="Google Shape;101;p41"/>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02" name="Google Shape;102;p41"/>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03" name="Google Shape;103;p41"/>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4" name="Google Shape;104;p41"/>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5" name="Google Shape;105;p41"/>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6" name="Google Shape;106;p4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07" name="Google Shape;107;p4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08" name="Google Shape;108;p41"/>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9" name="Google Shape;109;p41"/>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0" name="Google Shape;110;p41"/>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1" name="Google Shape;111;p41"/>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2" name="Google Shape;112;p41"/>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3" name="Google Shape;113;p41"/>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4" name="Google Shape;114;p41"/>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5" name="Google Shape;115;p41"/>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6" name="Google Shape;116;p41"/>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7" name="Google Shape;117;p41"/>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8" name="Google Shape;118;p41"/>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9" name="Google Shape;119;p41"/>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0" name="Google Shape;120;p41"/>
          <p:cNvSpPr txBox="1"/>
          <p:nvPr>
            <p:ph idx="18" type="body"/>
          </p:nvPr>
        </p:nvSpPr>
        <p:spPr>
          <a:xfrm>
            <a:off x="1714500" y="8763000"/>
            <a:ext cx="15430500" cy="476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رسالة رئيسية">
  <p:cSld name="رسالة رئيسية">
    <p:bg>
      <p:bgPr>
        <a:solidFill>
          <a:srgbClr val="F2F4FF"/>
        </a:solidFill>
      </p:bgPr>
    </p:bg>
    <p:spTree>
      <p:nvGrpSpPr>
        <p:cNvPr id="121" name="Shape 121"/>
        <p:cNvGrpSpPr/>
        <p:nvPr/>
      </p:nvGrpSpPr>
      <p:grpSpPr>
        <a:xfrm>
          <a:off x="0" y="0"/>
          <a:ext cx="0" cy="0"/>
          <a:chOff x="0" y="0"/>
          <a:chExt cx="0" cy="0"/>
        </a:xfrm>
      </p:grpSpPr>
      <p:pic>
        <p:nvPicPr>
          <p:cNvPr id="122" name="Google Shape;122;p4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23" name="Google Shape;123;p42"/>
          <p:cNvPicPr preferRelativeResize="0"/>
          <p:nvPr/>
        </p:nvPicPr>
        <p:blipFill rotWithShape="1">
          <a:blip r:embed="rId3">
            <a:alphaModFix/>
          </a:blip>
          <a:srcRect b="0" l="0" r="0" t="0"/>
          <a:stretch/>
        </p:blipFill>
        <p:spPr>
          <a:xfrm>
            <a:off x="1069873" y="685800"/>
            <a:ext cx="3994355" cy="1238250"/>
          </a:xfrm>
          <a:prstGeom prst="rect">
            <a:avLst/>
          </a:prstGeom>
          <a:noFill/>
          <a:ln>
            <a:noFill/>
          </a:ln>
        </p:spPr>
      </p:pic>
      <p:sp>
        <p:nvSpPr>
          <p:cNvPr id="124" name="Google Shape;124;p4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25" name="Google Shape;125;p4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26" name="Google Shape;126;p42"/>
          <p:cNvSpPr txBox="1"/>
          <p:nvPr>
            <p:ph type="title"/>
          </p:nvPr>
        </p:nvSpPr>
        <p:spPr>
          <a:xfrm>
            <a:off x="2476500" y="3143250"/>
            <a:ext cx="13335000" cy="2952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7" name="Google Shape;127;p42"/>
          <p:cNvSpPr txBox="1"/>
          <p:nvPr>
            <p:ph idx="1" type="body"/>
          </p:nvPr>
        </p:nvSpPr>
        <p:spPr>
          <a:xfrm>
            <a:off x="3333750" y="6905625"/>
            <a:ext cx="1162050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8" name="Google Shape;128;p42"/>
          <p:cNvSpPr txBox="1"/>
          <p:nvPr>
            <p:ph idx="2" type="body"/>
          </p:nvPr>
        </p:nvSpPr>
        <p:spPr>
          <a:xfrm>
            <a:off x="3333750" y="8239125"/>
            <a:ext cx="11620500" cy="523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داكن">
  <p:cSld name="جدول داكن">
    <p:bg>
      <p:bgPr>
        <a:solidFill>
          <a:srgbClr val="12183F"/>
        </a:solidFill>
      </p:bgPr>
    </p:bg>
    <p:spTree>
      <p:nvGrpSpPr>
        <p:cNvPr id="129" name="Shape 129"/>
        <p:cNvGrpSpPr/>
        <p:nvPr/>
      </p:nvGrpSpPr>
      <p:grpSpPr>
        <a:xfrm>
          <a:off x="0" y="0"/>
          <a:ext cx="0" cy="0"/>
          <a:chOff x="0" y="0"/>
          <a:chExt cx="0" cy="0"/>
        </a:xfrm>
      </p:grpSpPr>
      <p:pic>
        <p:nvPicPr>
          <p:cNvPr id="130" name="Google Shape;130;p4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1" name="Google Shape;131;p4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32" name="Google Shape;132;p4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3" name="Google Shape;133;p4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4" name="Google Shape;134;p4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5" name="Google Shape;135;p4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36" name="Google Shape;136;p4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37" name="Google Shape;137;p43"/>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8" name="Google Shape;138;p43"/>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ط زمني">
  <p:cSld name="خط زمني">
    <p:bg>
      <p:bgPr>
        <a:solidFill>
          <a:srgbClr val="12183F"/>
        </a:solidFill>
      </p:bgPr>
    </p:bg>
    <p:spTree>
      <p:nvGrpSpPr>
        <p:cNvPr id="139" name="Shape 139"/>
        <p:cNvGrpSpPr/>
        <p:nvPr/>
      </p:nvGrpSpPr>
      <p:grpSpPr>
        <a:xfrm>
          <a:off x="0" y="0"/>
          <a:ext cx="0" cy="0"/>
          <a:chOff x="0" y="0"/>
          <a:chExt cx="0" cy="0"/>
        </a:xfrm>
      </p:grpSpPr>
      <p:pic>
        <p:nvPicPr>
          <p:cNvPr id="140" name="Google Shape;140;p4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41" name="Google Shape;141;p4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42" name="Google Shape;142;p44"/>
          <p:cNvSpPr/>
          <p:nvPr/>
        </p:nvSpPr>
        <p:spPr>
          <a:xfrm>
            <a:off x="14287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4"/>
          <p:cNvSpPr/>
          <p:nvPr/>
        </p:nvSpPr>
        <p:spPr>
          <a:xfrm>
            <a:off x="111442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4"/>
          <p:cNvSpPr/>
          <p:nvPr/>
        </p:nvSpPr>
        <p:spPr>
          <a:xfrm>
            <a:off x="80010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4"/>
          <p:cNvSpPr/>
          <p:nvPr/>
        </p:nvSpPr>
        <p:spPr>
          <a:xfrm>
            <a:off x="48577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4"/>
          <p:cNvSpPr/>
          <p:nvPr/>
        </p:nvSpPr>
        <p:spPr>
          <a:xfrm>
            <a:off x="1714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8" name="Google Shape;148;p4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9" name="Google Shape;149;p4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0" name="Google Shape;150;p4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51" name="Google Shape;151;p4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52" name="Google Shape;152;p44"/>
          <p:cNvSpPr txBox="1"/>
          <p:nvPr>
            <p:ph idx="3" type="body"/>
          </p:nvPr>
        </p:nvSpPr>
        <p:spPr>
          <a:xfrm>
            <a:off x="14287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3" name="Google Shape;153;p44"/>
          <p:cNvSpPr txBox="1"/>
          <p:nvPr>
            <p:ph idx="4" type="body"/>
          </p:nvPr>
        </p:nvSpPr>
        <p:spPr>
          <a:xfrm>
            <a:off x="14287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4" name="Google Shape;154;p44"/>
          <p:cNvSpPr txBox="1"/>
          <p:nvPr>
            <p:ph idx="5" type="body"/>
          </p:nvPr>
        </p:nvSpPr>
        <p:spPr>
          <a:xfrm>
            <a:off x="14287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5" name="Google Shape;155;p44"/>
          <p:cNvSpPr txBox="1"/>
          <p:nvPr>
            <p:ph idx="6" type="body"/>
          </p:nvPr>
        </p:nvSpPr>
        <p:spPr>
          <a:xfrm>
            <a:off x="14287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6" name="Google Shape;156;p44"/>
          <p:cNvSpPr txBox="1"/>
          <p:nvPr>
            <p:ph idx="7" type="body"/>
          </p:nvPr>
        </p:nvSpPr>
        <p:spPr>
          <a:xfrm>
            <a:off x="111442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7" name="Google Shape;157;p44"/>
          <p:cNvSpPr txBox="1"/>
          <p:nvPr>
            <p:ph idx="8" type="body"/>
          </p:nvPr>
        </p:nvSpPr>
        <p:spPr>
          <a:xfrm>
            <a:off x="111442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8" name="Google Shape;158;p44"/>
          <p:cNvSpPr txBox="1"/>
          <p:nvPr>
            <p:ph idx="9" type="body"/>
          </p:nvPr>
        </p:nvSpPr>
        <p:spPr>
          <a:xfrm>
            <a:off x="111442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9" name="Google Shape;159;p44"/>
          <p:cNvSpPr txBox="1"/>
          <p:nvPr>
            <p:ph idx="13" type="body"/>
          </p:nvPr>
        </p:nvSpPr>
        <p:spPr>
          <a:xfrm>
            <a:off x="111442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0" name="Google Shape;160;p44"/>
          <p:cNvSpPr txBox="1"/>
          <p:nvPr>
            <p:ph idx="14" type="body"/>
          </p:nvPr>
        </p:nvSpPr>
        <p:spPr>
          <a:xfrm>
            <a:off x="80010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1" name="Google Shape;161;p44"/>
          <p:cNvSpPr txBox="1"/>
          <p:nvPr>
            <p:ph idx="15" type="body"/>
          </p:nvPr>
        </p:nvSpPr>
        <p:spPr>
          <a:xfrm>
            <a:off x="80010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2" name="Google Shape;162;p44"/>
          <p:cNvSpPr txBox="1"/>
          <p:nvPr>
            <p:ph idx="16" type="body"/>
          </p:nvPr>
        </p:nvSpPr>
        <p:spPr>
          <a:xfrm>
            <a:off x="80010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3" name="Google Shape;163;p44"/>
          <p:cNvSpPr txBox="1"/>
          <p:nvPr>
            <p:ph idx="17" type="body"/>
          </p:nvPr>
        </p:nvSpPr>
        <p:spPr>
          <a:xfrm>
            <a:off x="80010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4" name="Google Shape;164;p44"/>
          <p:cNvSpPr txBox="1"/>
          <p:nvPr>
            <p:ph idx="18" type="body"/>
          </p:nvPr>
        </p:nvSpPr>
        <p:spPr>
          <a:xfrm>
            <a:off x="48577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5" name="Google Shape;165;p44"/>
          <p:cNvSpPr txBox="1"/>
          <p:nvPr>
            <p:ph idx="19" type="body"/>
          </p:nvPr>
        </p:nvSpPr>
        <p:spPr>
          <a:xfrm>
            <a:off x="48577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6" name="Google Shape;166;p44"/>
          <p:cNvSpPr txBox="1"/>
          <p:nvPr>
            <p:ph idx="20" type="body"/>
          </p:nvPr>
        </p:nvSpPr>
        <p:spPr>
          <a:xfrm>
            <a:off x="48577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7" name="Google Shape;167;p44"/>
          <p:cNvSpPr txBox="1"/>
          <p:nvPr>
            <p:ph idx="21" type="body"/>
          </p:nvPr>
        </p:nvSpPr>
        <p:spPr>
          <a:xfrm>
            <a:off x="48577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8" name="Google Shape;168;p44"/>
          <p:cNvSpPr txBox="1"/>
          <p:nvPr>
            <p:ph idx="22" type="body"/>
          </p:nvPr>
        </p:nvSpPr>
        <p:spPr>
          <a:xfrm>
            <a:off x="1714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9" name="Google Shape;169;p44"/>
          <p:cNvSpPr txBox="1"/>
          <p:nvPr>
            <p:ph idx="23" type="body"/>
          </p:nvPr>
        </p:nvSpPr>
        <p:spPr>
          <a:xfrm>
            <a:off x="1714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0" name="Google Shape;170;p44"/>
          <p:cNvSpPr txBox="1"/>
          <p:nvPr>
            <p:ph idx="24" type="body"/>
          </p:nvPr>
        </p:nvSpPr>
        <p:spPr>
          <a:xfrm>
            <a:off x="1714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1" name="Google Shape;171;p44"/>
          <p:cNvSpPr txBox="1"/>
          <p:nvPr>
            <p:ph idx="25" type="body"/>
          </p:nvPr>
        </p:nvSpPr>
        <p:spPr>
          <a:xfrm>
            <a:off x="1714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ريق العمل">
  <p:cSld name="فريق العمل">
    <p:bg>
      <p:bgPr>
        <a:solidFill>
          <a:srgbClr val="12183F"/>
        </a:solidFill>
      </p:bgPr>
    </p:bg>
    <p:spTree>
      <p:nvGrpSpPr>
        <p:cNvPr id="172" name="Shape 172"/>
        <p:cNvGrpSpPr/>
        <p:nvPr/>
      </p:nvGrpSpPr>
      <p:grpSpPr>
        <a:xfrm>
          <a:off x="0" y="0"/>
          <a:ext cx="0" cy="0"/>
          <a:chOff x="0" y="0"/>
          <a:chExt cx="0" cy="0"/>
        </a:xfrm>
      </p:grpSpPr>
      <p:pic>
        <p:nvPicPr>
          <p:cNvPr id="173" name="Google Shape;173;p4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74" name="Google Shape;174;p4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75" name="Google Shape;175;p4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6" name="Google Shape;176;p4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7" name="Google Shape;177;p45"/>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8" name="Google Shape;178;p4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79" name="Google Shape;179;p4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80" name="Google Shape;180;p45"/>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1" name="Google Shape;181;p45"/>
          <p:cNvSpPr txBox="1"/>
          <p:nvPr>
            <p:ph idx="4" type="body"/>
          </p:nvPr>
        </p:nvSpPr>
        <p:spPr>
          <a:xfrm>
            <a:off x="13716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2" name="Google Shape;182;p45"/>
          <p:cNvSpPr txBox="1"/>
          <p:nvPr>
            <p:ph idx="5" type="body"/>
          </p:nvPr>
        </p:nvSpPr>
        <p:spPr>
          <a:xfrm>
            <a:off x="13716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3" name="Google Shape;183;p45"/>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4" name="Google Shape;184;p45"/>
          <p:cNvSpPr txBox="1"/>
          <p:nvPr>
            <p:ph idx="7" type="body"/>
          </p:nvPr>
        </p:nvSpPr>
        <p:spPr>
          <a:xfrm>
            <a:off x="9715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5" name="Google Shape;185;p45"/>
          <p:cNvSpPr txBox="1"/>
          <p:nvPr>
            <p:ph idx="8" type="body"/>
          </p:nvPr>
        </p:nvSpPr>
        <p:spPr>
          <a:xfrm>
            <a:off x="9715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6" name="Google Shape;186;p45"/>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7" name="Google Shape;187;p45"/>
          <p:cNvSpPr txBox="1"/>
          <p:nvPr>
            <p:ph idx="13" type="body"/>
          </p:nvPr>
        </p:nvSpPr>
        <p:spPr>
          <a:xfrm>
            <a:off x="5715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8" name="Google Shape;188;p45"/>
          <p:cNvSpPr txBox="1"/>
          <p:nvPr>
            <p:ph idx="14" type="body"/>
          </p:nvPr>
        </p:nvSpPr>
        <p:spPr>
          <a:xfrm>
            <a:off x="5715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9" name="Google Shape;189;p45"/>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90" name="Google Shape;190;p45"/>
          <p:cNvSpPr txBox="1"/>
          <p:nvPr>
            <p:ph idx="16" type="body"/>
          </p:nvPr>
        </p:nvSpPr>
        <p:spPr>
          <a:xfrm>
            <a:off x="1714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1" name="Google Shape;191;p45"/>
          <p:cNvSpPr txBox="1"/>
          <p:nvPr>
            <p:ph idx="17" type="body"/>
          </p:nvPr>
        </p:nvSpPr>
        <p:spPr>
          <a:xfrm>
            <a:off x="1714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فاتحة">
  <p:cSld name="أربع نقاط فاتحة">
    <p:bg>
      <p:bgPr>
        <a:solidFill>
          <a:srgbClr val="F2F4FF"/>
        </a:solidFill>
      </p:bgPr>
    </p:bg>
    <p:spTree>
      <p:nvGrpSpPr>
        <p:cNvPr id="192" name="Shape 192"/>
        <p:cNvGrpSpPr/>
        <p:nvPr/>
      </p:nvGrpSpPr>
      <p:grpSpPr>
        <a:xfrm>
          <a:off x="0" y="0"/>
          <a:ext cx="0" cy="0"/>
          <a:chOff x="0" y="0"/>
          <a:chExt cx="0" cy="0"/>
        </a:xfrm>
      </p:grpSpPr>
      <p:pic>
        <p:nvPicPr>
          <p:cNvPr id="193" name="Google Shape;193;p4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94" name="Google Shape;194;p46"/>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195" name="Google Shape;195;p46"/>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6" name="Google Shape;196;p46"/>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7" name="Google Shape;197;p46"/>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8" name="Google Shape;198;p4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99" name="Google Shape;199;p4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00" name="Google Shape;200;p46"/>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1" name="Google Shape;201;p46"/>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2" name="Google Shape;202;p46"/>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3" name="Google Shape;203;p46"/>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4" name="Google Shape;204;p46"/>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5" name="Google Shape;205;p46"/>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6" name="Google Shape;206;p46"/>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7" name="Google Shape;207;p46"/>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فاتح">
  <p:cSld name="جدول فاتح">
    <p:bg>
      <p:bgPr>
        <a:solidFill>
          <a:srgbClr val="F2F4FF"/>
        </a:solidFill>
      </p:bgPr>
    </p:bg>
    <p:spTree>
      <p:nvGrpSpPr>
        <p:cNvPr id="208" name="Shape 208"/>
        <p:cNvGrpSpPr/>
        <p:nvPr/>
      </p:nvGrpSpPr>
      <p:grpSpPr>
        <a:xfrm>
          <a:off x="0" y="0"/>
          <a:ext cx="0" cy="0"/>
          <a:chOff x="0" y="0"/>
          <a:chExt cx="0" cy="0"/>
        </a:xfrm>
      </p:grpSpPr>
      <p:pic>
        <p:nvPicPr>
          <p:cNvPr id="209" name="Google Shape;209;p4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10" name="Google Shape;210;p47"/>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211" name="Google Shape;211;p4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2" name="Google Shape;212;p4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3" name="Google Shape;213;p4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4" name="Google Shape;214;p4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215" name="Google Shape;215;p4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16" name="Google Shape;216;p47"/>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7" name="Google Shape;217;p47"/>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بالأعمدة">
  <p:cSld name="مقارنة بالأعمدة">
    <p:bg>
      <p:bgPr>
        <a:solidFill>
          <a:srgbClr val="12183F"/>
        </a:solidFill>
      </p:bgPr>
    </p:bg>
    <p:spTree>
      <p:nvGrpSpPr>
        <p:cNvPr id="218" name="Shape 218"/>
        <p:cNvGrpSpPr/>
        <p:nvPr/>
      </p:nvGrpSpPr>
      <p:grpSpPr>
        <a:xfrm>
          <a:off x="0" y="0"/>
          <a:ext cx="0" cy="0"/>
          <a:chOff x="0" y="0"/>
          <a:chExt cx="0" cy="0"/>
        </a:xfrm>
      </p:grpSpPr>
      <p:pic>
        <p:nvPicPr>
          <p:cNvPr id="219" name="Google Shape;219;p4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0" name="Google Shape;220;p4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21" name="Google Shape;221;p4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2" name="Google Shape;222;p4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3" name="Google Shape;223;p48"/>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4" name="Google Shape;224;p4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25" name="Google Shape;225;p4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26" name="Google Shape;226;p48"/>
          <p:cNvSpPr txBox="1"/>
          <p:nvPr>
            <p:ph idx="3" type="body"/>
          </p:nvPr>
        </p:nvSpPr>
        <p:spPr>
          <a:xfrm>
            <a:off x="2095500" y="8905875"/>
            <a:ext cx="1419225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7" name="Google Shape;227;p48"/>
          <p:cNvSpPr/>
          <p:nvPr>
            <p:ph idx="4" type="chart"/>
          </p:nvPr>
        </p:nvSpPr>
        <p:spPr>
          <a:xfrm>
            <a:off x="2095500" y="3905250"/>
            <a:ext cx="14192250" cy="4857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توزيع نسبي">
  <p:cSld name="توزيع نسبي">
    <p:bg>
      <p:bgPr>
        <a:solidFill>
          <a:srgbClr val="12183F"/>
        </a:solidFill>
      </p:bgPr>
    </p:bg>
    <p:spTree>
      <p:nvGrpSpPr>
        <p:cNvPr id="228" name="Shape 228"/>
        <p:cNvGrpSpPr/>
        <p:nvPr/>
      </p:nvGrpSpPr>
      <p:grpSpPr>
        <a:xfrm>
          <a:off x="0" y="0"/>
          <a:ext cx="0" cy="0"/>
          <a:chOff x="0" y="0"/>
          <a:chExt cx="0" cy="0"/>
        </a:xfrm>
      </p:grpSpPr>
      <p:pic>
        <p:nvPicPr>
          <p:cNvPr id="229" name="Google Shape;229;p4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30" name="Google Shape;230;p4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1" name="Google Shape;231;p4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2" name="Google Shape;232;p4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3" name="Google Shape;233;p49"/>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4" name="Google Shape;234;p4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35" name="Google Shape;235;p4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36" name="Google Shape;236;p49"/>
          <p:cNvSpPr txBox="1"/>
          <p:nvPr>
            <p:ph idx="3" type="body"/>
          </p:nvPr>
        </p:nvSpPr>
        <p:spPr>
          <a:xfrm>
            <a:off x="1714500" y="890587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7" name="Google Shape;237;p49"/>
          <p:cNvSpPr/>
          <p:nvPr>
            <p:ph idx="4" type="chart"/>
          </p:nvPr>
        </p:nvSpPr>
        <p:spPr>
          <a:xfrm>
            <a:off x="2095500" y="3619500"/>
            <a:ext cx="14097000" cy="5381625"/>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آلية العمل">
  <p:cSld name="آلية العمل">
    <p:bg>
      <p:bgPr>
        <a:solidFill>
          <a:srgbClr val="12183F"/>
        </a:solidFill>
      </p:bgPr>
    </p:bg>
    <p:spTree>
      <p:nvGrpSpPr>
        <p:cNvPr id="238" name="Shape 238"/>
        <p:cNvGrpSpPr/>
        <p:nvPr/>
      </p:nvGrpSpPr>
      <p:grpSpPr>
        <a:xfrm>
          <a:off x="0" y="0"/>
          <a:ext cx="0" cy="0"/>
          <a:chOff x="0" y="0"/>
          <a:chExt cx="0" cy="0"/>
        </a:xfrm>
      </p:grpSpPr>
      <p:pic>
        <p:nvPicPr>
          <p:cNvPr id="239" name="Google Shape;239;p5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40" name="Google Shape;240;p5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41" name="Google Shape;241;p5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2" name="Google Shape;242;p5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3" name="Google Shape;243;p50"/>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4" name="Google Shape;244;p5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45" name="Google Shape;245;p5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46" name="Google Shape;246;p50"/>
          <p:cNvSpPr txBox="1"/>
          <p:nvPr>
            <p:ph idx="3" type="body"/>
          </p:nvPr>
        </p:nvSpPr>
        <p:spPr>
          <a:xfrm>
            <a:off x="13716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7" name="Google Shape;247;p50"/>
          <p:cNvSpPr txBox="1"/>
          <p:nvPr>
            <p:ph idx="4" type="body"/>
          </p:nvPr>
        </p:nvSpPr>
        <p:spPr>
          <a:xfrm>
            <a:off x="9715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8" name="Google Shape;248;p50"/>
          <p:cNvSpPr txBox="1"/>
          <p:nvPr>
            <p:ph idx="5" type="body"/>
          </p:nvPr>
        </p:nvSpPr>
        <p:spPr>
          <a:xfrm>
            <a:off x="5715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9" name="Google Shape;249;p50"/>
          <p:cNvSpPr txBox="1"/>
          <p:nvPr>
            <p:ph idx="6" type="body"/>
          </p:nvPr>
        </p:nvSpPr>
        <p:spPr>
          <a:xfrm>
            <a:off x="1714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صورة كبيرة">
  <p:cSld name="صورة كبيرة">
    <p:bg>
      <p:bgPr>
        <a:solidFill>
          <a:srgbClr val="12183F"/>
        </a:solidFill>
      </p:bgPr>
    </p:bg>
    <p:spTree>
      <p:nvGrpSpPr>
        <p:cNvPr id="250" name="Shape 250"/>
        <p:cNvGrpSpPr/>
        <p:nvPr/>
      </p:nvGrpSpPr>
      <p:grpSpPr>
        <a:xfrm>
          <a:off x="0" y="0"/>
          <a:ext cx="0" cy="0"/>
          <a:chOff x="0" y="0"/>
          <a:chExt cx="0" cy="0"/>
        </a:xfrm>
      </p:grpSpPr>
      <p:pic>
        <p:nvPicPr>
          <p:cNvPr id="251" name="Google Shape;251;p51"/>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252" name="Google Shape;252;p5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53" name="Google Shape;253;p5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54" name="Google Shape;254;p51"/>
          <p:cNvSpPr/>
          <p:nvPr>
            <p:ph idx="2" type="pic"/>
          </p:nvPr>
        </p:nvSpPr>
        <p:spPr>
          <a:xfrm>
            <a:off x="1047750" y="666750"/>
            <a:ext cx="16192500" cy="6953250"/>
          </a:xfrm>
          <a:prstGeom prst="rect">
            <a:avLst/>
          </a:prstGeom>
          <a:solidFill>
            <a:srgbClr val="161D48"/>
          </a:solidFill>
          <a:ln cap="flat" cmpd="sng" w="11425">
            <a:solidFill>
              <a:srgbClr val="4A5590"/>
            </a:solidFill>
            <a:prstDash val="solid"/>
            <a:round/>
            <a:headEnd len="sm" w="sm" type="none"/>
            <a:tailEnd len="sm" w="sm" type="none"/>
          </a:ln>
        </p:spPr>
      </p:sp>
      <p:sp>
        <p:nvSpPr>
          <p:cNvPr id="255" name="Google Shape;255;p51"/>
          <p:cNvSpPr txBox="1"/>
          <p:nvPr>
            <p:ph type="title"/>
          </p:nvPr>
        </p:nvSpPr>
        <p:spPr>
          <a:xfrm>
            <a:off x="2190750" y="7962900"/>
            <a:ext cx="14763750" cy="8382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6" name="Google Shape;256;p51"/>
          <p:cNvSpPr txBox="1"/>
          <p:nvPr>
            <p:ph idx="1" type="body"/>
          </p:nvPr>
        </p:nvSpPr>
        <p:spPr>
          <a:xfrm>
            <a:off x="2190750" y="8896350"/>
            <a:ext cx="14763750" cy="4286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عرض الصور">
  <p:cSld name="معرض الصور">
    <p:bg>
      <p:bgPr>
        <a:solidFill>
          <a:srgbClr val="12183F"/>
        </a:solidFill>
      </p:bgPr>
    </p:bg>
    <p:spTree>
      <p:nvGrpSpPr>
        <p:cNvPr id="257" name="Shape 257"/>
        <p:cNvGrpSpPr/>
        <p:nvPr/>
      </p:nvGrpSpPr>
      <p:grpSpPr>
        <a:xfrm>
          <a:off x="0" y="0"/>
          <a:ext cx="0" cy="0"/>
          <a:chOff x="0" y="0"/>
          <a:chExt cx="0" cy="0"/>
        </a:xfrm>
      </p:grpSpPr>
      <p:pic>
        <p:nvPicPr>
          <p:cNvPr id="258" name="Google Shape;258;p5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59" name="Google Shape;259;p52"/>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60" name="Google Shape;260;p52"/>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1" name="Google Shape;261;p52"/>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2" name="Google Shape;262;p5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3" name="Google Shape;263;p5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64" name="Google Shape;264;p52"/>
          <p:cNvSpPr/>
          <p:nvPr>
            <p:ph idx="2" type="pic"/>
          </p:nvPr>
        </p:nvSpPr>
        <p:spPr>
          <a:xfrm>
            <a:off x="12382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5" name="Google Shape;265;p52"/>
          <p:cNvSpPr txBox="1"/>
          <p:nvPr>
            <p:ph idx="3" type="body"/>
          </p:nvPr>
        </p:nvSpPr>
        <p:spPr>
          <a:xfrm>
            <a:off x="12382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6" name="Google Shape;266;p52"/>
          <p:cNvSpPr/>
          <p:nvPr>
            <p:ph idx="4" type="pic"/>
          </p:nvPr>
        </p:nvSpPr>
        <p:spPr>
          <a:xfrm>
            <a:off x="7048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7" name="Google Shape;267;p52"/>
          <p:cNvSpPr txBox="1"/>
          <p:nvPr>
            <p:ph idx="5" type="body"/>
          </p:nvPr>
        </p:nvSpPr>
        <p:spPr>
          <a:xfrm>
            <a:off x="7048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8" name="Google Shape;268;p52"/>
          <p:cNvSpPr/>
          <p:nvPr>
            <p:ph idx="6" type="pic"/>
          </p:nvPr>
        </p:nvSpPr>
        <p:spPr>
          <a:xfrm>
            <a:off x="1714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9" name="Google Shape;269;p52"/>
          <p:cNvSpPr txBox="1"/>
          <p:nvPr>
            <p:ph idx="7" type="body"/>
          </p:nvPr>
        </p:nvSpPr>
        <p:spPr>
          <a:xfrm>
            <a:off x="1714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يقونات الهوية">
  <p:cSld name="أيقونات الهوية">
    <p:bg>
      <p:bgPr>
        <a:solidFill>
          <a:srgbClr val="12183F"/>
        </a:solidFill>
      </p:bgPr>
    </p:bg>
    <p:spTree>
      <p:nvGrpSpPr>
        <p:cNvPr id="270" name="Shape 270"/>
        <p:cNvGrpSpPr/>
        <p:nvPr/>
      </p:nvGrpSpPr>
      <p:grpSpPr>
        <a:xfrm>
          <a:off x="0" y="0"/>
          <a:ext cx="0" cy="0"/>
          <a:chOff x="0" y="0"/>
          <a:chExt cx="0" cy="0"/>
        </a:xfrm>
      </p:grpSpPr>
      <p:pic>
        <p:nvPicPr>
          <p:cNvPr id="271" name="Google Shape;271;p5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72" name="Google Shape;272;p5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73" name="Google Shape;273;p5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4" name="Google Shape;274;p5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5" name="Google Shape;275;p5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6" name="Google Shape;276;p5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77" name="Google Shape;277;p5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8" name="Google Shape;278;p53"/>
          <p:cNvSpPr txBox="1"/>
          <p:nvPr>
            <p:ph idx="3" type="body"/>
          </p:nvPr>
        </p:nvSpPr>
        <p:spPr>
          <a:xfrm>
            <a:off x="13716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9" name="Google Shape;279;p53"/>
          <p:cNvSpPr txBox="1"/>
          <p:nvPr>
            <p:ph idx="4" type="body"/>
          </p:nvPr>
        </p:nvSpPr>
        <p:spPr>
          <a:xfrm>
            <a:off x="13716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0" name="Google Shape;280;p53"/>
          <p:cNvSpPr txBox="1"/>
          <p:nvPr>
            <p:ph idx="5" type="body"/>
          </p:nvPr>
        </p:nvSpPr>
        <p:spPr>
          <a:xfrm>
            <a:off x="9715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1" name="Google Shape;281;p53"/>
          <p:cNvSpPr txBox="1"/>
          <p:nvPr>
            <p:ph idx="6" type="body"/>
          </p:nvPr>
        </p:nvSpPr>
        <p:spPr>
          <a:xfrm>
            <a:off x="9715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2" name="Google Shape;282;p53"/>
          <p:cNvSpPr txBox="1"/>
          <p:nvPr>
            <p:ph idx="7" type="body"/>
          </p:nvPr>
        </p:nvSpPr>
        <p:spPr>
          <a:xfrm>
            <a:off x="5715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3" name="Google Shape;283;p53"/>
          <p:cNvSpPr txBox="1"/>
          <p:nvPr>
            <p:ph idx="8" type="body"/>
          </p:nvPr>
        </p:nvSpPr>
        <p:spPr>
          <a:xfrm>
            <a:off x="5715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4" name="Google Shape;284;p53"/>
          <p:cNvSpPr txBox="1"/>
          <p:nvPr>
            <p:ph idx="9" type="body"/>
          </p:nvPr>
        </p:nvSpPr>
        <p:spPr>
          <a:xfrm>
            <a:off x="1714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5" name="Google Shape;285;p53"/>
          <p:cNvSpPr txBox="1"/>
          <p:nvPr>
            <p:ph idx="13" type="body"/>
          </p:nvPr>
        </p:nvSpPr>
        <p:spPr>
          <a:xfrm>
            <a:off x="1714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خيارين">
  <p:cSld name="مقارنة خيارين">
    <p:bg>
      <p:bgPr>
        <a:solidFill>
          <a:srgbClr val="12183F"/>
        </a:solidFill>
      </p:bgPr>
    </p:bg>
    <p:spTree>
      <p:nvGrpSpPr>
        <p:cNvPr id="286" name="Shape 286"/>
        <p:cNvGrpSpPr/>
        <p:nvPr/>
      </p:nvGrpSpPr>
      <p:grpSpPr>
        <a:xfrm>
          <a:off x="0" y="0"/>
          <a:ext cx="0" cy="0"/>
          <a:chOff x="0" y="0"/>
          <a:chExt cx="0" cy="0"/>
        </a:xfrm>
      </p:grpSpPr>
      <p:pic>
        <p:nvPicPr>
          <p:cNvPr id="287" name="Google Shape;287;p5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88" name="Google Shape;288;p5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89" name="Google Shape;289;p5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0" name="Google Shape;290;p5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1" name="Google Shape;291;p5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2" name="Google Shape;292;p5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93" name="Google Shape;293;p5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94" name="Google Shape;294;p54"/>
          <p:cNvSpPr txBox="1"/>
          <p:nvPr>
            <p:ph idx="3" type="body"/>
          </p:nvPr>
        </p:nvSpPr>
        <p:spPr>
          <a:xfrm>
            <a:off x="1000125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5" name="Google Shape;295;p54"/>
          <p:cNvSpPr txBox="1"/>
          <p:nvPr>
            <p:ph idx="4" type="body"/>
          </p:nvPr>
        </p:nvSpPr>
        <p:spPr>
          <a:xfrm>
            <a:off x="1000125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6" name="Google Shape;296;p54"/>
          <p:cNvSpPr txBox="1"/>
          <p:nvPr>
            <p:ph idx="5" type="body"/>
          </p:nvPr>
        </p:nvSpPr>
        <p:spPr>
          <a:xfrm>
            <a:off x="171450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7" name="Google Shape;297;p54"/>
          <p:cNvSpPr txBox="1"/>
          <p:nvPr>
            <p:ph idx="6" type="body"/>
          </p:nvPr>
        </p:nvSpPr>
        <p:spPr>
          <a:xfrm>
            <a:off x="171450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8" name="Google Shape;298;p54"/>
          <p:cNvSpPr txBox="1"/>
          <p:nvPr>
            <p:ph idx="7" type="body"/>
          </p:nvPr>
        </p:nvSpPr>
        <p:spPr>
          <a:xfrm>
            <a:off x="1000125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9" name="Google Shape;299;p54"/>
          <p:cNvSpPr txBox="1"/>
          <p:nvPr>
            <p:ph idx="8" type="body"/>
          </p:nvPr>
        </p:nvSpPr>
        <p:spPr>
          <a:xfrm>
            <a:off x="171450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داكنة">
  <p:cSld name="فارغة داكنة">
    <p:bg>
      <p:bgPr>
        <a:solidFill>
          <a:srgbClr val="12183F"/>
        </a:solidFill>
      </p:bgPr>
    </p:bg>
    <p:spTree>
      <p:nvGrpSpPr>
        <p:cNvPr id="300" name="Shape 300"/>
        <p:cNvGrpSpPr/>
        <p:nvPr/>
      </p:nvGrpSpPr>
      <p:grpSpPr>
        <a:xfrm>
          <a:off x="0" y="0"/>
          <a:ext cx="0" cy="0"/>
          <a:chOff x="0" y="0"/>
          <a:chExt cx="0" cy="0"/>
        </a:xfrm>
      </p:grpSpPr>
      <p:pic>
        <p:nvPicPr>
          <p:cNvPr id="301" name="Google Shape;301;p5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2" name="Google Shape;302;p55"/>
          <p:cNvPicPr preferRelativeResize="0"/>
          <p:nvPr/>
        </p:nvPicPr>
        <p:blipFill rotWithShape="1">
          <a:blip r:embed="rId3">
            <a:alphaModFix/>
          </a:blip>
          <a:srcRect b="0" l="0" r="0" t="0"/>
          <a:stretch/>
        </p:blipFill>
        <p:spPr>
          <a:xfrm>
            <a:off x="1066800" y="722542"/>
            <a:ext cx="3429000" cy="879016"/>
          </a:xfrm>
          <a:prstGeom prst="rect">
            <a:avLst/>
          </a:prstGeom>
          <a:noFill/>
          <a:ln>
            <a:noFill/>
          </a:ln>
        </p:spPr>
      </p:pic>
      <p:sp>
        <p:nvSpPr>
          <p:cNvPr id="303" name="Google Shape;303;p5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304" name="Google Shape;304;p5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فاتحة">
  <p:cSld name="فارغة فاتحة">
    <p:bg>
      <p:bgPr>
        <a:solidFill>
          <a:srgbClr val="F2F4FF"/>
        </a:solidFill>
      </p:bgPr>
    </p:bg>
    <p:spTree>
      <p:nvGrpSpPr>
        <p:cNvPr id="305" name="Shape 305"/>
        <p:cNvGrpSpPr/>
        <p:nvPr/>
      </p:nvGrpSpPr>
      <p:grpSpPr>
        <a:xfrm>
          <a:off x="0" y="0"/>
          <a:ext cx="0" cy="0"/>
          <a:chOff x="0" y="0"/>
          <a:chExt cx="0" cy="0"/>
        </a:xfrm>
      </p:grpSpPr>
      <p:pic>
        <p:nvPicPr>
          <p:cNvPr id="306" name="Google Shape;306;p5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7" name="Google Shape;307;p56"/>
          <p:cNvPicPr preferRelativeResize="0"/>
          <p:nvPr/>
        </p:nvPicPr>
        <p:blipFill rotWithShape="1">
          <a:blip r:embed="rId3">
            <a:alphaModFix/>
          </a:blip>
          <a:srcRect b="0" l="0" r="0" t="0"/>
          <a:stretch/>
        </p:blipFill>
        <p:spPr>
          <a:xfrm>
            <a:off x="1245010" y="685800"/>
            <a:ext cx="3072581" cy="952500"/>
          </a:xfrm>
          <a:prstGeom prst="rect">
            <a:avLst/>
          </a:prstGeom>
          <a:noFill/>
          <a:ln>
            <a:noFill/>
          </a:ln>
        </p:spPr>
      </p:pic>
      <p:sp>
        <p:nvSpPr>
          <p:cNvPr id="308" name="Google Shape;308;p5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309" name="Google Shape;309;p5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تام العرض">
  <p:cSld name="ختام العرض">
    <p:bg>
      <p:bgPr>
        <a:solidFill>
          <a:srgbClr val="12183F"/>
        </a:solidFill>
      </p:bgPr>
    </p:bg>
    <p:spTree>
      <p:nvGrpSpPr>
        <p:cNvPr id="310" name="Shape 310"/>
        <p:cNvGrpSpPr/>
        <p:nvPr/>
      </p:nvGrpSpPr>
      <p:grpSpPr>
        <a:xfrm>
          <a:off x="0" y="0"/>
          <a:ext cx="0" cy="0"/>
          <a:chOff x="0" y="0"/>
          <a:chExt cx="0" cy="0"/>
        </a:xfrm>
      </p:grpSpPr>
      <p:pic>
        <p:nvPicPr>
          <p:cNvPr id="311" name="Google Shape;311;p5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12" name="Google Shape;312;p57"/>
          <p:cNvPicPr preferRelativeResize="0"/>
          <p:nvPr/>
        </p:nvPicPr>
        <p:blipFill rotWithShape="1">
          <a:blip r:embed="rId3">
            <a:alphaModFix/>
          </a:blip>
          <a:srcRect b="0" l="0" r="0" t="0"/>
          <a:stretch/>
        </p:blipFill>
        <p:spPr>
          <a:xfrm>
            <a:off x="5810250" y="1336151"/>
            <a:ext cx="6667500" cy="1709198"/>
          </a:xfrm>
          <a:prstGeom prst="rect">
            <a:avLst/>
          </a:prstGeom>
          <a:noFill/>
          <a:ln>
            <a:noFill/>
          </a:ln>
        </p:spPr>
      </p:pic>
      <p:pic>
        <p:nvPicPr>
          <p:cNvPr id="313" name="Google Shape;313;p57"/>
          <p:cNvPicPr preferRelativeResize="0"/>
          <p:nvPr/>
        </p:nvPicPr>
        <p:blipFill rotWithShape="1">
          <a:blip r:embed="rId4">
            <a:alphaModFix/>
          </a:blip>
          <a:srcRect b="0" l="0" r="0" t="0"/>
          <a:stretch/>
        </p:blipFill>
        <p:spPr>
          <a:xfrm>
            <a:off x="10669485" y="8524875"/>
            <a:ext cx="3045029" cy="1562100"/>
          </a:xfrm>
          <a:prstGeom prst="rect">
            <a:avLst/>
          </a:prstGeom>
          <a:noFill/>
          <a:ln>
            <a:noFill/>
          </a:ln>
        </p:spPr>
      </p:pic>
      <p:pic>
        <p:nvPicPr>
          <p:cNvPr id="314" name="Google Shape;314;p57"/>
          <p:cNvPicPr preferRelativeResize="0"/>
          <p:nvPr/>
        </p:nvPicPr>
        <p:blipFill rotWithShape="1">
          <a:blip r:embed="rId5">
            <a:alphaModFix/>
          </a:blip>
          <a:srcRect b="16000" l="4300" r="69700" t="16000"/>
          <a:stretch/>
        </p:blipFill>
        <p:spPr>
          <a:xfrm>
            <a:off x="4857750" y="8629650"/>
            <a:ext cx="3810000" cy="1476375"/>
          </a:xfrm>
          <a:prstGeom prst="rect">
            <a:avLst/>
          </a:prstGeom>
          <a:noFill/>
          <a:ln>
            <a:noFill/>
          </a:ln>
        </p:spPr>
      </p:pic>
      <p:sp>
        <p:nvSpPr>
          <p:cNvPr id="315" name="Google Shape;315;p57"/>
          <p:cNvSpPr txBox="1"/>
          <p:nvPr>
            <p:ph type="title"/>
          </p:nvPr>
        </p:nvSpPr>
        <p:spPr>
          <a:xfrm>
            <a:off x="3810000" y="4048125"/>
            <a:ext cx="10668000" cy="1428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6" name="Google Shape;316;p57"/>
          <p:cNvSpPr txBox="1"/>
          <p:nvPr>
            <p:ph idx="1" type="body"/>
          </p:nvPr>
        </p:nvSpPr>
        <p:spPr>
          <a:xfrm>
            <a:off x="3810000" y="5905500"/>
            <a:ext cx="1066800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7" name="Google Shape;317;p57"/>
          <p:cNvSpPr txBox="1"/>
          <p:nvPr>
            <p:ph idx="2" type="body"/>
          </p:nvPr>
        </p:nvSpPr>
        <p:spPr>
          <a:xfrm>
            <a:off x="3810000" y="7000875"/>
            <a:ext cx="10668000" cy="666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pn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5.png"/><Relationship Id="rId8" Type="http://schemas.openxmlformats.org/officeDocument/2006/relationships/image" Target="../media/image22.png"/><Relationship Id="rId9" Type="http://schemas.openxmlformats.org/officeDocument/2006/relationships/image" Target="../media/image19.png"/><Relationship Id="rId10"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83" name="Shape 483"/>
        <p:cNvGrpSpPr/>
        <p:nvPr/>
      </p:nvGrpSpPr>
      <p:grpSpPr>
        <a:xfrm>
          <a:off x="0" y="0"/>
          <a:ext cx="0" cy="0"/>
          <a:chOff x="0" y="0"/>
          <a:chExt cx="0" cy="0"/>
        </a:xfrm>
      </p:grpSpPr>
      <p:pic>
        <p:nvPicPr>
          <p:cNvPr id="484" name="Google Shape;484;p8"/>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85" name="Google Shape;485;p8" title="الصورة الرئيسية.png"/>
          <p:cNvPicPr preferRelativeResize="0"/>
          <p:nvPr/>
        </p:nvPicPr>
        <p:blipFill>
          <a:blip r:embed="rId4">
            <a:alphaModFix/>
          </a:blip>
          <a:stretch>
            <a:fillRect/>
          </a:stretch>
        </p:blipFill>
        <p:spPr>
          <a:xfrm>
            <a:off x="195975" y="1103475"/>
            <a:ext cx="9312476" cy="8603123"/>
          </a:xfrm>
          <a:prstGeom prst="rect">
            <a:avLst/>
          </a:prstGeom>
          <a:noFill/>
          <a:ln>
            <a:noFill/>
          </a:ln>
        </p:spPr>
      </p:pic>
      <p:sp>
        <p:nvSpPr>
          <p:cNvPr id="486" name="Google Shape;486;p8"/>
          <p:cNvSpPr txBox="1"/>
          <p:nvPr>
            <p:ph type="title"/>
          </p:nvPr>
        </p:nvSpPr>
        <p:spPr>
          <a:xfrm>
            <a:off x="7791450" y="3524250"/>
            <a:ext cx="9048900" cy="1333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450"/>
              <a:buNone/>
            </a:pPr>
            <a:r>
              <a:rPr sz="4400" b="1">
                <a:solidFill>
                  <a:srgbClr val="2EF2C2"/>
                </a:solidFill>
              </a:rPr>
              <a:t>بَيّنة AI — Bayyinah Engine</a:t>
            </a:r>
            <a:endParaRPr/>
          </a:p>
        </p:txBody>
      </p:sp>
      <p:sp>
        <p:nvSpPr>
          <p:cNvPr id="487" name="Google Shape;487;p8"/>
          <p:cNvSpPr txBox="1"/>
          <p:nvPr>
            <p:ph idx="1" type="body"/>
          </p:nvPr>
        </p:nvSpPr>
        <p:spPr>
          <a:xfrm>
            <a:off x="7791450" y="5334000"/>
            <a:ext cx="9048900" cy="16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300"/>
              <a:buNone/>
            </a:pPr>
            <a:r>
              <a:rPr sz="2200" b="1">
                <a:solidFill>
                  <a:srgbClr val="F2F4FF"/>
                </a:solidFill>
              </a:rPr>
              <a:t>محرك التحقق المعرفي وتتبع الأدلة الشرعية لتمكين المعرّفين بالإسلام وصنّاع المحتوى</a:t>
            </a:r>
            <a:br/>
            <a:r>
              <a:rPr sz="1800" b="1">
                <a:solidFill>
                  <a:srgbClr val="F2F4FF"/>
                </a:solidFill>
              </a:rPr>
              <a:t>منظومة استدلال مقيدة بالاسترجاع (Grounded RAG) لمكافحة الهلوسة ونفي الروايات غير الثابتة</a:t>
            </a:r>
            <a:endParaRPr/>
          </a:p>
        </p:txBody>
      </p:sp>
      <p:sp>
        <p:nvSpPr>
          <p:cNvPr id="488" name="Google Shape;488;p8"/>
          <p:cNvSpPr/>
          <p:nvPr/>
        </p:nvSpPr>
        <p:spPr>
          <a:xfrm>
            <a:off x="1143000" y="8843963"/>
            <a:ext cx="16002000" cy="9600"/>
          </a:xfrm>
          <a:prstGeom prst="rect">
            <a:avLst/>
          </a:prstGeom>
          <a:solidFill>
            <a:srgbClr val="FFFFFF">
              <a:alpha val="12160"/>
            </a:srgbClr>
          </a:solidFill>
          <a:ln>
            <a:noFill/>
          </a:ln>
        </p:spPr>
        <p:txBody>
          <a:bodyPr anchorCtr="0" anchor="ctr" bIns="91425" lIns="91425" spcFirstLastPara="1" rIns="91425" wrap="square" tIns="91425">
            <a:noAutofit/>
          </a:bodyPr>
          <a:lstStyle/>
          <a:p>
            <a:pPr indent="0" lvl="0" marL="0" rtl="1" algn="r">
              <a:lnSpc>
                <a:spcPct val="115000"/>
              </a:lnSpc>
              <a:spcBef>
                <a:spcPts val="0"/>
              </a:spcBef>
              <a:spcAft>
                <a:spcPts val="0"/>
              </a:spcAft>
              <a:buNone/>
            </a:pPr>
            <a:r>
              <a:rPr/>
              <a:t/>
            </a:r>
            <a:endParaRPr/>
          </a:p>
        </p:txBody>
      </p:sp>
      <p:sp>
        <p:nvSpPr>
          <p:cNvPr id="489" name="Google Shape;489;p8"/>
          <p:cNvSpPr/>
          <p:nvPr/>
        </p:nvSpPr>
        <p:spPr>
          <a:xfrm>
            <a:off x="14472130" y="9120188"/>
            <a:ext cx="2358000" cy="347700"/>
          </a:xfrm>
          <a:prstGeom prst="rect">
            <a:avLst/>
          </a:prstGeom>
          <a:noFill/>
          <a:ln>
            <a:noFill/>
          </a:ln>
        </p:spPr>
        <p:txBody>
          <a:bodyPr anchorCtr="0" anchor="ctr" bIns="25400" lIns="25400" spcFirstLastPara="1" rIns="25400" wrap="square" tIns="25400">
            <a:noAutofit/>
          </a:bodyPr>
          <a:lstStyle/>
          <a:p>
            <a:pPr indent="0" lvl="0" marL="0" marR="0" rtl="1" algn="r">
              <a:lnSpc>
                <a:spcPct val="115000"/>
              </a:lnSpc>
              <a:spcBef>
                <a:spcPts val="0"/>
              </a:spcBef>
              <a:spcAft>
                <a:spcPts val="0"/>
              </a:spcAft>
              <a:buClr>
                <a:srgbClr val="8E99CC"/>
              </a:buClr>
              <a:buSzPts val="1950"/>
              <a:buFont typeface="Readex Pro"/>
              <a:buNone/>
            </a:pPr>
            <a:r>
              <a:rPr sz="1800" b="1">
                <a:solidFill>
                  <a:srgbClr val="FFFFFF"/>
                </a:solidFill>
              </a:rPr>
              <a:t>فريق بَيّنة AI — تحدي الذكاء الاصطناعي في خدمة المحتوى الإسلامي 2026</a:t>
            </a:r>
            <a:endParaRPr i="0" sz="1950" u="none" cap="none" strike="noStrike">
              <a:solidFill>
                <a:srgbClr val="000000"/>
              </a:solidFill>
              <a:latin typeface="Readex Pro Light"/>
              <a:ea typeface="Readex Pro Light"/>
              <a:cs typeface="Readex Pro Light"/>
              <a:sym typeface="Readex Pro Light"/>
            </a:endParaRPr>
          </a:p>
        </p:txBody>
      </p:sp>
      <p:sp>
        <p:nvSpPr>
          <p:cNvPr id="490" name="Google Shape;490;p8"/>
          <p:cNvSpPr/>
          <p:nvPr/>
        </p:nvSpPr>
        <p:spPr>
          <a:xfrm>
            <a:off x="1397000" y="9120188"/>
            <a:ext cx="2765700" cy="347700"/>
          </a:xfrm>
          <a:prstGeom prst="rect">
            <a:avLst/>
          </a:prstGeom>
          <a:noFill/>
          <a:ln>
            <a:noFill/>
          </a:ln>
        </p:spPr>
        <p:txBody>
          <a:bodyPr anchorCtr="0" anchor="ctr" bIns="25400" lIns="25400" spcFirstLastPara="1" rIns="25400" wrap="square" tIns="25400">
            <a:noAutofit/>
          </a:bodyPr>
          <a:lstStyle/>
          <a:p>
            <a:pPr indent="0" lvl="0" marL="0" marR="0" rtl="1" algn="l">
              <a:lnSpc>
                <a:spcPct val="115000"/>
              </a:lnSpc>
              <a:spcBef>
                <a:spcPts val="0"/>
              </a:spcBef>
              <a:spcAft>
                <a:spcPts val="0"/>
              </a:spcAft>
              <a:buClr>
                <a:srgbClr val="8E99CC"/>
              </a:buClr>
              <a:buSzPts val="1950"/>
              <a:buFont typeface="Readex Pro"/>
              <a:buNone/>
            </a:pPr>
            <a:r>
              <a:rPr sz="1800" b="1">
                <a:solidFill>
                  <a:srgbClr val="2EF2C2"/>
                </a:solidFill>
              </a:rPr>
              <a:t>ربيع الأول 1448هـ / أكتوبر 2026</a:t>
            </a:r>
            <a:endParaRPr i="0" sz="1950" u="none" cap="none" strike="noStrike">
              <a:solidFill>
                <a:srgbClr val="000000"/>
              </a:solidFill>
              <a:latin typeface="Readex Pro Light"/>
              <a:ea typeface="Readex Pro Light"/>
              <a:cs typeface="Readex Pro Light"/>
              <a:sym typeface="Readex Pro Light"/>
            </a:endParaRPr>
          </a:p>
        </p:txBody>
      </p:sp>
      <p:pic>
        <p:nvPicPr>
          <p:cNvPr id="491" name="Google Shape;491;p8"/>
          <p:cNvPicPr preferRelativeResize="0"/>
          <p:nvPr/>
        </p:nvPicPr>
        <p:blipFill rotWithShape="1">
          <a:blip r:embed="rId5">
            <a:alphaModFix/>
          </a:blip>
          <a:srcRect b="0" l="0" r="0" t="0"/>
          <a:stretch/>
        </p:blipFill>
        <p:spPr>
          <a:xfrm>
            <a:off x="1078250" y="691134"/>
            <a:ext cx="6572252" cy="1684781"/>
          </a:xfrm>
          <a:prstGeom prst="rect">
            <a:avLst/>
          </a:prstGeom>
          <a:noFill/>
          <a:ln>
            <a:noFill/>
          </a:ln>
        </p:spPr>
      </p:pic>
      <p:pic>
        <p:nvPicPr>
          <p:cNvPr id="492" name="Google Shape;492;p8"/>
          <p:cNvPicPr preferRelativeResize="0"/>
          <p:nvPr/>
        </p:nvPicPr>
        <p:blipFill rotWithShape="1">
          <a:blip r:embed="rId6">
            <a:alphaModFix/>
          </a:blip>
          <a:srcRect b="0" l="0" r="0" t="0"/>
          <a:stretch/>
        </p:blipFill>
        <p:spPr>
          <a:xfrm>
            <a:off x="14954250" y="840995"/>
            <a:ext cx="2190750" cy="138506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35" name="Shape 535"/>
        <p:cNvGrpSpPr/>
        <p:nvPr/>
      </p:nvGrpSpPr>
      <p:grpSpPr>
        <a:xfrm>
          <a:off x="0" y="0"/>
          <a:ext cx="0" cy="0"/>
          <a:chOff x="0" y="0"/>
          <a:chExt cx="0" cy="0"/>
        </a:xfrm>
      </p:grpSpPr>
      <p:pic>
        <p:nvPicPr>
          <p:cNvPr id="536" name="Google Shape;536;p11"/>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37" name="Google Shape;537;p1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المشكلة وسياق التحدي</a:t>
            </a:r>
            <a:endParaRPr/>
          </a:p>
        </p:txBody>
      </p:sp>
      <p:sp>
        <p:nvSpPr>
          <p:cNvPr id="538" name="Google Shape;538;p1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200" b="1">
                <a:solidFill>
                  <a:srgbClr val="FFFFFF"/>
                </a:solidFill>
              </a:rPr>
              <a:t>معضلة الموثوقية في عصر الذكاء الاصطناعي</a:t>
            </a:r>
            <a:endParaRPr/>
          </a:p>
        </p:txBody>
      </p:sp>
      <p:sp>
        <p:nvSpPr>
          <p:cNvPr id="539" name="Google Shape;539;p1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200" b="1">
                <a:solidFill>
                  <a:srgbClr val="F2F4FF"/>
                </a:solidFill>
              </a:rPr>
              <a:t>تحديات واقعية تمس الأمانة العلمية وسلامة المحتوى الإسلامي الرقمي</a:t>
            </a:r>
            <a:endParaRPr/>
          </a:p>
        </p:txBody>
      </p:sp>
      <p:sp>
        <p:nvSpPr>
          <p:cNvPr id="540" name="Google Shape;540;p1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sp>
        <p:nvSpPr>
          <p:cNvPr id="541" name="Google Shape;541;p11"/>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هلوسة النماذج التوليدية (LLMs)</a:t>
            </a:r>
            <a:endParaRPr/>
          </a:p>
        </p:txBody>
      </p:sp>
      <p:sp>
        <p:nvSpPr>
          <p:cNvPr id="542" name="Google Shape;542;p11"/>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اختلاق أسانيد ومتون وهمية ونسبتها زوراً إلى النبي ﷺ لافتقار النماذج للتأصيل الحديثي.</a:t>
            </a:r>
            <a:endParaRPr/>
          </a:p>
        </p:txBody>
      </p:sp>
      <p:sp>
        <p:nvSpPr>
          <p:cNvPr id="543" name="Google Shape;543;p11"/>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انتشار الروايات المكذوبة والضعيفة</a:t>
            </a:r>
            <a:endParaRPr/>
          </a:p>
        </p:txBody>
      </p:sp>
      <p:sp>
        <p:nvSpPr>
          <p:cNvPr id="544" name="Google Shape;544;p11"/>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تداول مقولات لا أصل لها على شبكات التواصل بكثافة دون وجود أداة تحقق فورية وميسرة.</a:t>
            </a:r>
            <a:endParaRPr/>
          </a:p>
        </p:txBody>
      </p:sp>
      <p:sp>
        <p:nvSpPr>
          <p:cNvPr id="545" name="Google Shape;545;p11"/>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مشقة التخريج والتحقق السريع</a:t>
            </a:r>
            <a:endParaRPr/>
          </a:p>
        </p:txBody>
      </p:sp>
      <p:sp>
        <p:nvSpPr>
          <p:cNvPr id="546" name="Google Shape;546;p11"/>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صعوبة وصول الدعاة وصناع المحتوى للمصادر المسندة والتأكد من صحة المتن في ثوانٍ معدودة.</a:t>
            </a:r>
            <a:endParaRPr/>
          </a:p>
        </p:txBody>
      </p:sp>
      <p:sp>
        <p:nvSpPr>
          <p:cNvPr id="547" name="Google Shape;547;p11"/>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غياب بطاقات الإسناد الرقمية</a:t>
            </a:r>
            <a:endParaRPr/>
          </a:p>
        </p:txBody>
      </p:sp>
      <p:sp>
        <p:nvSpPr>
          <p:cNvPr id="548" name="Google Shape;548;p11"/>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افتقار المحتوى المنشور لوثائق إسناد رقمية معتمدة تدعم مصداقية الطرح أمام الجمهور العالمي.</a:t>
            </a:r>
            <a:endParaRPr/>
          </a:p>
        </p:txBody>
      </p:sp>
      <p:sp>
        <p:nvSpPr>
          <p:cNvPr id="549" name="Google Shape;549;p11"/>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180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pic>
        <p:nvPicPr>
          <p:cNvPr id="858" name="Google Shape;858;p27"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59" name="Google Shape;859;p2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60" name="Google Shape;860;p2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الحل المبتكر</a:t>
            </a:r>
            <a:endParaRPr/>
          </a:p>
        </p:txBody>
      </p:sp>
      <p:sp>
        <p:nvSpPr>
          <p:cNvPr id="861" name="Google Shape;861;p2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200" b="1">
                <a:solidFill>
                  <a:srgbClr val="FFFFFF"/>
                </a:solidFill>
              </a:rPr>
              <a:t>الركائز الهندسية الأربع لمنظومة بَيّنة AI</a:t>
            </a:r>
            <a:endParaRPr/>
          </a:p>
        </p:txBody>
      </p:sp>
      <p:sp>
        <p:nvSpPr>
          <p:cNvPr id="862" name="Google Shape;862;p2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200" b="1">
                <a:solidFill>
                  <a:srgbClr val="F2F4FF"/>
                </a:solidFill>
              </a:rPr>
              <a:t>حل تقني متكامل يجمع بين الصرامة العلمية وأحدث تقنيات الذكاء الاصطناعي</a:t>
            </a:r>
            <a:endParaRPr/>
          </a:p>
        </p:txBody>
      </p:sp>
      <p:sp>
        <p:nvSpPr>
          <p:cNvPr id="863" name="Google Shape;863;p2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pic>
        <p:nvPicPr>
          <p:cNvPr id="864" name="Google Shape;864;p27"/>
          <p:cNvPicPr preferRelativeResize="0"/>
          <p:nvPr/>
        </p:nvPicPr>
        <p:blipFill rotWithShape="1">
          <a:blip r:embed="rId5">
            <a:alphaModFix/>
          </a:blip>
          <a:srcRect b="0" l="0" r="0" t="0"/>
          <a:stretch/>
        </p:blipFill>
        <p:spPr>
          <a:xfrm>
            <a:off x="14458950" y="4000500"/>
            <a:ext cx="1428750" cy="1428750"/>
          </a:xfrm>
          <a:prstGeom prst="rect">
            <a:avLst/>
          </a:prstGeom>
          <a:noFill/>
          <a:ln>
            <a:noFill/>
          </a:ln>
        </p:spPr>
      </p:pic>
      <p:sp>
        <p:nvSpPr>
          <p:cNvPr id="865" name="Google Shape;865;p27"/>
          <p:cNvSpPr txBox="1"/>
          <p:nvPr>
            <p:ph idx="3" type="body"/>
          </p:nvPr>
        </p:nvSpPr>
        <p:spPr>
          <a:xfrm>
            <a:off x="13411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التقييد الصارم بالأصول (Grounded RAG)</a:t>
            </a:r>
            <a:endParaRPr/>
          </a:p>
        </p:txBody>
      </p:sp>
      <p:sp>
        <p:nvSpPr>
          <p:cNvPr id="866" name="Google Shape;866;p27"/>
          <p:cNvSpPr txBox="1"/>
          <p:nvPr>
            <p:ph idx="4" type="body"/>
          </p:nvPr>
        </p:nvSpPr>
        <p:spPr>
          <a:xfrm>
            <a:off x="13411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نفي التوليد الحر تماماً وحصر الاستدلال بمتون البخاري ومسلم والأربعين النووية.</a:t>
            </a:r>
            <a:endParaRPr/>
          </a:p>
          <a:p>
            <a:pPr indent="0" lvl="0" marL="0" rtl="1" algn="ctr">
              <a:lnSpc>
                <a:spcPct val="100000"/>
              </a:lnSpc>
              <a:spcBef>
                <a:spcPts val="0"/>
              </a:spcBef>
              <a:spcAft>
                <a:spcPts val="0"/>
              </a:spcAft>
              <a:buSzPts val="2250"/>
              <a:buNone/>
            </a:pPr>
            <a:endParaRPr/>
          </a:p>
        </p:txBody>
      </p:sp>
      <p:pic>
        <p:nvPicPr>
          <p:cNvPr id="867" name="Google Shape;867;p27"/>
          <p:cNvPicPr preferRelativeResize="0"/>
          <p:nvPr/>
        </p:nvPicPr>
        <p:blipFill rotWithShape="1">
          <a:blip r:embed="rId6">
            <a:alphaModFix/>
          </a:blip>
          <a:srcRect b="0" l="0" r="0" t="0"/>
          <a:stretch/>
        </p:blipFill>
        <p:spPr>
          <a:xfrm>
            <a:off x="10458450" y="4000500"/>
            <a:ext cx="1428750" cy="1428750"/>
          </a:xfrm>
          <a:prstGeom prst="rect">
            <a:avLst/>
          </a:prstGeom>
          <a:noFill/>
          <a:ln>
            <a:noFill/>
          </a:ln>
        </p:spPr>
      </p:pic>
      <p:sp>
        <p:nvSpPr>
          <p:cNvPr id="868" name="Google Shape;868;p27"/>
          <p:cNvSpPr txBox="1"/>
          <p:nvPr>
            <p:ph idx="5" type="body"/>
          </p:nvPr>
        </p:nvSpPr>
        <p:spPr>
          <a:xfrm>
            <a:off x="9410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محرك البحث الدلالي والمعجمي الهجين</a:t>
            </a:r>
            <a:endParaRPr/>
          </a:p>
        </p:txBody>
      </p:sp>
      <p:sp>
        <p:nvSpPr>
          <p:cNvPr id="869" name="Google Shape;869;p27"/>
          <p:cNvSpPr txBox="1"/>
          <p:nvPr>
            <p:ph idx="6" type="body"/>
          </p:nvPr>
        </p:nvSpPr>
        <p:spPr>
          <a:xfrm>
            <a:off x="9410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دمج فهارس pgvector المتجهية مع البحث المعجمي بخوارزمية RRF لضمان أعلى دقة.</a:t>
            </a:r>
            <a:endParaRPr/>
          </a:p>
          <a:p>
            <a:pPr indent="0" lvl="0" marL="0" rtl="1" algn="ctr">
              <a:lnSpc>
                <a:spcPct val="100000"/>
              </a:lnSpc>
              <a:spcBef>
                <a:spcPts val="0"/>
              </a:spcBef>
              <a:spcAft>
                <a:spcPts val="0"/>
              </a:spcAft>
              <a:buSzPts val="2250"/>
              <a:buNone/>
            </a:pPr>
            <a:endParaRPr/>
          </a:p>
        </p:txBody>
      </p:sp>
      <p:pic>
        <p:nvPicPr>
          <p:cNvPr id="870" name="Google Shape;870;p27"/>
          <p:cNvPicPr preferRelativeResize="0"/>
          <p:nvPr/>
        </p:nvPicPr>
        <p:blipFill rotWithShape="1">
          <a:blip r:embed="rId7">
            <a:alphaModFix/>
          </a:blip>
          <a:srcRect b="0" l="0" r="0" t="0"/>
          <a:stretch/>
        </p:blipFill>
        <p:spPr>
          <a:xfrm>
            <a:off x="6457950" y="4000500"/>
            <a:ext cx="1428750" cy="1428750"/>
          </a:xfrm>
          <a:prstGeom prst="rect">
            <a:avLst/>
          </a:prstGeom>
          <a:noFill/>
          <a:ln>
            <a:noFill/>
          </a:ln>
        </p:spPr>
      </p:pic>
      <p:sp>
        <p:nvSpPr>
          <p:cNvPr id="871" name="Google Shape;871;p27"/>
          <p:cNvSpPr txBox="1"/>
          <p:nvPr>
            <p:ph idx="7" type="body"/>
          </p:nvPr>
        </p:nvSpPr>
        <p:spPr>
          <a:xfrm>
            <a:off x="5410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بروتوكول الرفض الذكي (Smart Refusal)</a:t>
            </a:r>
            <a:endParaRPr/>
          </a:p>
        </p:txBody>
      </p:sp>
      <p:sp>
        <p:nvSpPr>
          <p:cNvPr id="872" name="Google Shape;872;p27"/>
          <p:cNvSpPr txBox="1"/>
          <p:nvPr>
            <p:ph idx="8" type="body"/>
          </p:nvPr>
        </p:nvSpPr>
        <p:spPr>
          <a:xfrm>
            <a:off x="5410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رصد فوري للأحاديث الباطلة والموضوعة ونفي نسبتها بحكم علمي معلل وصريح.</a:t>
            </a:r>
            <a:endParaRPr/>
          </a:p>
          <a:p>
            <a:pPr indent="0" lvl="0" marL="0" rtl="1" algn="ctr">
              <a:lnSpc>
                <a:spcPct val="100000"/>
              </a:lnSpc>
              <a:spcBef>
                <a:spcPts val="0"/>
              </a:spcBef>
              <a:spcAft>
                <a:spcPts val="0"/>
              </a:spcAft>
              <a:buSzPts val="2250"/>
              <a:buNone/>
            </a:pPr>
            <a:endParaRPr/>
          </a:p>
        </p:txBody>
      </p:sp>
      <p:pic>
        <p:nvPicPr>
          <p:cNvPr id="873" name="Google Shape;873;p27"/>
          <p:cNvPicPr preferRelativeResize="0"/>
          <p:nvPr/>
        </p:nvPicPr>
        <p:blipFill rotWithShape="1">
          <a:blip r:embed="rId8">
            <a:alphaModFix/>
          </a:blip>
          <a:srcRect b="0" l="0" r="0" t="0"/>
          <a:stretch/>
        </p:blipFill>
        <p:spPr>
          <a:xfrm>
            <a:off x="2457450" y="4000500"/>
            <a:ext cx="1428750" cy="1428750"/>
          </a:xfrm>
          <a:prstGeom prst="rect">
            <a:avLst/>
          </a:prstGeom>
          <a:noFill/>
          <a:ln>
            <a:noFill/>
          </a:ln>
        </p:spPr>
      </p:pic>
      <p:sp>
        <p:nvSpPr>
          <p:cNvPr id="874" name="Google Shape;874;p27"/>
          <p:cNvSpPr txBox="1"/>
          <p:nvPr>
            <p:ph idx="9" type="body"/>
          </p:nvPr>
        </p:nvSpPr>
        <p:spPr>
          <a:xfrm>
            <a:off x="1409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بطاقة الإسناد والتصدير الرقمي</a:t>
            </a:r>
            <a:endParaRPr/>
          </a:p>
        </p:txBody>
      </p:sp>
      <p:sp>
        <p:nvSpPr>
          <p:cNvPr id="875" name="Google Shape;875;p27"/>
          <p:cNvSpPr txBox="1"/>
          <p:nvPr>
            <p:ph idx="13" type="body"/>
          </p:nvPr>
        </p:nvSpPr>
        <p:spPr>
          <a:xfrm>
            <a:off x="1409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توليد شهادة تحقق رقمية توثق المصدر والباب ورقم الحديث ونسبة التطابق الدلالي.</a:t>
            </a:r>
            <a:endParaRPr/>
          </a:p>
          <a:p>
            <a:pPr indent="0" lvl="0" marL="0" rtl="1" algn="ctr">
              <a:lnSpc>
                <a:spcPct val="100000"/>
              </a:lnSpc>
              <a:spcBef>
                <a:spcPts val="0"/>
              </a:spcBef>
              <a:spcAft>
                <a:spcPts val="0"/>
              </a:spcAft>
              <a:buSzPts val="225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pic>
        <p:nvPicPr>
          <p:cNvPr id="817" name="Google Shape;817;p24"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18" name="Google Shape;818;p2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المعمارية الهندسية</a:t>
            </a:r>
            <a:endParaRPr/>
          </a:p>
        </p:txBody>
      </p:sp>
      <p:sp>
        <p:nvSpPr>
          <p:cNvPr id="819" name="Google Shape;819;p2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200" b="1">
                <a:solidFill>
                  <a:srgbClr val="FFFFFF"/>
                </a:solidFill>
              </a:rPr>
              <a:t>آلية عمل المحرك ومسار البيانات المتكامل</a:t>
            </a:r>
            <a:endParaRPr/>
          </a:p>
        </p:txBody>
      </p:sp>
      <p:sp>
        <p:nvSpPr>
          <p:cNvPr id="820" name="Google Shape;820;p24"/>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200" b="1">
                <a:solidFill>
                  <a:srgbClr val="F2F4FF"/>
                </a:solidFill>
              </a:rPr>
              <a:t>تدفق هندسي محكم من إدخال المتن وحتى إصدار بطاقة الإسناد الموثقة</a:t>
            </a:r>
            <a:endParaRPr/>
          </a:p>
        </p:txBody>
      </p:sp>
      <p:sp>
        <p:nvSpPr>
          <p:cNvPr id="821" name="Google Shape;821;p2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sp>
        <p:nvSpPr>
          <p:cNvPr id="822" name="Google Shape;822;p24"/>
          <p:cNvSpPr/>
          <p:nvPr/>
        </p:nvSpPr>
        <p:spPr>
          <a:xfrm>
            <a:off x="13716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50800" lIns="78400" spcFirstLastPara="1" rIns="78400" wrap="square" tIns="50800">
            <a:noAutofit/>
          </a:bodyPr>
          <a:lstStyle/>
          <a:p>
            <a:pPr indent="0" lvl="0" marL="0" marR="238670" rtl="0" algn="r">
              <a:lnSpc>
                <a:spcPct val="115000"/>
              </a:lnSpc>
              <a:spcBef>
                <a:spcPts val="0"/>
              </a:spcBef>
              <a:spcAft>
                <a:spcPts val="400"/>
              </a:spcAft>
              <a:buNone/>
            </a:pPr>
            <a:r>
              <a:rPr sz="1800" b="1">
                <a:solidFill>
                  <a:srgbClr val="2EF2C2"/>
                </a:solidFill>
              </a:rPr>
              <a:t>01</a:t>
            </a:r>
            <a:endParaRPr>
              <a:solidFill>
                <a:schemeClr val="dk1"/>
              </a:solidFill>
              <a:latin typeface="Readex Pro"/>
              <a:ea typeface="Readex Pro"/>
              <a:cs typeface="Readex Pro"/>
              <a:sym typeface="Readex Pro"/>
            </a:endParaRPr>
          </a:p>
          <a:p>
            <a:pPr indent="0" lvl="0" marL="269999" rtl="1" algn="r">
              <a:lnSpc>
                <a:spcPct val="115000"/>
              </a:lnSpc>
              <a:spcBef>
                <a:spcPts val="2300"/>
              </a:spcBef>
              <a:spcAft>
                <a:spcPts val="400"/>
              </a:spcAft>
              <a:buNone/>
            </a:pPr>
            <a:r>
              <a:rPr sz="1650" b="1">
                <a:solidFill>
                  <a:srgbClr val="FFFFFF"/>
                </a:solidFill>
              </a:rPr>
              <a:t>الاستعلام الدلالي</a:t>
            </a:r>
            <a:endParaRPr>
              <a:solidFill>
                <a:schemeClr val="dk1"/>
              </a:solidFill>
              <a:latin typeface="Readex Pro"/>
              <a:ea typeface="Readex Pro"/>
              <a:cs typeface="Readex Pro"/>
              <a:sym typeface="Readex Pro"/>
            </a:endParaRPr>
          </a:p>
          <a:p>
            <a:pPr indent="0" lvl="0" marL="269999" rtl="1" algn="r">
              <a:lnSpc>
                <a:spcPct val="115000"/>
              </a:lnSpc>
              <a:spcBef>
                <a:spcPts val="2200"/>
              </a:spcBef>
              <a:spcAft>
                <a:spcPts val="400"/>
              </a:spcAft>
              <a:buNone/>
            </a:pPr>
            <a:r>
              <a:rPr sz="1650" b="1">
                <a:solidFill>
                  <a:srgbClr val="F2F4FF"/>
                </a:solidFill>
              </a:rPr>
              <a:t>إدخال المتن أو الفكرة المراد فحصها وتحليلها دلالياً</a:t>
            </a:r>
            <a:endParaRPr>
              <a:solidFill>
                <a:schemeClr val="dk1"/>
              </a:solidFill>
              <a:latin typeface="Readex Pro"/>
              <a:ea typeface="Readex Pro"/>
              <a:cs typeface="Readex Pro"/>
              <a:sym typeface="Readex Pro"/>
            </a:endParaRPr>
          </a:p>
          <a:p>
            <a:pPr indent="0" lvl="0" marL="269999" rtl="1" algn="r">
              <a:lnSpc>
                <a:spcPct val="115000"/>
              </a:lnSpc>
              <a:spcBef>
                <a:spcPts val="600"/>
              </a:spcBef>
              <a:spcAft>
                <a:spcPts val="400"/>
              </a:spcAft>
              <a:buNone/>
            </a:pPr>
            <a:r>
              <a:rPr sz="1650" b="1">
                <a:solidFill>
                  <a:srgbClr val="2EF2C2"/>
                </a:solidFill>
              </a:rPr>
              <a:t>واجهة المستخدم أو استدعاء الـ API الخارجي</a:t>
            </a:r>
            <a:endParaRPr>
              <a:solidFill>
                <a:schemeClr val="dk1"/>
              </a:solidFill>
              <a:latin typeface="Readex Pro"/>
              <a:ea typeface="Readex Pro"/>
              <a:cs typeface="Readex Pro"/>
              <a:sym typeface="Readex Pro"/>
            </a:endParaRPr>
          </a:p>
          <a:p>
            <a:pPr indent="0" lvl="0" marL="0" rtl="1" algn="r">
              <a:lnSpc>
                <a:spcPct val="115000"/>
              </a:lnSpc>
              <a:spcBef>
                <a:spcPts val="0"/>
              </a:spcBef>
              <a:spcAft>
                <a:spcPts val="400"/>
              </a:spcAft>
              <a:buNone/>
            </a:pPr>
            <a:r>
              <a:rPr/>
              <a:t/>
            </a:r>
            <a:endParaRPr sz="1201"/>
          </a:p>
        </p:txBody>
      </p:sp>
      <p:sp>
        <p:nvSpPr>
          <p:cNvPr id="823" name="Google Shape;823;p24"/>
          <p:cNvSpPr/>
          <p:nvPr/>
        </p:nvSpPr>
        <p:spPr>
          <a:xfrm>
            <a:off x="9715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50800" lIns="78400" spcFirstLastPara="1" rIns="78400" wrap="square" tIns="50800">
            <a:noAutofit/>
          </a:bodyPr>
          <a:lstStyle/>
          <a:p>
            <a:pPr indent="0" lvl="0" marL="0" marR="223307" rtl="0" algn="r">
              <a:lnSpc>
                <a:spcPct val="115000"/>
              </a:lnSpc>
              <a:spcBef>
                <a:spcPts val="0"/>
              </a:spcBef>
              <a:spcAft>
                <a:spcPts val="400"/>
              </a:spcAft>
              <a:buNone/>
            </a:pPr>
            <a:r>
              <a:rPr sz="1800" b="1">
                <a:solidFill>
                  <a:srgbClr val="2EF2C2"/>
                </a:solidFill>
              </a:rPr>
              <a:t>02</a:t>
            </a:r>
            <a:endParaRPr>
              <a:solidFill>
                <a:schemeClr val="dk1"/>
              </a:solidFill>
              <a:latin typeface="Readex Pro"/>
              <a:ea typeface="Readex Pro"/>
              <a:cs typeface="Readex Pro"/>
              <a:sym typeface="Readex Pro"/>
            </a:endParaRPr>
          </a:p>
          <a:p>
            <a:pPr indent="0" lvl="0" marL="269999" rtl="1" algn="r">
              <a:lnSpc>
                <a:spcPct val="115000"/>
              </a:lnSpc>
              <a:spcBef>
                <a:spcPts val="2300"/>
              </a:spcBef>
              <a:spcAft>
                <a:spcPts val="400"/>
              </a:spcAft>
              <a:buNone/>
            </a:pPr>
            <a:r>
              <a:rPr sz="1650" b="1">
                <a:solidFill>
                  <a:srgbClr val="FFFFFF"/>
                </a:solidFill>
              </a:rPr>
              <a:t>البحث الهجين RRF</a:t>
            </a:r>
            <a:endParaRPr>
              <a:solidFill>
                <a:schemeClr val="dk1"/>
              </a:solidFill>
              <a:latin typeface="Readex Pro"/>
              <a:ea typeface="Readex Pro"/>
              <a:cs typeface="Readex Pro"/>
              <a:sym typeface="Readex Pro"/>
            </a:endParaRPr>
          </a:p>
          <a:p>
            <a:pPr indent="0" lvl="0" marL="269999" rtl="1" algn="r">
              <a:lnSpc>
                <a:spcPct val="115000"/>
              </a:lnSpc>
              <a:spcBef>
                <a:spcPts val="2200"/>
              </a:spcBef>
              <a:spcAft>
                <a:spcPts val="400"/>
              </a:spcAft>
              <a:buNone/>
            </a:pPr>
            <a:r>
              <a:rPr sz="1800" b="1">
                <a:solidFill>
                  <a:srgbClr val="F2F4FF"/>
                </a:solidFill>
              </a:rPr>
              <a:t>استرجاع متجهات text-embedding-004 ومطابقة الألفاظ</a:t>
            </a:r>
            <a:endParaRPr>
              <a:solidFill>
                <a:schemeClr val="dk1"/>
              </a:solidFill>
              <a:latin typeface="Readex Pro"/>
              <a:ea typeface="Readex Pro"/>
              <a:cs typeface="Readex Pro"/>
              <a:sym typeface="Readex Pro"/>
            </a:endParaRPr>
          </a:p>
          <a:p>
            <a:pPr indent="0" lvl="0" marL="269999" rtl="1" algn="r">
              <a:lnSpc>
                <a:spcPct val="115000"/>
              </a:lnSpc>
              <a:spcBef>
                <a:spcPts val="600"/>
              </a:spcBef>
              <a:spcAft>
                <a:spcPts val="400"/>
              </a:spcAft>
              <a:buNone/>
            </a:pPr>
            <a:r>
              <a:rPr sz="1650" b="1">
                <a:solidFill>
                  <a:srgbClr val="2EF2C2"/>
                </a:solidFill>
              </a:rPr>
              <a:t>قاعدة PostgreSQL مع امتداد pgvector وفهارس HNSW</a:t>
            </a:r>
            <a:endParaRPr b="1" sz="3600">
              <a:solidFill>
                <a:srgbClr val="2EF2C2"/>
              </a:solidFill>
              <a:latin typeface="Readex Pro"/>
              <a:ea typeface="Readex Pro"/>
              <a:cs typeface="Readex Pro"/>
              <a:sym typeface="Readex Pro"/>
            </a:endParaRPr>
          </a:p>
        </p:txBody>
      </p:sp>
      <p:sp>
        <p:nvSpPr>
          <p:cNvPr id="824" name="Google Shape;824;p24"/>
          <p:cNvSpPr/>
          <p:nvPr/>
        </p:nvSpPr>
        <p:spPr>
          <a:xfrm>
            <a:off x="5715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50800" lIns="78400" spcFirstLastPara="1" rIns="78400" wrap="square" tIns="50800">
            <a:noAutofit/>
          </a:bodyPr>
          <a:lstStyle/>
          <a:p>
            <a:pPr indent="0" lvl="0" marL="0" marR="238125" rtl="0" algn="r">
              <a:lnSpc>
                <a:spcPct val="115000"/>
              </a:lnSpc>
              <a:spcBef>
                <a:spcPts val="0"/>
              </a:spcBef>
              <a:spcAft>
                <a:spcPts val="400"/>
              </a:spcAft>
              <a:buNone/>
            </a:pPr>
            <a:r>
              <a:rPr sz="1800" b="1">
                <a:solidFill>
                  <a:srgbClr val="2EF2C2"/>
                </a:solidFill>
              </a:rPr>
              <a:t>03</a:t>
            </a:r>
            <a:endParaRPr>
              <a:solidFill>
                <a:schemeClr val="dk1"/>
              </a:solidFill>
              <a:latin typeface="Readex Pro"/>
              <a:ea typeface="Readex Pro"/>
              <a:cs typeface="Readex Pro"/>
              <a:sym typeface="Readex Pro"/>
            </a:endParaRPr>
          </a:p>
          <a:p>
            <a:pPr indent="0" lvl="0" marL="269999" rtl="1" algn="r">
              <a:lnSpc>
                <a:spcPct val="115000"/>
              </a:lnSpc>
              <a:spcBef>
                <a:spcPts val="2300"/>
              </a:spcBef>
              <a:spcAft>
                <a:spcPts val="400"/>
              </a:spcAft>
              <a:buNone/>
            </a:pPr>
            <a:r>
              <a:rPr sz="1650" b="1">
                <a:solidFill>
                  <a:srgbClr val="FFFFFF"/>
                </a:solidFill>
              </a:rPr>
              <a:t>التحكيم والرفض الذكي</a:t>
            </a:r>
            <a:endParaRPr>
              <a:solidFill>
                <a:schemeClr val="dk1"/>
              </a:solidFill>
              <a:latin typeface="Readex Pro"/>
              <a:ea typeface="Readex Pro"/>
              <a:cs typeface="Readex Pro"/>
              <a:sym typeface="Readex Pro"/>
            </a:endParaRPr>
          </a:p>
          <a:p>
            <a:pPr indent="0" lvl="0" marL="269999" rtl="1" algn="r">
              <a:lnSpc>
                <a:spcPct val="115000"/>
              </a:lnSpc>
              <a:spcBef>
                <a:spcPts val="2200"/>
              </a:spcBef>
              <a:spcAft>
                <a:spcPts val="400"/>
              </a:spcAft>
              <a:buNone/>
            </a:pPr>
            <a:r>
              <a:rPr sz="1650" b="1">
                <a:solidFill>
                  <a:srgbClr val="F2F4FF"/>
                </a:solidFill>
              </a:rPr>
              <a:t>فحص عتبة القبول الصارمة (85%) ونفي الروايات غير الثابتة</a:t>
            </a:r>
            <a:endParaRPr>
              <a:solidFill>
                <a:schemeClr val="dk1"/>
              </a:solidFill>
              <a:latin typeface="Readex Pro"/>
              <a:ea typeface="Readex Pro"/>
              <a:cs typeface="Readex Pro"/>
              <a:sym typeface="Readex Pro"/>
            </a:endParaRPr>
          </a:p>
          <a:p>
            <a:pPr indent="0" lvl="0" marL="269999" rtl="1" algn="r">
              <a:lnSpc>
                <a:spcPct val="115000"/>
              </a:lnSpc>
              <a:spcBef>
                <a:spcPts val="600"/>
              </a:spcBef>
              <a:spcAft>
                <a:spcPts val="400"/>
              </a:spcAft>
              <a:buNone/>
            </a:pPr>
            <a:r>
              <a:rPr sz="1650" b="1">
                <a:solidFill>
                  <a:srgbClr val="2EF2C2"/>
                </a:solidFill>
              </a:rPr>
              <a:t>طبقة التحكيم المنطقي وبروتوكول منع الهلوسة</a:t>
            </a:r>
            <a:endParaRPr b="1" sz="3600">
              <a:solidFill>
                <a:srgbClr val="2EF2C2"/>
              </a:solidFill>
              <a:latin typeface="Readex Pro"/>
              <a:ea typeface="Readex Pro"/>
              <a:cs typeface="Readex Pro"/>
              <a:sym typeface="Readex Pro"/>
            </a:endParaRPr>
          </a:p>
        </p:txBody>
      </p:sp>
      <p:sp>
        <p:nvSpPr>
          <p:cNvPr id="825" name="Google Shape;825;p24"/>
          <p:cNvSpPr/>
          <p:nvPr/>
        </p:nvSpPr>
        <p:spPr>
          <a:xfrm>
            <a:off x="1714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50800" lIns="78400" spcFirstLastPara="1" rIns="78400" wrap="square" tIns="50800">
            <a:noAutofit/>
          </a:bodyPr>
          <a:lstStyle/>
          <a:p>
            <a:pPr indent="0" lvl="0" marL="0" marR="223307" rtl="0" algn="r">
              <a:lnSpc>
                <a:spcPct val="115000"/>
              </a:lnSpc>
              <a:spcBef>
                <a:spcPts val="0"/>
              </a:spcBef>
              <a:spcAft>
                <a:spcPts val="400"/>
              </a:spcAft>
              <a:buNone/>
            </a:pPr>
            <a:r>
              <a:rPr sz="1800" b="1">
                <a:solidFill>
                  <a:srgbClr val="2EF2C2"/>
                </a:solidFill>
              </a:rPr>
              <a:t>04</a:t>
            </a:r>
            <a:endParaRPr>
              <a:solidFill>
                <a:schemeClr val="dk1"/>
              </a:solidFill>
              <a:latin typeface="Readex Pro"/>
              <a:ea typeface="Readex Pro"/>
              <a:cs typeface="Readex Pro"/>
              <a:sym typeface="Readex Pro"/>
            </a:endParaRPr>
          </a:p>
          <a:p>
            <a:pPr indent="0" lvl="0" marL="269999" rtl="1" algn="r">
              <a:lnSpc>
                <a:spcPct val="115000"/>
              </a:lnSpc>
              <a:spcBef>
                <a:spcPts val="2300"/>
              </a:spcBef>
              <a:spcAft>
                <a:spcPts val="400"/>
              </a:spcAft>
              <a:buNone/>
            </a:pPr>
            <a:r>
              <a:rPr sz="1650" b="1">
                <a:solidFill>
                  <a:srgbClr val="FFFFFF"/>
                </a:solidFill>
              </a:rPr>
              <a:t>بطاقة الإسناد الموثقة</a:t>
            </a:r>
            <a:endParaRPr>
              <a:solidFill>
                <a:schemeClr val="dk1"/>
              </a:solidFill>
              <a:latin typeface="Readex Pro"/>
              <a:ea typeface="Readex Pro"/>
              <a:cs typeface="Readex Pro"/>
              <a:sym typeface="Readex Pro"/>
            </a:endParaRPr>
          </a:p>
          <a:p>
            <a:pPr indent="0" lvl="0" marL="269999" rtl="1" algn="r">
              <a:lnSpc>
                <a:spcPct val="115000"/>
              </a:lnSpc>
              <a:spcBef>
                <a:spcPts val="2200"/>
              </a:spcBef>
              <a:spcAft>
                <a:spcPts val="400"/>
              </a:spcAft>
              <a:buNone/>
            </a:pPr>
            <a:r>
              <a:rPr sz="1650" b="1">
                <a:solidFill>
                  <a:srgbClr val="F2F4FF"/>
                </a:solidFill>
              </a:rPr>
              <a:t>إصدار النتيجة موثقة برقم الحديث والباب وتصدير الشهادة</a:t>
            </a:r>
            <a:endParaRPr>
              <a:solidFill>
                <a:schemeClr val="dk1"/>
              </a:solidFill>
              <a:latin typeface="Readex Pro"/>
              <a:ea typeface="Readex Pro"/>
              <a:cs typeface="Readex Pro"/>
              <a:sym typeface="Readex Pro"/>
            </a:endParaRPr>
          </a:p>
          <a:p>
            <a:pPr indent="0" lvl="0" marL="269999" rtl="1" algn="r">
              <a:lnSpc>
                <a:spcPct val="115000"/>
              </a:lnSpc>
              <a:spcBef>
                <a:spcPts val="600"/>
              </a:spcBef>
              <a:spcAft>
                <a:spcPts val="400"/>
              </a:spcAft>
              <a:buNone/>
            </a:pPr>
            <a:r>
              <a:rPr sz="1650" b="1">
                <a:solidFill>
                  <a:srgbClr val="2EF2C2"/>
                </a:solidFill>
              </a:rPr>
              <a:t>شهادة رقمية قابلة للمشاركة وزمن استجابة &lt; 5ms</a:t>
            </a:r>
            <a:endParaRPr b="1" sz="3600">
              <a:solidFill>
                <a:srgbClr val="2EF2C2"/>
              </a:solidFill>
              <a:latin typeface="Readex Pro"/>
              <a:ea typeface="Readex Pro"/>
              <a:cs typeface="Readex Pro"/>
              <a:sym typeface="Readex Pro"/>
            </a:endParaRPr>
          </a:p>
        </p:txBody>
      </p:sp>
      <p:pic>
        <p:nvPicPr>
          <p:cNvPr id="826" name="Google Shape;826;p2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69" name="Shape 569"/>
        <p:cNvGrpSpPr/>
        <p:nvPr/>
      </p:nvGrpSpPr>
      <p:grpSpPr>
        <a:xfrm>
          <a:off x="0" y="0"/>
          <a:ext cx="0" cy="0"/>
          <a:chOff x="0" y="0"/>
          <a:chExt cx="0" cy="0"/>
        </a:xfrm>
      </p:grpSpPr>
      <p:pic>
        <p:nvPicPr>
          <p:cNvPr id="570" name="Google Shape;570;p13"/>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71" name="Google Shape;571;p13"/>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sz="1650" b="1">
                <a:solidFill>
                  <a:srgbClr val="2EF2C2"/>
                </a:solidFill>
              </a:rPr>
              <a:t>تحدي الذكاء الاصطناعي في خدمة المحتوى الإسلامي</a:t>
            </a:r>
            <a:endParaRPr/>
          </a:p>
        </p:txBody>
      </p:sp>
      <p:pic>
        <p:nvPicPr>
          <p:cNvPr id="572" name="Google Shape;572;p13"/>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73" name="Google Shape;573;p13"/>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واجهة التطبيق التفاعلية</a:t>
            </a:r>
            <a:endParaRPr/>
          </a:p>
        </p:txBody>
      </p:sp>
      <p:sp>
        <p:nvSpPr>
          <p:cNvPr id="574" name="Google Shape;574;p13"/>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3800" b="1">
                <a:solidFill>
                  <a:srgbClr val="FFFFFF"/>
                </a:solidFill>
              </a:rPr>
              <a:t>تجربة تحقق فورية وموثقة عبر واجهة بَيّنة AI</a:t>
            </a:r>
            <a:endParaRPr/>
          </a:p>
        </p:txBody>
      </p:sp>
      <p:sp>
        <p:nvSpPr>
          <p:cNvPr id="575" name="Google Shape;575;p1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pic>
        <p:nvPicPr>
          <p:cNvPr id="576" name="Google Shape;576;p13" descr="streamlit_ui_verified.png"/>
          <p:cNvPicPr>
            <a:picLocks noGrp="1" noChangeAspect="1"/>
          </p:cNvPicPr>
          <p:nvPr>
            <p:ph idx="2" type="pic"/>
          </p:nvPr>
        </p:nvPicPr>
        <p:blipFill>
          <a:blip r:embed="rId5"/>
          <a:srcRect t="26000" b="26000"/>
          <a:stretch>
            <a:fillRect/>
          </a:stretch>
        </p:blipFill>
        <p:spPr/>
      </p:pic>
      <p:sp>
        <p:nvSpPr>
          <p:cNvPr id="577" name="Google Shape;577;p13"/>
          <p:cNvSpPr txBox="1"/>
          <p:nvPr>
            <p:ph idx="3" type="body"/>
          </p:nvPr>
        </p:nvSpPr>
        <p:spPr>
          <a:xfrm>
            <a:off x="10458450" y="409575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بطاقة التحقق والإسناد المباشرة</a:t>
            </a:r>
            <a:endParaRPr/>
          </a:p>
        </p:txBody>
      </p:sp>
      <p:sp>
        <p:nvSpPr>
          <p:cNvPr id="578" name="Google Shape;578;p13"/>
          <p:cNvSpPr txBox="1"/>
          <p:nvPr>
            <p:ph idx="4" type="body"/>
          </p:nvPr>
        </p:nvSpPr>
        <p:spPr>
          <a:xfrm>
            <a:off x="10458450" y="480060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فحص فوري لحديث «إنما الأعمال بالنيات» بنسبة تطابق 96.4%، مع استخراج الكتاب والباب وتخريج الحديث في صحيح البخاري، وإبراز المفاهيم الدلالية المطابقة.</a:t>
            </a:r>
            <a:endParaRPr/>
          </a:p>
        </p:txBody>
      </p:sp>
      <p:sp>
        <p:nvSpPr>
          <p:cNvPr id="579" name="Google Shape;579;p13"/>
          <p:cNvSpPr txBox="1"/>
          <p:nvPr>
            <p:ph idx="5" type="body"/>
          </p:nvPr>
        </p:nvSpPr>
        <p:spPr>
          <a:xfrm>
            <a:off x="10458450" y="666750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التوثيق والتصدير الفوري</a:t>
            </a:r>
            <a:endParaRPr/>
          </a:p>
        </p:txBody>
      </p:sp>
      <p:sp>
        <p:nvSpPr>
          <p:cNvPr id="580" name="Google Shape;580;p13"/>
          <p:cNvSpPr txBox="1"/>
          <p:nvPr>
            <p:ph idx="6" type="body"/>
          </p:nvPr>
        </p:nvSpPr>
        <p:spPr>
          <a:xfrm>
            <a:off x="10458450" y="737235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إمكانية تصدير بطاقة إسناد وشهادة تحقق رقمية جاهزة للنشر، مع زمن استجابة لحظي يعزز موثوقية المحتوى الدعوي والمعرفي.</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85" name="Shape 585"/>
        <p:cNvGrpSpPr/>
        <p:nvPr/>
      </p:nvGrpSpPr>
      <p:grpSpPr>
        <a:xfrm>
          <a:off x="0" y="0"/>
          <a:ext cx="0" cy="0"/>
          <a:chOff x="0" y="0"/>
          <a:chExt cx="0" cy="0"/>
        </a:xfrm>
      </p:grpSpPr>
      <p:pic>
        <p:nvPicPr>
          <p:cNvPr id="586" name="Google Shape;586;p14"/>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87" name="Google Shape;587;p14"/>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sz="1650" b="1">
                <a:solidFill>
                  <a:srgbClr val="2EF2C2"/>
                </a:solidFill>
              </a:rPr>
              <a:t>تحدي الذكاء الاصطناعي في خدمة المحتوى الإسلامي</a:t>
            </a:r>
            <a:endParaRPr/>
          </a:p>
        </p:txBody>
      </p:sp>
      <p:pic>
        <p:nvPicPr>
          <p:cNvPr id="588" name="Google Shape;588;p1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89" name="Google Shape;589;p1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بروتوكول الرفض الذكي</a:t>
            </a:r>
            <a:endParaRPr/>
          </a:p>
        </p:txBody>
      </p:sp>
      <p:sp>
        <p:nvSpPr>
          <p:cNvPr id="590" name="Google Shape;590;p1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3800" b="1">
                <a:solidFill>
                  <a:srgbClr val="FFFFFF"/>
                </a:solidFill>
              </a:rPr>
              <a:t>كشف الروايات المكذوبة والامتناع الصارم عن التوليد</a:t>
            </a:r>
            <a:endParaRPr/>
          </a:p>
        </p:txBody>
      </p:sp>
      <p:sp>
        <p:nvSpPr>
          <p:cNvPr id="591" name="Google Shape;591;p1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pic>
        <p:nvPicPr>
          <p:cNvPr id="592" name="Google Shape;592;p14" descr="streamlit_ui_refused.png"/>
          <p:cNvPicPr>
            <a:picLocks noGrp="1" noChangeAspect="1"/>
          </p:cNvPicPr>
          <p:nvPr>
            <p:ph idx="2" type="pic"/>
          </p:nvPr>
        </p:nvPicPr>
        <p:blipFill>
          <a:blip r:embed="rId5"/>
          <a:srcRect t="7333" b="7333"/>
          <a:stretch>
            <a:fillRect/>
          </a:stretch>
        </p:blipFill>
        <p:spPr/>
      </p:pic>
      <p:sp>
        <p:nvSpPr>
          <p:cNvPr id="593" name="Google Shape;593;p14"/>
          <p:cNvSpPr txBox="1"/>
          <p:nvPr>
            <p:ph idx="3" type="body"/>
          </p:nvPr>
        </p:nvSpPr>
        <p:spPr>
          <a:xfrm>
            <a:off x="9696450" y="3905250"/>
            <a:ext cx="7143900" cy="800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450"/>
              <a:buNone/>
            </a:pPr>
            <a:r>
              <a:rPr sz="2600" b="1">
                <a:solidFill>
                  <a:srgbClr val="2EF2C2"/>
                </a:solidFill>
              </a:rPr>
              <a:t>تحصين المحتوى ضد الأحاديث الموضوعة والباطلة</a:t>
            </a:r>
            <a:endParaRPr/>
          </a:p>
        </p:txBody>
      </p:sp>
      <p:sp>
        <p:nvSpPr>
          <p:cNvPr id="594" name="Google Shape;594;p14"/>
          <p:cNvSpPr txBox="1"/>
          <p:nvPr>
            <p:ph idx="4" type="body"/>
          </p:nvPr>
        </p:nvSpPr>
        <p:spPr>
          <a:xfrm>
            <a:off x="9696450" y="5191125"/>
            <a:ext cx="7143900" cy="2032500"/>
          </a:xfrm>
          <a:prstGeom prst="rect">
            <a:avLst/>
          </a:prstGeom>
          <a:noFill/>
          <a:ln>
            <a:noFill/>
          </a:ln>
        </p:spPr>
        <p:txBody>
          <a:bodyPr anchorCtr="0" anchor="t" bIns="0" lIns="0" spcFirstLastPara="1" rIns="0" wrap="square" tIns="0">
            <a:noAutofit/>
          </a:bodyPr>
          <a:lstStyle/>
          <a:p>
            <a:pPr indent="0" lvl="0" marL="0" rtl="1" algn="r">
              <a:lnSpc>
                <a:spcPct val="115000"/>
              </a:lnSpc>
              <a:spcBef>
                <a:spcPts val="0"/>
              </a:spcBef>
              <a:spcAft>
                <a:spcPts val="0"/>
              </a:spcAft>
              <a:buSzPts val="2850"/>
              <a:buNone/>
            </a:pPr>
            <a:r>
              <a:rPr sz="1800" b="1">
                <a:solidFill>
                  <a:srgbClr val="F2F4FF"/>
                </a:solidFill>
              </a:rPr>
              <a:t>عند فحص مقولة مشهورة مكذوبة («اطلبوا العلم ولو في الصين»)، يكتشف المحرك عدم ثبوتها في صحيحي البخاري ومسلم، ويهبط مؤشر التطابق إلى ما دون عتبة القبول، فيصدر النظام تنبيهاً صريحاً يمتنع فيه عن الإسناد أو التوليد.</a:t>
            </a:r>
            <a:endParaRPr>
              <a:latin typeface="Readex Pro Light"/>
              <a:ea typeface="Readex Pro Light"/>
              <a:cs typeface="Readex Pro Light"/>
              <a:sym typeface="Readex Pro Light"/>
            </a:endParaRPr>
          </a:p>
        </p:txBody>
      </p:sp>
      <p:sp>
        <p:nvSpPr>
          <p:cNvPr id="595" name="Google Shape;595;p14"/>
          <p:cNvSpPr txBox="1"/>
          <p:nvPr>
            <p:ph idx="5" type="body"/>
          </p:nvPr>
        </p:nvSpPr>
        <p:spPr>
          <a:xfrm>
            <a:off x="9696450" y="8048625"/>
            <a:ext cx="7143900" cy="743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950"/>
              <a:buNone/>
            </a:pPr>
            <a:r>
              <a:rPr sz="1800" b="1">
                <a:solidFill>
                  <a:srgbClr val="FFFFFF"/>
                </a:solidFill>
              </a:rPr>
              <a:t>بروتوكول الرفض الذكي لمنظومة بَيّنة AI — تصفير تام للهلوثة وحماية للأمانة العلمية</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00" name="Shape 600"/>
        <p:cNvGrpSpPr/>
        <p:nvPr/>
      </p:nvGrpSpPr>
      <p:grpSpPr>
        <a:xfrm>
          <a:off x="0" y="0"/>
          <a:ext cx="0" cy="0"/>
          <a:chOff x="0" y="0"/>
          <a:chExt cx="0" cy="0"/>
        </a:xfrm>
      </p:grpSpPr>
      <p:pic>
        <p:nvPicPr>
          <p:cNvPr id="601" name="Google Shape;601;p15"/>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602" name="Google Shape;602;p15"/>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sz="1650" b="1">
                <a:solidFill>
                  <a:srgbClr val="2EF2C2"/>
                </a:solidFill>
              </a:rPr>
              <a:t>تحدي الذكاء الاصطناعي في خدمة المحتوى الإسلامي</a:t>
            </a:r>
            <a:endParaRPr/>
          </a:p>
        </p:txBody>
      </p:sp>
      <p:pic>
        <p:nvPicPr>
          <p:cNvPr id="603" name="Google Shape;603;p15"/>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04" name="Google Shape;604;p15"/>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الأثر والمؤشرات</a:t>
            </a:r>
            <a:endParaRPr/>
          </a:p>
        </p:txBody>
      </p:sp>
      <p:sp>
        <p:nvSpPr>
          <p:cNvPr id="605" name="Google Shape;605;p15"/>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000" b="1">
                <a:solidFill>
                  <a:srgbClr val="FFFFFF"/>
                </a:solidFill>
              </a:rPr>
              <a:t>مؤشرات الكفاءة الهندسية والأمانة العلمية</a:t>
            </a:r>
            <a:endParaRPr/>
          </a:p>
        </p:txBody>
      </p:sp>
      <p:sp>
        <p:nvSpPr>
          <p:cNvPr id="606" name="Google Shape;606;p15"/>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000" b="1">
                <a:solidFill>
                  <a:srgbClr val="F2F4FF"/>
                </a:solidFill>
              </a:rPr>
              <a:t>بيئة الإنتاج والقياس المعياري الفعلي 2026</a:t>
            </a:r>
            <a:endParaRPr/>
          </a:p>
        </p:txBody>
      </p:sp>
      <p:sp>
        <p:nvSpPr>
          <p:cNvPr id="607" name="Google Shape;607;p1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sp>
        <p:nvSpPr>
          <p:cNvPr id="608" name="Google Shape;608;p15"/>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sz="6400" b="1">
                <a:solidFill>
                  <a:srgbClr val="2EF2C2"/>
                </a:solidFill>
              </a:rPr>
              <a:t>0%</a:t>
            </a:r>
            <a:endParaRPr/>
          </a:p>
        </p:txBody>
      </p:sp>
      <p:sp>
        <p:nvSpPr>
          <p:cNvPr id="609" name="Google Shape;609;p15"/>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sz="2400" b="1">
                <a:solidFill>
                  <a:srgbClr val="FFFFFF"/>
                </a:solidFill>
              </a:rPr>
              <a:t>نسبة الهلوسة الرقمية</a:t>
            </a:r>
            <a:endParaRPr/>
          </a:p>
        </p:txBody>
      </p:sp>
      <p:sp>
        <p:nvSpPr>
          <p:cNvPr id="610" name="Google Shape;610;p15"/>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sz="1800" b="1">
                <a:solidFill>
                  <a:srgbClr val="F2F4FF"/>
                </a:solidFill>
              </a:rPr>
              <a:t>تصفير تام للتوليد الحر</a:t>
            </a:r>
            <a:endParaRPr/>
          </a:p>
        </p:txBody>
      </p:sp>
      <p:sp>
        <p:nvSpPr>
          <p:cNvPr id="611" name="Google Shape;611;p15"/>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sz="6400" b="1">
                <a:solidFill>
                  <a:srgbClr val="2EF2C2"/>
                </a:solidFill>
              </a:rPr>
              <a:t>&lt; 5ms</a:t>
            </a:r>
            <a:endParaRPr/>
          </a:p>
        </p:txBody>
      </p:sp>
      <p:sp>
        <p:nvSpPr>
          <p:cNvPr id="612" name="Google Shape;612;p15"/>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sz="2400" b="1">
                <a:solidFill>
                  <a:srgbClr val="FFFFFF"/>
                </a:solidFill>
              </a:rPr>
              <a:t>زمن استجابة الكاش</a:t>
            </a:r>
            <a:endParaRPr/>
          </a:p>
        </p:txBody>
      </p:sp>
      <p:sp>
        <p:nvSpPr>
          <p:cNvPr id="613" name="Google Shape;613;p15"/>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sz="1800" b="1">
                <a:solidFill>
                  <a:srgbClr val="F2F4FF"/>
                </a:solidFill>
              </a:rPr>
              <a:t>استرجاع فوري للذاكرة المؤقتة</a:t>
            </a:r>
            <a:endParaRPr/>
          </a:p>
        </p:txBody>
      </p:sp>
      <p:sp>
        <p:nvSpPr>
          <p:cNvPr id="614" name="Google Shape;614;p15"/>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sz="6400" b="1">
                <a:solidFill>
                  <a:srgbClr val="2EF2C2"/>
                </a:solidFill>
              </a:rPr>
              <a:t>+95%</a:t>
            </a:r>
            <a:endParaRPr/>
          </a:p>
        </p:txBody>
      </p:sp>
      <p:sp>
        <p:nvSpPr>
          <p:cNvPr id="615" name="Google Shape;615;p15"/>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sz="2400" b="1">
                <a:solidFill>
                  <a:srgbClr val="FFFFFF"/>
                </a:solidFill>
              </a:rPr>
              <a:t>دقة المطابقة الدلالية</a:t>
            </a:r>
            <a:endParaRPr/>
          </a:p>
        </p:txBody>
      </p:sp>
      <p:sp>
        <p:nvSpPr>
          <p:cNvPr id="616" name="Google Shape;616;p15"/>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sz="1800" b="1">
                <a:solidFill>
                  <a:srgbClr val="F2F4FF"/>
                </a:solidFill>
              </a:rPr>
              <a:t>تطابق دلالي ولفظي هجين</a:t>
            </a:r>
            <a:endParaRPr/>
          </a:p>
        </p:txBody>
      </p:sp>
      <p:sp>
        <p:nvSpPr>
          <p:cNvPr id="617" name="Google Shape;617;p15"/>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sz="6400" b="1">
                <a:solidFill>
                  <a:srgbClr val="2EF2C2"/>
                </a:solidFill>
              </a:rPr>
              <a:t>100%</a:t>
            </a:r>
            <a:endParaRPr/>
          </a:p>
        </p:txBody>
      </p:sp>
      <p:sp>
        <p:nvSpPr>
          <p:cNvPr id="618" name="Google Shape;618;p15"/>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sz="2400" b="1">
                <a:solidFill>
                  <a:srgbClr val="FFFFFF"/>
                </a:solidFill>
              </a:rPr>
              <a:t>شفافية الإسناد والعزو</a:t>
            </a:r>
            <a:endParaRPr/>
          </a:p>
        </p:txBody>
      </p:sp>
      <p:sp>
        <p:nvSpPr>
          <p:cNvPr id="619" name="Google Shape;619;p15"/>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sz="1800" b="1">
                <a:solidFill>
                  <a:srgbClr val="F2F4FF"/>
                </a:solidFill>
              </a:rPr>
              <a:t>توثيق قطعي بالأبواب والأرقام</a:t>
            </a:r>
            <a:endParaRPr/>
          </a:p>
        </p:txBody>
      </p:sp>
      <p:sp>
        <p:nvSpPr>
          <p:cNvPr id="620" name="Google Shape;620;p15"/>
          <p:cNvSpPr txBox="1"/>
          <p:nvPr>
            <p:ph idx="18" type="body"/>
          </p:nvPr>
        </p:nvSpPr>
        <p:spPr>
          <a:xfrm>
            <a:off x="8381075" y="8763000"/>
            <a:ext cx="8459100" cy="476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F2F4FF"/>
                </a:solidFill>
              </a:rPr>
              <a:t>سجلات القياس المعياري لنظام بَيّنة AI — أكتوبر 2026</a:t>
            </a:r>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8288000" cy="10287000"/>
          </a:xfrm>
          <a:prstGeom prst="rect">
            <a:avLst/>
          </a:prstGeom>
        </p:spPr>
      </p:pic>
      <p:pic>
        <p:nvPicPr>
          <p:cNvPr id="3" name="Picture 2" descr="image.png"/>
          <p:cNvPicPr>
            <a:picLocks noChangeAspect="1"/>
          </p:cNvPicPr>
          <p:nvPr/>
        </p:nvPicPr>
        <p:blipFill>
          <a:blip r:embed="rId3"/>
          <a:stretch>
            <a:fillRect/>
          </a:stretch>
        </p:blipFill>
        <p:spPr>
          <a:xfrm>
            <a:off x="1069848" y="694944"/>
            <a:ext cx="3429000" cy="877824"/>
          </a:xfrm>
          <a:prstGeom prst="rect">
            <a:avLst/>
          </a:prstGeom>
        </p:spPr>
      </p:pic>
      <p:sp>
        <p:nvSpPr>
          <p:cNvPr id="4" name="TextBox 3"/>
          <p:cNvSpPr txBox="1"/>
          <p:nvPr/>
        </p:nvSpPr>
        <p:spPr>
          <a:xfrm>
            <a:off x="1371600" y="822960"/>
            <a:ext cx="15544800" cy="2103120"/>
          </a:xfrm>
          <a:prstGeom prst="rect">
            <a:avLst/>
          </a:prstGeom>
          <a:noFill/>
        </p:spPr>
        <p:txBody>
          <a:bodyPr wrap="square">
            <a:spAutoFit/>
          </a:bodyPr>
          <a:lstStyle/>
          <a:p>
            <a:pPr algn="r">
              <a:defRPr sz="2000" b="1">
                <a:solidFill>
                  <a:srgbClr val="00D2FF"/>
                </a:solidFill>
              </a:defRPr>
            </a:pPr>
            <a:r>
              <a:t>منظومة اتخاذ القرار والتحقق الثلاثي</a:t>
            </a:r>
          </a:p>
          <a:p>
            <a:pPr algn="r">
              <a:defRPr sz="3000" b="1">
                <a:solidFill>
                  <a:srgbClr val="FFFFFF"/>
                </a:solidFill>
              </a:defRPr>
            </a:pPr>
            <a:r>
              <a:t>مصفوفة فحص الحالات الواقعية واستجابة المحرك للسيناريوهات الحرجة</a:t>
            </a:r>
          </a:p>
          <a:p>
            <a:pPr algn="r">
              <a:defRPr sz="1700">
                <a:solidFill>
                  <a:srgbClr val="BED7F5"/>
                </a:solidFill>
              </a:defRPr>
            </a:pPr>
            <a:r>
              <a:t>تصنيف ثلاثي معتمد يضمن إسناد الروايات الصحيحة، وإحالة الحالات المقاربة للمراجعة البشرية، والرفض الذكي لما لا أصل له</a:t>
            </a:r>
          </a:p>
        </p:txBody>
      </p:sp>
      <p:sp>
        <p:nvSpPr>
          <p:cNvPr id="5" name="Rounded Rectangle 4"/>
          <p:cNvSpPr/>
          <p:nvPr/>
        </p:nvSpPr>
        <p:spPr>
          <a:xfrm>
            <a:off x="12344400" y="3291840"/>
            <a:ext cx="4754880" cy="5943600"/>
          </a:xfrm>
          <a:prstGeom prst="roundRect">
            <a:avLst/>
          </a:prstGeom>
          <a:solidFill>
            <a:srgbClr val="0E1730"/>
          </a:solidFill>
          <a:ln w="317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573000" y="3474720"/>
            <a:ext cx="4297680" cy="5577840"/>
          </a:xfrm>
          <a:prstGeom prst="rect">
            <a:avLst/>
          </a:prstGeom>
          <a:noFill/>
        </p:spPr>
        <p:txBody>
          <a:bodyPr wrap="square">
            <a:spAutoFit/>
          </a:bodyPr>
          <a:lstStyle/>
          <a:p>
            <a:pPr algn="r">
              <a:defRPr sz="2100" b="1">
                <a:solidFill>
                  <a:srgbClr val="10B981"/>
                </a:solidFill>
              </a:defRPr>
            </a:pPr>
            <a:r>
              <a:t>المستوى الأول (≥ 85%)</a:t>
            </a:r>
            <a:br/>
            <a:r>
              <a:t>معتمد وصالح للنشر</a:t>
            </a:r>
          </a:p>
          <a:p>
            <a:pPr algn="r">
              <a:defRPr sz="1100">
                <a:solidFill>
                  <a:srgbClr val="324B6E"/>
                </a:solidFill>
              </a:defRPr>
            </a:pPr>
            <a:r>
              <a:t>───────────────</a:t>
            </a:r>
          </a:p>
          <a:p>
            <a:pPr algn="r">
              <a:defRPr sz="1650" b="1">
                <a:solidFill>
                  <a:srgbClr val="FFFFFF"/>
                </a:solidFill>
              </a:defRPr>
            </a:pPr>
            <a:r>
              <a:t>السيناريو: تطابق لفظي تام</a:t>
            </a:r>
          </a:p>
          <a:p>
            <a:pPr algn="r">
              <a:defRPr sz="1550" i="1">
                <a:solidFill>
                  <a:srgbClr val="C8E1FF"/>
                </a:solidFill>
              </a:defRPr>
            </a:pPr>
            <a:r>
              <a:t>«إنما الأعمال بالنيات وإنما لكل امرئ ما نوى»</a:t>
            </a:r>
          </a:p>
          <a:p>
            <a:pPr algn="r">
              <a:defRPr sz="1650" b="1">
                <a:solidFill>
                  <a:srgbClr val="00D2FF"/>
                </a:solidFill>
              </a:defRPr>
            </a:pPr>
            <a:r>
              <a:t>الإجراء المنهجي المعتمد:</a:t>
            </a:r>
          </a:p>
          <a:p>
            <a:pPr algn="r">
              <a:defRPr sz="1500">
                <a:solidFill>
                  <a:srgbClr val="DCE6F5"/>
                </a:solidFill>
              </a:defRPr>
            </a:pPr>
            <a:r>
              <a:t>• إجازة النشر الفوري مع بطاقة الإسناد والتخريج</a:t>
            </a:r>
          </a:p>
          <a:p>
            <a:pPr algn="r">
              <a:defRPr sz="1500">
                <a:solidFill>
                  <a:srgbClr val="DCE6F5"/>
                </a:solidFill>
              </a:defRPr>
            </a:pPr>
            <a:r>
              <a:t>• نسبة الثقة: 86.5% - استرجاع مباشر من صحيح البخاري</a:t>
            </a:r>
          </a:p>
          <a:p>
            <a:pPr algn="r">
              <a:defRPr sz="1500">
                <a:solidFill>
                  <a:srgbClr val="DCE6F5"/>
                </a:solidFill>
              </a:defRPr>
            </a:pPr>
            <a:r>
              <a:t>• توثيق قطعي برقم الحديث والباب وحكم المحدثين</a:t>
            </a:r>
          </a:p>
        </p:txBody>
      </p:sp>
      <p:sp>
        <p:nvSpPr>
          <p:cNvPr id="7" name="Rounded Rectangle 6"/>
          <p:cNvSpPr/>
          <p:nvPr/>
        </p:nvSpPr>
        <p:spPr>
          <a:xfrm>
            <a:off x="6766560" y="3291840"/>
            <a:ext cx="4754880" cy="5943600"/>
          </a:xfrm>
          <a:prstGeom prst="roundRect">
            <a:avLst/>
          </a:prstGeom>
          <a:solidFill>
            <a:srgbClr val="0E1730"/>
          </a:solidFill>
          <a:ln w="317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0" y="3474720"/>
            <a:ext cx="4297680" cy="5577840"/>
          </a:xfrm>
          <a:prstGeom prst="rect">
            <a:avLst/>
          </a:prstGeom>
          <a:noFill/>
        </p:spPr>
        <p:txBody>
          <a:bodyPr wrap="square">
            <a:spAutoFit/>
          </a:bodyPr>
          <a:lstStyle/>
          <a:p>
            <a:pPr algn="r">
              <a:defRPr sz="2100" b="1">
                <a:solidFill>
                  <a:srgbClr val="F59E0B"/>
                </a:solidFill>
              </a:defRPr>
            </a:pPr>
            <a:r>
              <a:t>المستوى الثاني (60% - 84%)</a:t>
            </a:r>
            <a:br/>
            <a:r>
              <a:t>محتوى مقارب - مراجعة بشرية</a:t>
            </a:r>
          </a:p>
          <a:p>
            <a:pPr algn="r">
              <a:defRPr sz="1100">
                <a:solidFill>
                  <a:srgbClr val="324B6E"/>
                </a:solidFill>
              </a:defRPr>
            </a:pPr>
            <a:r>
              <a:t>───────────────</a:t>
            </a:r>
          </a:p>
          <a:p>
            <a:pPr algn="r">
              <a:defRPr sz="1650" b="1">
                <a:solidFill>
                  <a:srgbClr val="FFFFFF"/>
                </a:solidFill>
              </a:defRPr>
            </a:pPr>
            <a:r>
              <a:t>السيناريو: فهم دلالي معاصر (حالة غير مثالية)</a:t>
            </a:r>
          </a:p>
          <a:p>
            <a:pPr algn="r">
              <a:defRPr sz="1550" i="1">
                <a:solidFill>
                  <a:srgbClr val="C8E1FF"/>
                </a:solidFill>
              </a:defRPr>
            </a:pPr>
            <a:r>
              <a:t>«كف الأذى واللسان عن الآخرين علامة صدق الإيمان»</a:t>
            </a:r>
          </a:p>
          <a:p>
            <a:pPr algn="r">
              <a:defRPr sz="1650" b="1">
                <a:solidFill>
                  <a:srgbClr val="00D2FF"/>
                </a:solidFill>
              </a:defRPr>
            </a:pPr>
            <a:r>
              <a:t>الإجراء المنهجي المعتمد:</a:t>
            </a:r>
          </a:p>
          <a:p>
            <a:pPr algn="r">
              <a:defRPr sz="1500">
                <a:solidFill>
                  <a:srgbClr val="DCE6F5"/>
                </a:solidFill>
              </a:defRPr>
            </a:pPr>
            <a:r>
              <a:t>• تنبيه احترازي وإحالة للمدقق البشري (Human-in-the-Loop)</a:t>
            </a:r>
          </a:p>
          <a:p>
            <a:pPr algn="r">
              <a:defRPr sz="1500">
                <a:solidFill>
                  <a:srgbClr val="DCE6F5"/>
                </a:solidFill>
              </a:defRPr>
            </a:pPr>
            <a:r>
              <a:t>• نسبة الثقة: 75.1% - تقارب معنوي دون تطابق تام</a:t>
            </a:r>
          </a:p>
          <a:p>
            <a:pPr algn="r">
              <a:defRPr sz="1500">
                <a:solidFill>
                  <a:srgbClr val="DCE6F5"/>
                </a:solidFill>
              </a:defRPr>
            </a:pPr>
            <a:r>
              <a:t>• مقارنة بصرية جنباً إلى جنب (Side-by-Side) للتحقق الذاتي</a:t>
            </a:r>
          </a:p>
        </p:txBody>
      </p:sp>
      <p:sp>
        <p:nvSpPr>
          <p:cNvPr id="9" name="Rounded Rectangle 8"/>
          <p:cNvSpPr/>
          <p:nvPr/>
        </p:nvSpPr>
        <p:spPr>
          <a:xfrm>
            <a:off x="1188720" y="3291840"/>
            <a:ext cx="4754880" cy="5943600"/>
          </a:xfrm>
          <a:prstGeom prst="roundRect">
            <a:avLst/>
          </a:prstGeom>
          <a:solidFill>
            <a:srgbClr val="0E1730"/>
          </a:solidFill>
          <a:ln w="317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17320" y="3474720"/>
            <a:ext cx="4297680" cy="5577840"/>
          </a:xfrm>
          <a:prstGeom prst="rect">
            <a:avLst/>
          </a:prstGeom>
          <a:noFill/>
        </p:spPr>
        <p:txBody>
          <a:bodyPr wrap="square">
            <a:spAutoFit/>
          </a:bodyPr>
          <a:lstStyle/>
          <a:p>
            <a:pPr algn="r">
              <a:defRPr sz="2100" b="1">
                <a:solidFill>
                  <a:srgbClr val="EF4444"/>
                </a:solidFill>
              </a:defRPr>
            </a:pPr>
            <a:r>
              <a:t>المستوى الثالث (&lt; 60%)</a:t>
            </a:r>
            <a:br/>
            <a:r>
              <a:t>غير ثابت (Smart Abstention)</a:t>
            </a:r>
          </a:p>
          <a:p>
            <a:pPr algn="r">
              <a:defRPr sz="1100">
                <a:solidFill>
                  <a:srgbClr val="324B6E"/>
                </a:solidFill>
              </a:defRPr>
            </a:pPr>
            <a:r>
              <a:t>───────────────</a:t>
            </a:r>
          </a:p>
          <a:p>
            <a:pPr algn="r">
              <a:defRPr sz="1650" b="1">
                <a:solidFill>
                  <a:srgbClr val="FFFFFF"/>
                </a:solidFill>
              </a:defRPr>
            </a:pPr>
            <a:r>
              <a:t>السيناريو: مقولة مشاعة مكذوبة لا أصل لها</a:t>
            </a:r>
          </a:p>
          <a:p>
            <a:pPr algn="r">
              <a:defRPr sz="1550" i="1">
                <a:solidFill>
                  <a:srgbClr val="C8E1FF"/>
                </a:solidFill>
              </a:defRPr>
            </a:pPr>
            <a:r>
              <a:t>«اطلبوا العلم ولو في الصين»</a:t>
            </a:r>
          </a:p>
          <a:p>
            <a:pPr algn="r">
              <a:defRPr sz="1650" b="1">
                <a:solidFill>
                  <a:srgbClr val="00D2FF"/>
                </a:solidFill>
              </a:defRPr>
            </a:pPr>
            <a:r>
              <a:t>الإجراء المنهجي المعتمد:</a:t>
            </a:r>
          </a:p>
          <a:p>
            <a:pPr algn="r">
              <a:defRPr sz="1500">
                <a:solidFill>
                  <a:srgbClr val="DCE6F5"/>
                </a:solidFill>
              </a:defRPr>
            </a:pPr>
            <a:r>
              <a:t>• امتناع صارم وتصفير تام للهلوثة (Zero Hallucination)</a:t>
            </a:r>
          </a:p>
          <a:p>
            <a:pPr algn="r">
              <a:defRPr sz="1500">
                <a:solidFill>
                  <a:srgbClr val="DCE6F5"/>
                </a:solidFill>
              </a:defRPr>
            </a:pPr>
            <a:r>
              <a:t>• حظر النشر ونفي النسبة لعدم الثبوت في الصحيحين</a:t>
            </a:r>
          </a:p>
          <a:p>
            <a:pPr algn="r">
              <a:defRPr sz="1500">
                <a:solidFill>
                  <a:srgbClr val="DCE6F5"/>
                </a:solidFill>
              </a:defRPr>
            </a:pPr>
            <a:r>
              <a:t>• بيان علمي معلل لسبب الامتناع حماية للأمانة المعرفية</a:t>
            </a:r>
          </a:p>
        </p:txBody>
      </p:sp>
      <p:sp>
        <p:nvSpPr>
          <p:cNvPr id="11" name="TextBox 10"/>
          <p:cNvSpPr txBox="1"/>
          <p:nvPr/>
        </p:nvSpPr>
        <p:spPr>
          <a:xfrm>
            <a:off x="1371600" y="9418320"/>
            <a:ext cx="15544800" cy="548640"/>
          </a:xfrm>
          <a:prstGeom prst="rect">
            <a:avLst/>
          </a:prstGeom>
          <a:noFill/>
        </p:spPr>
        <p:txBody>
          <a:bodyPr wrap="none">
            <a:spAutoFit/>
          </a:bodyPr>
          <a:lstStyle/>
          <a:p>
            <a:pPr algn="r">
              <a:defRPr sz="1400">
                <a:solidFill>
                  <a:srgbClr val="7896BE"/>
                </a:solidFill>
              </a:defRPr>
            </a:pPr>
            <a:r>
              <a:t>تحدي الذكاء الاصطناعي في خدمة المحتوى الإسلامي 2026 — منظومة بَيّنة AI</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36" name="Shape 636"/>
        <p:cNvGrpSpPr/>
        <p:nvPr/>
      </p:nvGrpSpPr>
      <p:grpSpPr>
        <a:xfrm>
          <a:off x="0" y="0"/>
          <a:ext cx="0" cy="0"/>
          <a:chOff x="0" y="0"/>
          <a:chExt cx="0" cy="0"/>
        </a:xfrm>
      </p:grpSpPr>
      <p:pic>
        <p:nvPicPr>
          <p:cNvPr id="637" name="Google Shape;637;p1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638" name="Google Shape;638;p1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39" name="Google Shape;639;p1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المقارنة والتحكيم</a:t>
            </a:r>
            <a:endParaRPr/>
          </a:p>
        </p:txBody>
      </p:sp>
      <p:sp>
        <p:nvSpPr>
          <p:cNvPr id="640" name="Google Shape;640;p1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000" b="1">
                <a:solidFill>
                  <a:srgbClr val="FFFFFF"/>
                </a:solidFill>
              </a:rPr>
              <a:t>مقارنة منهجية التحقق: بَيّنة AI مقابل النماذج العامة</a:t>
            </a:r>
            <a:endParaRPr/>
          </a:p>
        </p:txBody>
      </p:sp>
      <p:sp>
        <p:nvSpPr>
          <p:cNvPr id="641" name="Google Shape;641;p1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000" b="1">
                <a:solidFill>
                  <a:srgbClr val="F2F4FF"/>
                </a:solidFill>
              </a:rPr>
              <a:t>لماذا تتفوق الأنظمة المقيدة بالاسترجاع (Grounded RAG) على روبوتات المحادثة العامة؟</a:t>
            </a:r>
            <a:endParaRPr/>
          </a:p>
        </p:txBody>
      </p:sp>
      <p:sp>
        <p:nvSpPr>
          <p:cNvPr id="642" name="Google Shape;642;p1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graphicFrame>
        <p:nvGraphicFramePr>
          <p:cNvPr id="643" name="Google Shape;643;p17"/>
          <p:cNvGraphicFramePr/>
          <p:nvPr/>
        </p:nvGraphicFramePr>
        <p:xfrm>
          <a:off x="1314450" y="3905250"/>
          <a:ext cx="3000000" cy="3000000"/>
        </p:xfrm>
        <a:graphic>
          <a:graphicData uri="http://schemas.openxmlformats.org/drawingml/2006/table">
            <a:tbl>
              <a:tblPr>
                <a:noFill/>
                <a:tableStyleId>{B8ED9858-D163-4338-9E88-1F424354888F}</a:tableStyleId>
              </a:tblPr>
              <a:tblGrid>
                <a:gridCol w="2286000"/>
                <a:gridCol w="3238500"/>
                <a:gridCol w="6191250"/>
                <a:gridCol w="3714750"/>
              </a:tblGrid>
              <a:tr h="781050">
                <a:tc>
                  <a:txBody>
                    <a:bodyPr/>
                    <a:lstStyle/>
                    <a:p>
                      <a:pPr algn="ctr"/>
                      <a:r>
                        <a:rPr sz="1800" b="1">
                          <a:solidFill>
                            <a:srgbClr val="2EF2C2"/>
                          </a:solidFill>
                        </a:rPr>
                        <a:t>الأثر والتميز</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algn="ctr"/>
                      <a:r>
                        <a:rPr sz="1800" b="1">
                          <a:solidFill>
                            <a:srgbClr val="2EF2C2"/>
                          </a:solidFill>
                        </a:rPr>
                        <a:t>محرك بَيّنة AI (Grounded RAG)</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algn="ctr"/>
                      <a:r>
                        <a:rPr sz="1800" b="1">
                          <a:solidFill>
                            <a:srgbClr val="2EF2C2"/>
                          </a:solidFill>
                        </a:rPr>
                        <a:t>نماذج الذكاء الاصطناعي العامة (LLMs)</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algn="ctr"/>
                      <a:r>
                        <a:rPr sz="1800" b="1">
                          <a:solidFill>
                            <a:srgbClr val="2EF2C2"/>
                          </a:solidFill>
                        </a:rPr>
                        <a:t>معيار المقارنة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r>
              <a:tr h="923925">
                <a:tc>
                  <a:txBody>
                    <a:bodyPr/>
                    <a:lstStyle/>
                    <a:p>
                      <a:pPr algn="ctr"/>
                      <a:r>
                        <a:rPr sz="1600" b="1">
                          <a:solidFill>
                            <a:srgbClr val="2EF2C2"/>
                          </a:solidFill>
                        </a:rPr>
                        <a:t>موثوقية علمية مطلقة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تقييد قطعي بالأصول المسندة (البخاري ومسلم)</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2F4FF"/>
                          </a:solidFill>
                        </a:rPr>
                        <a:t>توليد احتمالي عام من بيانات الويب غير المنقحة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الاعتماد على المصادر</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algn="ctr"/>
                      <a:r>
                        <a:rPr sz="1600" b="1">
                          <a:solidFill>
                            <a:srgbClr val="2EF2C2"/>
                          </a:solidFill>
                        </a:rPr>
                        <a:t>أمان شرعي ومعرفي</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صفرية (0% - بروتوكول رفض صارم)</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2F4FF"/>
                          </a:solidFill>
                        </a:rPr>
                        <a:t>مرتفعة (تختلق أسانيد ومتون وهمية وتنسبها)</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نسبة الهلوسة واختلاق الأحاديث</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algn="ctr"/>
                      <a:r>
                        <a:rPr sz="1600" b="1">
                          <a:solidFill>
                            <a:srgbClr val="2EF2C2"/>
                          </a:solidFill>
                        </a:rPr>
                        <a:t>كفاءة تشغيلية فائقة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فورية (&lt; 5ms بالكاش) وتكلفة تشغيل منخفضة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2F4FF"/>
                          </a:solidFill>
                        </a:rPr>
                        <a:t>استجابة بطيئة (1.5 - 3 ثوانٍ) وتكلفة متكررة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سرعة الاستجابة والتكلفة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algn="ctr"/>
                      <a:r>
                        <a:rPr sz="1600" b="1">
                          <a:solidFill>
                            <a:srgbClr val="2EF2C2"/>
                          </a:solidFill>
                        </a:rPr>
                        <a:t>جاهزية تامة للنشر</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بطاقة إسناد رقمية معتمدة برقم الحديث والباب</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2F4FF"/>
                          </a:solidFill>
                        </a:rPr>
                        <a:t>إجابات نصية إنشائية دون عزو منضبط</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شفافية العزو والتوثيق</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bl>
          </a:graphicData>
        </a:graphic>
      </p:graphicFrame>
      <p:sp>
        <p:nvSpPr>
          <p:cNvPr id="644" name="Google Shape;644;p17"/>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F2F4FF"/>
                </a:solidFill>
              </a:rPr>
              <a:t>القياس المعياري لبيئة الإنتاج — تحدي الذكاء الاصطناعي في خدمة المحتوى الإسلامي 2026</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pic>
        <p:nvPicPr>
          <p:cNvPr id="686" name="Google Shape;686;p19"/>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pic>
        <p:nvPicPr>
          <p:cNvPr id="687" name="Google Shape;687;p1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88" name="Google Shape;688;p19"/>
          <p:cNvSpPr txBox="1"/>
          <p:nvPr>
            <p:ph idx="1" type="body"/>
          </p:nvPr>
        </p:nvSpPr>
        <p:spPr>
          <a:xfrm>
            <a:off x="10363200" y="1028700"/>
            <a:ext cx="6477000" cy="419100"/>
          </a:xfrm>
          <a:prstGeom prst="rect">
            <a:avLst/>
          </a:prstGeom>
          <a:noFill/>
          <a:ln>
            <a:noFill/>
          </a:ln>
        </p:spPr>
        <p:txBody>
          <a:bodyPr anchorCtr="0" anchor="t" bIns="50800" lIns="0" spcFirstLastPara="1" rIns="0" wrap="square" tIns="50800">
            <a:noAutofit/>
          </a:bodyPr>
          <a:lstStyle/>
          <a:p>
            <a:pPr indent="0" lvl="0" marL="0" rtl="1" algn="r">
              <a:lnSpc>
                <a:spcPct val="115000"/>
              </a:lnSpc>
              <a:spcBef>
                <a:spcPts val="0"/>
              </a:spcBef>
              <a:spcAft>
                <a:spcPts val="400"/>
              </a:spcAft>
              <a:buSzPts val="1800"/>
              <a:buNone/>
            </a:pPr>
            <a:r>
              <a:rPr sz="1650" b="1">
                <a:solidFill>
                  <a:srgbClr val="2EF2C2"/>
                </a:solidFill>
              </a:rPr>
              <a:t>القدرة التنفيذية</a:t>
            </a:r>
            <a:endParaRPr/>
          </a:p>
        </p:txBody>
      </p:sp>
      <p:sp>
        <p:nvSpPr>
          <p:cNvPr id="689" name="Google Shape;689;p19"/>
          <p:cNvSpPr txBox="1"/>
          <p:nvPr>
            <p:ph type="title"/>
          </p:nvPr>
        </p:nvSpPr>
        <p:spPr>
          <a:xfrm>
            <a:off x="1409700" y="1809750"/>
            <a:ext cx="15430500" cy="952500"/>
          </a:xfrm>
          <a:prstGeom prst="rect">
            <a:avLst/>
          </a:prstGeom>
          <a:noFill/>
          <a:ln>
            <a:noFill/>
          </a:ln>
        </p:spPr>
        <p:txBody>
          <a:bodyPr anchorCtr="0" anchor="t" bIns="50800" lIns="0" spcFirstLastPara="1" rIns="0" wrap="square" tIns="50800">
            <a:noAutofit/>
          </a:bodyPr>
          <a:lstStyle/>
          <a:p>
            <a:pPr indent="0" lvl="0" marL="0" rtl="1" algn="r">
              <a:lnSpc>
                <a:spcPct val="115000"/>
              </a:lnSpc>
              <a:spcBef>
                <a:spcPts val="0"/>
              </a:spcBef>
              <a:spcAft>
                <a:spcPts val="400"/>
              </a:spcAft>
              <a:buSzPts val="4500"/>
              <a:buNone/>
            </a:pPr>
            <a:r>
              <a:rPr sz="1650" b="1">
                <a:solidFill>
                  <a:srgbClr val="FFFFFF"/>
                </a:solidFill>
              </a:rPr>
              <a:t>فريق العمل والتنفيذ</a:t>
            </a:r>
            <a:endParaRPr/>
          </a:p>
        </p:txBody>
      </p:sp>
      <p:sp>
        <p:nvSpPr>
          <p:cNvPr id="690" name="Google Shape;690;p19"/>
          <p:cNvSpPr txBox="1"/>
          <p:nvPr>
            <p:ph idx="2" type="body"/>
          </p:nvPr>
        </p:nvSpPr>
        <p:spPr>
          <a:xfrm>
            <a:off x="1409700" y="2857500"/>
            <a:ext cx="15430500" cy="685800"/>
          </a:xfrm>
          <a:prstGeom prst="rect">
            <a:avLst/>
          </a:prstGeom>
          <a:noFill/>
          <a:ln>
            <a:noFill/>
          </a:ln>
        </p:spPr>
        <p:txBody>
          <a:bodyPr anchorCtr="0" anchor="t" bIns="50800" lIns="0" spcFirstLastPara="1" rIns="0" wrap="square" tIns="50800">
            <a:noAutofit/>
          </a:bodyPr>
          <a:lstStyle/>
          <a:p>
            <a:pPr indent="0" lvl="0" marL="0" rtl="1" algn="r">
              <a:lnSpc>
                <a:spcPct val="115000"/>
              </a:lnSpc>
              <a:spcBef>
                <a:spcPts val="0"/>
              </a:spcBef>
              <a:spcAft>
                <a:spcPts val="400"/>
              </a:spcAft>
              <a:buSzPts val="2250"/>
              <a:buNone/>
            </a:pPr>
            <a:r>
              <a:rPr sz="1650" b="1">
                <a:solidFill>
                  <a:srgbClr val="F2F4FF"/>
                </a:solidFill>
              </a:rPr>
              <a:t>فريق بَيّنة AI — تكامل هندسي ومعرفي متكامل</a:t>
            </a:r>
            <a:endParaRPr/>
          </a:p>
        </p:txBody>
      </p:sp>
      <p:sp>
        <p:nvSpPr>
          <p:cNvPr id="691" name="Google Shape;691;p19"/>
          <p:cNvSpPr txBox="1"/>
          <p:nvPr>
            <p:ph idx="12" type="sldNum"/>
          </p:nvPr>
        </p:nvSpPr>
        <p:spPr>
          <a:xfrm>
            <a:off x="1066800" y="9467850"/>
            <a:ext cx="952500" cy="400050"/>
          </a:xfrm>
          <a:prstGeom prst="rect">
            <a:avLst/>
          </a:prstGeom>
          <a:noFill/>
          <a:ln>
            <a:noFill/>
          </a:ln>
        </p:spPr>
        <p:txBody>
          <a:bodyPr anchorCtr="0" anchor="t" bIns="50800" lIns="0" spcFirstLastPara="1" rIns="0" wrap="square" tIns="50800">
            <a:noAutofit/>
          </a:bodyPr>
          <a:lstStyle/>
          <a:p>
            <a:pPr indent="0" lvl="0" marL="0" rtl="0" algn="l">
              <a:lnSpc>
                <a:spcPct val="115000"/>
              </a:lnSpc>
              <a:spcBef>
                <a:spcPts val="0"/>
              </a:spcBef>
              <a:spcAft>
                <a:spcPts val="400"/>
              </a:spcAft>
              <a:buNone/>
            </a:pPr>
            <a:endParaRPr/>
          </a:p>
        </p:txBody>
      </p:sp>
      <p:sp>
        <p:nvSpPr>
          <p:cNvPr id="692" name="Google Shape;692;p19"/>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wrap="square" tIns="50800" bIns="50800"/>
          <a:p>
            <a:pPr>
              <a:lnSpc>
                <a:spcPct val="115000"/>
              </a:lnSpc>
              <a:spcAft>
                <a:spcPts val="400"/>
              </a:spcAft>
            </a:pPr>
          </a:p>
        </p:txBody>
      </p:sp>
      <p:sp>
        <p:nvSpPr>
          <p:cNvPr id="693" name="Google Shape;693;p19"/>
          <p:cNvSpPr txBox="1"/>
          <p:nvPr>
            <p:ph idx="4" type="body"/>
          </p:nvPr>
        </p:nvSpPr>
        <p:spPr>
          <a:xfrm>
            <a:off x="13716000" y="6953250"/>
            <a:ext cx="3524250" cy="61912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700"/>
              <a:buNone/>
            </a:pPr>
            <a:r>
              <a:rPr sz="1650" b="1">
                <a:solidFill>
                  <a:srgbClr val="2EF2C2"/>
                </a:solidFill>
              </a:rPr>
              <a:t>مهندس الذكاء الاصطناعي وأنظمة RAG</a:t>
            </a:r>
            <a:endParaRPr/>
          </a:p>
        </p:txBody>
      </p:sp>
      <p:sp>
        <p:nvSpPr>
          <p:cNvPr id="694" name="Google Shape;694;p19"/>
          <p:cNvSpPr txBox="1"/>
          <p:nvPr>
            <p:ph idx="5" type="body"/>
          </p:nvPr>
        </p:nvSpPr>
        <p:spPr>
          <a:xfrm>
            <a:off x="13716000" y="7810500"/>
            <a:ext cx="3524250" cy="90487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100"/>
              <a:buNone/>
            </a:pPr>
            <a:r>
              <a:rPr sz="1800" b="1">
                <a:solidFill>
                  <a:srgbClr val="FFFFFF"/>
                </a:solidFill>
              </a:rPr>
              <a:t>تطوير معمارية البحث الهجين، فهارس pgvector، وضبط نماذج التضمين الدلالي text-embedding-004.</a:t>
            </a:r>
            <a:endParaRPr/>
          </a:p>
        </p:txBody>
      </p:sp>
      <p:sp>
        <p:nvSpPr>
          <p:cNvPr id="695" name="Google Shape;695;p19"/>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wrap="square" tIns="50800" bIns="50800"/>
          <a:p>
            <a:pPr>
              <a:lnSpc>
                <a:spcPct val="115000"/>
              </a:lnSpc>
              <a:spcAft>
                <a:spcPts val="400"/>
              </a:spcAft>
            </a:pPr>
          </a:p>
        </p:txBody>
      </p:sp>
      <p:sp>
        <p:nvSpPr>
          <p:cNvPr id="696" name="Google Shape;696;p19"/>
          <p:cNvSpPr txBox="1"/>
          <p:nvPr>
            <p:ph idx="7" type="body"/>
          </p:nvPr>
        </p:nvSpPr>
        <p:spPr>
          <a:xfrm>
            <a:off x="9715500" y="6953250"/>
            <a:ext cx="3524250" cy="61912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700"/>
              <a:buNone/>
            </a:pPr>
            <a:r>
              <a:rPr sz="1650" b="1">
                <a:solidFill>
                  <a:srgbClr val="2EF2C2"/>
                </a:solidFill>
              </a:rPr>
              <a:t>مهندس البرمجيات والبنية التحتية</a:t>
            </a:r>
            <a:endParaRPr/>
          </a:p>
        </p:txBody>
      </p:sp>
      <p:sp>
        <p:nvSpPr>
          <p:cNvPr id="697" name="Google Shape;697;p19"/>
          <p:cNvSpPr txBox="1"/>
          <p:nvPr>
            <p:ph idx="8" type="body"/>
          </p:nvPr>
        </p:nvSpPr>
        <p:spPr>
          <a:xfrm>
            <a:off x="9715500" y="7810500"/>
            <a:ext cx="3524250" cy="90487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100"/>
              <a:buNone/>
            </a:pPr>
            <a:r>
              <a:rPr sz="1650" b="1">
                <a:solidFill>
                  <a:srgbClr val="FFFFFF"/>
                </a:solidFill>
              </a:rPr>
              <a:t>بناء خط أنابيب البيانات، خدمات FastAPI، كاش الذاكرة المؤقتة، ونشر الحاويات عبر Docker.</a:t>
            </a:r>
            <a:endParaRPr/>
          </a:p>
        </p:txBody>
      </p:sp>
      <p:sp>
        <p:nvSpPr>
          <p:cNvPr id="698" name="Google Shape;698;p19"/>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wrap="square" tIns="50800" bIns="50800"/>
          <a:p>
            <a:pPr>
              <a:lnSpc>
                <a:spcPct val="115000"/>
              </a:lnSpc>
              <a:spcAft>
                <a:spcPts val="400"/>
              </a:spcAft>
            </a:pPr>
          </a:p>
        </p:txBody>
      </p:sp>
      <p:sp>
        <p:nvSpPr>
          <p:cNvPr id="699" name="Google Shape;699;p19"/>
          <p:cNvSpPr txBox="1"/>
          <p:nvPr>
            <p:ph idx="13" type="body"/>
          </p:nvPr>
        </p:nvSpPr>
        <p:spPr>
          <a:xfrm>
            <a:off x="5715000" y="6953250"/>
            <a:ext cx="3524250" cy="61912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700"/>
              <a:buNone/>
            </a:pPr>
            <a:r>
              <a:rPr sz="1650" b="1">
                <a:solidFill>
                  <a:srgbClr val="2EF2C2"/>
                </a:solidFill>
              </a:rPr>
              <a:t>مستشار المحتوى الرقمي والتحقيق الشرعي</a:t>
            </a:r>
            <a:endParaRPr/>
          </a:p>
        </p:txBody>
      </p:sp>
      <p:sp>
        <p:nvSpPr>
          <p:cNvPr id="700" name="Google Shape;700;p19"/>
          <p:cNvSpPr txBox="1"/>
          <p:nvPr>
            <p:ph idx="14" type="body"/>
          </p:nvPr>
        </p:nvSpPr>
        <p:spPr>
          <a:xfrm>
            <a:off x="5715000" y="7810500"/>
            <a:ext cx="3524250" cy="90487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100"/>
              <a:buNone/>
            </a:pPr>
            <a:r>
              <a:rPr sz="1650" b="1">
                <a:solidFill>
                  <a:srgbClr val="FFFFFF"/>
                </a:solidFill>
              </a:rPr>
              <a:t>تدقيق معايير الأمانة العلمية، مطابقة أصول الروايات، وبناء سيناريوهات الرفض الذكي.</a:t>
            </a:r>
            <a:endParaRPr/>
          </a:p>
        </p:txBody>
      </p:sp>
      <p:sp>
        <p:nvSpPr>
          <p:cNvPr id="701" name="Google Shape;701;p19"/>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wrap="square" tIns="50800" bIns="50800"/>
          <a:p>
            <a:pPr>
              <a:lnSpc>
                <a:spcPct val="115000"/>
              </a:lnSpc>
              <a:spcAft>
                <a:spcPts val="400"/>
              </a:spcAft>
            </a:pPr>
          </a:p>
        </p:txBody>
      </p:sp>
      <p:sp>
        <p:nvSpPr>
          <p:cNvPr id="702" name="Google Shape;702;p19"/>
          <p:cNvSpPr txBox="1"/>
          <p:nvPr>
            <p:ph idx="16" type="body"/>
          </p:nvPr>
        </p:nvSpPr>
        <p:spPr>
          <a:xfrm>
            <a:off x="1714500" y="6953250"/>
            <a:ext cx="3524250" cy="61912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700"/>
              <a:buNone/>
            </a:pPr>
            <a:r>
              <a:rPr sz="1650" b="1">
                <a:solidFill>
                  <a:srgbClr val="2EF2C2"/>
                </a:solidFill>
              </a:rPr>
              <a:t>مهندس تجربة المستخدم والمنتج الرقمي</a:t>
            </a:r>
            <a:endParaRPr/>
          </a:p>
        </p:txBody>
      </p:sp>
      <p:sp>
        <p:nvSpPr>
          <p:cNvPr id="703" name="Google Shape;703;p19"/>
          <p:cNvSpPr txBox="1"/>
          <p:nvPr>
            <p:ph idx="17" type="body"/>
          </p:nvPr>
        </p:nvSpPr>
        <p:spPr>
          <a:xfrm>
            <a:off x="1714500" y="7810500"/>
            <a:ext cx="3524250" cy="90487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100"/>
              <a:buNone/>
            </a:pPr>
            <a:r>
              <a:rPr sz="1650" b="1">
                <a:solidFill>
                  <a:srgbClr val="FFFFFF"/>
                </a:solidFill>
              </a:rPr>
              <a:t>تصميم واجهة Streamlit المتجاوبة، بطاقات الإسناد القابلة للتصدير، وتكامل منصات النشر.</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49" name="Shape 649"/>
        <p:cNvGrpSpPr/>
        <p:nvPr/>
      </p:nvGrpSpPr>
      <p:grpSpPr>
        <a:xfrm>
          <a:off x="0" y="0"/>
          <a:ext cx="0" cy="0"/>
          <a:chOff x="0" y="0"/>
          <a:chExt cx="0" cy="0"/>
        </a:xfrm>
      </p:grpSpPr>
      <p:pic>
        <p:nvPicPr>
          <p:cNvPr id="650" name="Google Shape;650;p18"/>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651" name="Google Shape;651;p1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sp>
        <p:nvSpPr>
          <p:cNvPr id="652" name="Google Shape;652;p1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خطة التنفيذ</a:t>
            </a:r>
            <a:endParaRPr/>
          </a:p>
        </p:txBody>
      </p:sp>
      <p:sp>
        <p:nvSpPr>
          <p:cNvPr id="653" name="Google Shape;653;p1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000" b="1">
                <a:solidFill>
                  <a:srgbClr val="FFFFFF"/>
                </a:solidFill>
              </a:rPr>
              <a:t>خارطة طريق التطوير من النموذج الأولي إلى الإطلاق الشامل</a:t>
            </a:r>
            <a:endParaRPr/>
          </a:p>
        </p:txBody>
      </p:sp>
      <p:sp>
        <p:nvSpPr>
          <p:cNvPr id="654" name="Google Shape;654;p1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200" b="1">
                <a:solidFill>
                  <a:srgbClr val="F2F4FF"/>
                </a:solidFill>
              </a:rPr>
              <a:t>الجدول الزمني 2026 - 2027</a:t>
            </a:r>
            <a:endParaRPr/>
          </a:p>
        </p:txBody>
      </p:sp>
      <p:sp>
        <p:nvSpPr>
          <p:cNvPr id="655" name="Google Shape;655;p18"/>
          <p:cNvSpPr txBox="1"/>
          <p:nvPr>
            <p:ph idx="3" type="body"/>
          </p:nvPr>
        </p:nvSpPr>
        <p:spPr>
          <a:xfrm>
            <a:off x="13982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01</a:t>
            </a:r>
            <a:endParaRPr/>
          </a:p>
        </p:txBody>
      </p:sp>
      <p:sp>
        <p:nvSpPr>
          <p:cNvPr id="656" name="Google Shape;656;p18"/>
          <p:cNvSpPr txBox="1"/>
          <p:nvPr>
            <p:ph idx="4" type="body"/>
          </p:nvPr>
        </p:nvSpPr>
        <p:spPr>
          <a:xfrm>
            <a:off x="13982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تأسيس قاعدة المعرفة</a:t>
            </a:r>
            <a:endParaRPr/>
          </a:p>
        </p:txBody>
      </p:sp>
      <p:sp>
        <p:nvSpPr>
          <p:cNvPr id="657" name="Google Shape;657;p18"/>
          <p:cNvSpPr txBox="1"/>
          <p:nvPr>
            <p:ph idx="5" type="body"/>
          </p:nvPr>
        </p:nvSpPr>
        <p:spPr>
          <a:xfrm>
            <a:off x="13982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1: الربع الأول 2026</a:t>
            </a:r>
            <a:endParaRPr/>
          </a:p>
        </p:txBody>
      </p:sp>
      <p:sp>
        <p:nvSpPr>
          <p:cNvPr id="658" name="Google Shape;658;p18"/>
          <p:cNvSpPr txBox="1"/>
          <p:nvPr>
            <p:ph idx="6" type="body"/>
          </p:nvPr>
        </p:nvSpPr>
        <p:spPr>
          <a:xfrm>
            <a:off x="13982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جمع وتدقيق متون صحيحي البخاري ومسلم والأربعين النووية وتوليد متجهات pgvector.</a:t>
            </a:r>
            <a:endParaRPr/>
          </a:p>
        </p:txBody>
      </p:sp>
      <p:sp>
        <p:nvSpPr>
          <p:cNvPr id="659" name="Google Shape;659;p18"/>
          <p:cNvSpPr txBox="1"/>
          <p:nvPr>
            <p:ph idx="7" type="body"/>
          </p:nvPr>
        </p:nvSpPr>
        <p:spPr>
          <a:xfrm>
            <a:off x="108394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02</a:t>
            </a:r>
            <a:endParaRPr/>
          </a:p>
        </p:txBody>
      </p:sp>
      <p:sp>
        <p:nvSpPr>
          <p:cNvPr id="660" name="Google Shape;660;p18"/>
          <p:cNvSpPr txBox="1"/>
          <p:nvPr>
            <p:ph idx="8" type="body"/>
          </p:nvPr>
        </p:nvSpPr>
        <p:spPr>
          <a:xfrm>
            <a:off x="108394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تطوير محرك البحث والكاش</a:t>
            </a:r>
            <a:endParaRPr/>
          </a:p>
        </p:txBody>
      </p:sp>
      <p:sp>
        <p:nvSpPr>
          <p:cNvPr id="661" name="Google Shape;661;p18"/>
          <p:cNvSpPr txBox="1"/>
          <p:nvPr>
            <p:ph idx="9" type="body"/>
          </p:nvPr>
        </p:nvSpPr>
        <p:spPr>
          <a:xfrm>
            <a:off x="108394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2: الربع الثاني 2026</a:t>
            </a:r>
            <a:endParaRPr/>
          </a:p>
        </p:txBody>
      </p:sp>
      <p:sp>
        <p:nvSpPr>
          <p:cNvPr id="662" name="Google Shape;662;p18"/>
          <p:cNvSpPr txBox="1"/>
          <p:nvPr>
            <p:ph idx="13" type="body"/>
          </p:nvPr>
        </p:nvSpPr>
        <p:spPr>
          <a:xfrm>
            <a:off x="108394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دمج خوارزمية RRF الهجينة وتفعيل ذاكرة الكاش اللحظية واستقرار خدمات FastAPI.</a:t>
            </a:r>
            <a:endParaRPr/>
          </a:p>
        </p:txBody>
      </p:sp>
      <p:sp>
        <p:nvSpPr>
          <p:cNvPr id="663" name="Google Shape;663;p18"/>
          <p:cNvSpPr txBox="1"/>
          <p:nvPr>
            <p:ph idx="14" type="body"/>
          </p:nvPr>
        </p:nvSpPr>
        <p:spPr>
          <a:xfrm>
            <a:off x="76962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03</a:t>
            </a:r>
            <a:endParaRPr/>
          </a:p>
        </p:txBody>
      </p:sp>
      <p:sp>
        <p:nvSpPr>
          <p:cNvPr id="664" name="Google Shape;664;p18"/>
          <p:cNvSpPr txBox="1"/>
          <p:nvPr>
            <p:ph idx="15" type="body"/>
          </p:nvPr>
        </p:nvSpPr>
        <p:spPr>
          <a:xfrm>
            <a:off x="76962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بناء الواجهة وبطاقات الإسناد</a:t>
            </a:r>
            <a:endParaRPr/>
          </a:p>
        </p:txBody>
      </p:sp>
      <p:sp>
        <p:nvSpPr>
          <p:cNvPr id="665" name="Google Shape;665;p18"/>
          <p:cNvSpPr txBox="1"/>
          <p:nvPr>
            <p:ph idx="16" type="body"/>
          </p:nvPr>
        </p:nvSpPr>
        <p:spPr>
          <a:xfrm>
            <a:off x="76962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3: الربع الثالث 2026</a:t>
            </a:r>
            <a:endParaRPr/>
          </a:p>
        </p:txBody>
      </p:sp>
      <p:sp>
        <p:nvSpPr>
          <p:cNvPr id="666" name="Google Shape;666;p18"/>
          <p:cNvSpPr txBox="1"/>
          <p:nvPr>
            <p:ph idx="17" type="body"/>
          </p:nvPr>
        </p:nvSpPr>
        <p:spPr>
          <a:xfrm>
            <a:off x="76962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إطلاق واجهة المستخدم التفاعلية وتضمين ميزة تصدير بطاقات الإسناد وشهادات التحقق.</a:t>
            </a:r>
            <a:endParaRPr/>
          </a:p>
        </p:txBody>
      </p:sp>
      <p:sp>
        <p:nvSpPr>
          <p:cNvPr id="667" name="Google Shape;667;p18"/>
          <p:cNvSpPr txBox="1"/>
          <p:nvPr>
            <p:ph idx="18" type="body"/>
          </p:nvPr>
        </p:nvSpPr>
        <p:spPr>
          <a:xfrm>
            <a:off x="45529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04</a:t>
            </a:r>
            <a:endParaRPr/>
          </a:p>
        </p:txBody>
      </p:sp>
      <p:sp>
        <p:nvSpPr>
          <p:cNvPr id="668" name="Google Shape;668;p18"/>
          <p:cNvSpPr txBox="1"/>
          <p:nvPr>
            <p:ph idx="19" type="body"/>
          </p:nvPr>
        </p:nvSpPr>
        <p:spPr>
          <a:xfrm>
            <a:off x="45529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التحكيم والقياس المعياري</a:t>
            </a:r>
            <a:endParaRPr/>
          </a:p>
        </p:txBody>
      </p:sp>
      <p:sp>
        <p:nvSpPr>
          <p:cNvPr id="669" name="Google Shape;669;p18"/>
          <p:cNvSpPr txBox="1"/>
          <p:nvPr>
            <p:ph idx="20" type="body"/>
          </p:nvPr>
        </p:nvSpPr>
        <p:spPr>
          <a:xfrm>
            <a:off x="45529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4: أكتوبر 2026</a:t>
            </a:r>
            <a:endParaRPr/>
          </a:p>
        </p:txBody>
      </p:sp>
      <p:sp>
        <p:nvSpPr>
          <p:cNvPr id="670" name="Google Shape;670;p18"/>
          <p:cNvSpPr txBox="1"/>
          <p:nvPr>
            <p:ph idx="21" type="body"/>
          </p:nvPr>
        </p:nvSpPr>
        <p:spPr>
          <a:xfrm>
            <a:off x="45529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المشاركة في هاكاثون المحتوى الإسلامي، اختبار صفر هلوسة، وإثبات تفوق الأداء.</a:t>
            </a:r>
            <a:endParaRPr/>
          </a:p>
        </p:txBody>
      </p:sp>
      <p:sp>
        <p:nvSpPr>
          <p:cNvPr id="671" name="Google Shape;671;p18"/>
          <p:cNvSpPr txBox="1"/>
          <p:nvPr>
            <p:ph idx="22" type="body"/>
          </p:nvPr>
        </p:nvSpPr>
        <p:spPr>
          <a:xfrm>
            <a:off x="1409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05</a:t>
            </a:r>
            <a:endParaRPr/>
          </a:p>
        </p:txBody>
      </p:sp>
      <p:sp>
        <p:nvSpPr>
          <p:cNvPr id="672" name="Google Shape;672;p18"/>
          <p:cNvSpPr txBox="1"/>
          <p:nvPr>
            <p:ph idx="23" type="body"/>
          </p:nvPr>
        </p:nvSpPr>
        <p:spPr>
          <a:xfrm>
            <a:off x="1409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التوسع السحابي (VaaS API)</a:t>
            </a:r>
            <a:endParaRPr/>
          </a:p>
        </p:txBody>
      </p:sp>
      <p:sp>
        <p:nvSpPr>
          <p:cNvPr id="673" name="Google Shape;673;p18"/>
          <p:cNvSpPr txBox="1"/>
          <p:nvPr>
            <p:ph idx="24" type="body"/>
          </p:nvPr>
        </p:nvSpPr>
        <p:spPr>
          <a:xfrm>
            <a:off x="1409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5: 2027</a:t>
            </a:r>
            <a:endParaRPr/>
          </a:p>
        </p:txBody>
      </p:sp>
      <p:sp>
        <p:nvSpPr>
          <p:cNvPr id="674" name="Google Shape;674;p18"/>
          <p:cNvSpPr txBox="1"/>
          <p:nvPr>
            <p:ph idx="25" type="body"/>
          </p:nvPr>
        </p:nvSpPr>
        <p:spPr>
          <a:xfrm>
            <a:off x="1409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إتاحة محرك التحقق كخدمة سحابية لكافة التطبيقات والمنصات الإسلامية وصناع المحتوى.</a:t>
            </a:r>
            <a:endParaRPr/>
          </a:p>
        </p:txBody>
      </p:sp>
      <p:cxnSp>
        <p:nvCxnSpPr>
          <p:cNvPr id="675" name="Google Shape;675;p18"/>
          <p:cNvCxnSpPr/>
          <p:nvPr/>
        </p:nvCxnSpPr>
        <p:spPr>
          <a:xfrm rot="10800000">
            <a:off x="13992300" y="4708975"/>
            <a:ext cx="2838300" cy="0"/>
          </a:xfrm>
          <a:prstGeom prst="straightConnector1">
            <a:avLst/>
          </a:prstGeom>
          <a:noFill/>
          <a:ln cap="flat" cmpd="sng" w="76200">
            <a:solidFill>
              <a:srgbClr val="6150EA"/>
            </a:solidFill>
            <a:prstDash val="solid"/>
            <a:round/>
            <a:headEnd len="med" w="med" type="none"/>
            <a:tailEnd len="med" w="med" type="none"/>
          </a:ln>
        </p:spPr>
      </p:cxnSp>
      <p:pic>
        <p:nvPicPr>
          <p:cNvPr id="676" name="Google Shape;676;p1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cxnSp>
        <p:nvCxnSpPr>
          <p:cNvPr id="677" name="Google Shape;677;p18"/>
          <p:cNvCxnSpPr/>
          <p:nvPr/>
        </p:nvCxnSpPr>
        <p:spPr>
          <a:xfrm rot="10800000">
            <a:off x="108300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8" name="Google Shape;678;p18"/>
          <p:cNvCxnSpPr/>
          <p:nvPr/>
        </p:nvCxnSpPr>
        <p:spPr>
          <a:xfrm rot="10800000">
            <a:off x="76677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9" name="Google Shape;679;p18"/>
          <p:cNvCxnSpPr/>
          <p:nvPr/>
        </p:nvCxnSpPr>
        <p:spPr>
          <a:xfrm rot="10800000">
            <a:off x="45054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80" name="Google Shape;680;p18"/>
          <p:cNvCxnSpPr/>
          <p:nvPr/>
        </p:nvCxnSpPr>
        <p:spPr>
          <a:xfrm rot="10800000">
            <a:off x="1343100" y="4708975"/>
            <a:ext cx="2838300" cy="0"/>
          </a:xfrm>
          <a:prstGeom prst="straightConnector1">
            <a:avLst/>
          </a:prstGeom>
          <a:noFill/>
          <a:ln cap="flat" cmpd="sng" w="76200">
            <a:solidFill>
              <a:srgbClr val="6150EA"/>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pic>
        <p:nvPicPr>
          <p:cNvPr id="914" name="Google Shape;914;p31"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915" name="Google Shape;915;p31"/>
          <p:cNvSpPr txBox="1"/>
          <p:nvPr>
            <p:ph idx="1" type="body"/>
          </p:nvPr>
        </p:nvSpPr>
        <p:spPr>
          <a:xfrm>
            <a:off x="3810000" y="5676900"/>
            <a:ext cx="106680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800" b="1">
                <a:solidFill>
                  <a:srgbClr val="FFFFFF"/>
                </a:solidFill>
              </a:rPr>
              <a:t>فريق بَيّنة AI — Bayyinah Engine</a:t>
            </a:r>
            <a:endParaRPr/>
          </a:p>
        </p:txBody>
      </p:sp>
      <p:sp>
        <p:nvSpPr>
          <p:cNvPr id="916" name="Google Shape;916;p31"/>
          <p:cNvSpPr txBox="1"/>
          <p:nvPr>
            <p:ph idx="2" type="body"/>
          </p:nvPr>
        </p:nvSpPr>
        <p:spPr>
          <a:xfrm>
            <a:off x="3810000" y="6653200"/>
            <a:ext cx="10668000" cy="666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a:t>النموذج الحي التفاعلي: https://critics-occupations-aspect-physiology.trycloudflare.com | تحدي الذكاء الاصطناعي في خدمة المحتوى الإسلامي 2026</a:t>
            </a:r>
            <a:endParaRPr/>
          </a:p>
        </p:txBody>
      </p:sp>
      <p:sp>
        <p:nvSpPr>
          <p:cNvPr id="917" name="Google Shape;917;p31"/>
          <p:cNvSpPr txBox="1"/>
          <p:nvPr>
            <p:ph type="title"/>
          </p:nvPr>
        </p:nvSpPr>
        <p:spPr>
          <a:xfrm>
            <a:off x="3810000" y="3819525"/>
            <a:ext cx="10668000" cy="1428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200"/>
              <a:buNone/>
            </a:pPr>
            <a:r>
              <a:rPr b="1" lang="ar-SA" sz="7200">
                <a:solidFill>
                  <a:srgbClr val="2EF2C2"/>
                </a:solidFill>
                <a:latin typeface="Readex Pro"/>
                <a:ea typeface="Readex Pro"/>
                <a:cs typeface="Readex Pro"/>
                <a:sym typeface="Readex Pro"/>
              </a:rPr>
              <a:t>شكراً لكم</a:t>
            </a:r>
            <a:endParaRPr/>
          </a:p>
        </p:txBody>
      </p:sp>
      <p:pic>
        <p:nvPicPr>
          <p:cNvPr id="918" name="Google Shape;918;p31" title="شعار الهاكثون لايت.png"/>
          <p:cNvPicPr preferRelativeResize="0"/>
          <p:nvPr/>
        </p:nvPicPr>
        <p:blipFill>
          <a:blip r:embed="rId4">
            <a:alphaModFix/>
          </a:blip>
          <a:stretch>
            <a:fillRect/>
          </a:stretch>
        </p:blipFill>
        <p:spPr>
          <a:xfrm>
            <a:off x="3158450" y="1277075"/>
            <a:ext cx="6546002" cy="1678025"/>
          </a:xfrm>
          <a:prstGeom prst="rect">
            <a:avLst/>
          </a:prstGeom>
          <a:noFill/>
          <a:ln>
            <a:noFill/>
          </a:ln>
        </p:spPr>
      </p:pic>
      <p:pic>
        <p:nvPicPr>
          <p:cNvPr id="919" name="Google Shape;919;p31"/>
          <p:cNvPicPr preferRelativeResize="0"/>
          <p:nvPr/>
        </p:nvPicPr>
        <p:blipFill rotWithShape="1">
          <a:blip r:embed="rId5">
            <a:alphaModFix/>
          </a:blip>
          <a:srcRect b="0" l="0" r="0" t="0"/>
          <a:stretch/>
        </p:blipFill>
        <p:spPr>
          <a:xfrm>
            <a:off x="13237879" y="1460433"/>
            <a:ext cx="1891696" cy="1195990"/>
          </a:xfrm>
          <a:prstGeom prst="rect">
            <a:avLst/>
          </a:prstGeom>
          <a:noFill/>
          <a:ln>
            <a:noFill/>
          </a:ln>
        </p:spPr>
      </p:pic>
      <p:pic>
        <p:nvPicPr>
          <p:cNvPr id="920" name="Google Shape;920;p31" title="شعار عام الذكاء الاصطناعي.png"/>
          <p:cNvPicPr preferRelativeResize="0"/>
          <p:nvPr/>
        </p:nvPicPr>
        <p:blipFill>
          <a:blip r:embed="rId6">
            <a:alphaModFix/>
          </a:blip>
          <a:stretch>
            <a:fillRect/>
          </a:stretch>
        </p:blipFill>
        <p:spPr>
          <a:xfrm>
            <a:off x="10056994" y="1261812"/>
            <a:ext cx="2908672" cy="1708549"/>
          </a:xfrm>
          <a:prstGeom prst="rect">
            <a:avLst/>
          </a:prstGeom>
          <a:noFill/>
          <a:ln>
            <a:noFill/>
          </a:ln>
        </p:spPr>
      </p:pic>
      <p:pic>
        <p:nvPicPr>
          <p:cNvPr id="921" name="Google Shape;921;p31" title="شعار سدايا.png"/>
          <p:cNvPicPr preferRelativeResize="0"/>
          <p:nvPr/>
        </p:nvPicPr>
        <p:blipFill>
          <a:blip r:embed="rId7">
            <a:alphaModFix/>
          </a:blip>
          <a:stretch>
            <a:fillRect/>
          </a:stretch>
        </p:blipFill>
        <p:spPr>
          <a:xfrm>
            <a:off x="7750489" y="7716733"/>
            <a:ext cx="2292680" cy="1346725"/>
          </a:xfrm>
          <a:prstGeom prst="rect">
            <a:avLst/>
          </a:prstGeom>
          <a:noFill/>
          <a:ln>
            <a:noFill/>
          </a:ln>
        </p:spPr>
      </p:pic>
      <p:pic>
        <p:nvPicPr>
          <p:cNvPr id="922" name="Google Shape;922;p31" title="شعار فيوتشر.png"/>
          <p:cNvPicPr preferRelativeResize="0"/>
          <p:nvPr/>
        </p:nvPicPr>
        <p:blipFill>
          <a:blip r:embed="rId8">
            <a:alphaModFix/>
          </a:blip>
          <a:stretch>
            <a:fillRect/>
          </a:stretch>
        </p:blipFill>
        <p:spPr>
          <a:xfrm>
            <a:off x="3179331" y="7929122"/>
            <a:ext cx="1570852" cy="921955"/>
          </a:xfrm>
          <a:prstGeom prst="rect">
            <a:avLst/>
          </a:prstGeom>
          <a:noFill/>
          <a:ln>
            <a:noFill/>
          </a:ln>
        </p:spPr>
      </p:pic>
      <p:pic>
        <p:nvPicPr>
          <p:cNvPr id="923" name="Google Shape;923;p31" title="شعار التحول.png"/>
          <p:cNvPicPr preferRelativeResize="0"/>
          <p:nvPr/>
        </p:nvPicPr>
        <p:blipFill>
          <a:blip r:embed="rId9">
            <a:alphaModFix/>
          </a:blip>
          <a:stretch>
            <a:fillRect/>
          </a:stretch>
        </p:blipFill>
        <p:spPr>
          <a:xfrm>
            <a:off x="5373933" y="7875719"/>
            <a:ext cx="1752806" cy="1028753"/>
          </a:xfrm>
          <a:prstGeom prst="rect">
            <a:avLst/>
          </a:prstGeom>
          <a:noFill/>
          <a:ln>
            <a:noFill/>
          </a:ln>
        </p:spPr>
      </p:pic>
      <p:sp>
        <p:nvSpPr>
          <p:cNvPr id="924" name="Google Shape;924;p31"/>
          <p:cNvSpPr txBox="1"/>
          <p:nvPr/>
        </p:nvSpPr>
        <p:spPr>
          <a:xfrm>
            <a:off x="14046675" y="8254733"/>
            <a:ext cx="1062000" cy="2958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lang="ar-SA" sz="1800" b="1">
                <a:solidFill>
                  <a:srgbClr val="2EF2C2"/>
                </a:solidFill>
                <a:latin typeface="Readex Pro"/>
                <a:ea typeface="Readex Pro"/>
                <a:cs typeface="Readex Pro"/>
                <a:sym typeface="Readex Pro"/>
              </a:rPr>
              <a:t>شركاؤنا</a:t>
            </a:r>
            <a:r>
              <a:rPr lang="ar-SA" sz="1800" b="1">
                <a:solidFill>
                  <a:srgbClr val="2EF2C2"/>
                </a:solidFill>
                <a:latin typeface="Readex Pro"/>
                <a:ea typeface="Readex Pro"/>
                <a:cs typeface="Readex Pro"/>
                <a:sym typeface="Readex Pro"/>
              </a:rPr>
              <a:t>:</a:t>
            </a:r>
            <a:endParaRPr sz="1800">
              <a:solidFill>
                <a:srgbClr val="2EF2C2"/>
              </a:solidFill>
              <a:latin typeface="Readex Pro"/>
              <a:ea typeface="Readex Pro"/>
              <a:cs typeface="Readex Pro"/>
              <a:sym typeface="Readex Pro"/>
            </a:endParaRPr>
          </a:p>
        </p:txBody>
      </p:sp>
      <p:cxnSp>
        <p:nvCxnSpPr>
          <p:cNvPr id="925" name="Google Shape;925;p31"/>
          <p:cNvCxnSpPr/>
          <p:nvPr/>
        </p:nvCxnSpPr>
        <p:spPr>
          <a:xfrm>
            <a:off x="7456246" y="8142400"/>
            <a:ext cx="0" cy="453600"/>
          </a:xfrm>
          <a:prstGeom prst="straightConnector1">
            <a:avLst/>
          </a:prstGeom>
          <a:noFill/>
          <a:ln cap="flat" cmpd="sng" w="9525">
            <a:solidFill>
              <a:srgbClr val="2EF2C2"/>
            </a:solidFill>
            <a:prstDash val="solid"/>
            <a:round/>
            <a:headEnd len="med" w="med" type="none"/>
            <a:tailEnd len="med" w="med" type="none"/>
          </a:ln>
        </p:spPr>
      </p:cxnSp>
      <p:cxnSp>
        <p:nvCxnSpPr>
          <p:cNvPr id="926" name="Google Shape;926;p31"/>
          <p:cNvCxnSpPr/>
          <p:nvPr/>
        </p:nvCxnSpPr>
        <p:spPr>
          <a:xfrm>
            <a:off x="5075007" y="8142400"/>
            <a:ext cx="0" cy="453600"/>
          </a:xfrm>
          <a:prstGeom prst="straightConnector1">
            <a:avLst/>
          </a:prstGeom>
          <a:noFill/>
          <a:ln cap="flat" cmpd="sng" w="9525">
            <a:solidFill>
              <a:srgbClr val="2EF2C2"/>
            </a:solidFill>
            <a:prstDash val="solid"/>
            <a:round/>
            <a:headEnd len="med" w="med" type="none"/>
            <a:tailEnd len="med" w="med" type="none"/>
          </a:ln>
        </p:spPr>
      </p:cxnSp>
      <p:pic>
        <p:nvPicPr>
          <p:cNvPr id="927" name="Google Shape;927;p31" title="شعار وزارة الاتصالات.png"/>
          <p:cNvPicPr preferRelativeResize="0"/>
          <p:nvPr/>
        </p:nvPicPr>
        <p:blipFill>
          <a:blip r:embed="rId10">
            <a:alphaModFix/>
          </a:blip>
          <a:stretch>
            <a:fillRect/>
          </a:stretch>
        </p:blipFill>
        <p:spPr>
          <a:xfrm>
            <a:off x="10602750" y="7979050"/>
            <a:ext cx="3035650" cy="847150"/>
          </a:xfrm>
          <a:prstGeom prst="rect">
            <a:avLst/>
          </a:prstGeom>
          <a:noFill/>
          <a:ln>
            <a:noFill/>
          </a:ln>
        </p:spPr>
      </p:pic>
      <p:cxnSp>
        <p:nvCxnSpPr>
          <p:cNvPr id="928" name="Google Shape;928;p31"/>
          <p:cNvCxnSpPr/>
          <p:nvPr/>
        </p:nvCxnSpPr>
        <p:spPr>
          <a:xfrm>
            <a:off x="10366904" y="8142400"/>
            <a:ext cx="0" cy="453600"/>
          </a:xfrm>
          <a:prstGeom prst="straightConnector1">
            <a:avLst/>
          </a:prstGeom>
          <a:noFill/>
          <a:ln cap="flat" cmpd="sng" w="9525">
            <a:solidFill>
              <a:srgbClr val="2EF2C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