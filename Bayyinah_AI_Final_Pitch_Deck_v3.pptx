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79" r:id="rId29"/>
    <p:sldId id="268" r:id="rId18"/>
    <p:sldId id="269" r:id="rId19"/>
    <p:sldId id="270" r:id="rId20"/>
    <p:sldId id="287" r:id="rId30"/>
    <p:sldId id="272" r:id="rId22"/>
    <p:sldId id="274" r:id="rId24"/>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1.xml"/><Relationship Id="rId16" Type="http://schemas.openxmlformats.org/officeDocument/2006/relationships/slide" Target="slides/slide2.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10.xml"/><Relationship Id="rId24" Type="http://schemas.openxmlformats.org/officeDocument/2006/relationships/slide" Target="slides/slide9.xml"/><Relationship Id="rId29" Type="http://schemas.openxmlformats.org/officeDocument/2006/relationships/slide" Target="slides/slide4.xml"/><Relationship Id="rId30" Type="http://schemas.openxmlformats.org/officeDocument/2006/relationships/slide" Target="slides/slide12.xml"/><Relationship Id="rId32" Type="http://schemas.openxmlformats.org/officeDocument/2006/relationships/slide" Target="slides/slide3.xml"/><Relationship Id="rId36" Type="http://schemas.openxmlformats.org/officeDocument/2006/relationships/slide" Target="slides/slide1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sz="4400" b="1">
                <a:solidFill>
                  <a:srgbClr val="2EF2C2"/>
                </a:solidFill>
              </a:rPr>
              <a:t>بَيّنة AI — Bayyinah Engine</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sz="2200" b="1">
                <a:solidFill>
                  <a:srgbClr val="F2F4FF"/>
                </a:solidFill>
              </a:rPr>
              <a:t>محرك التحقق المعرفي وتتبع الأدلة الشرعية لتمكين المعرّفين بالإسلام وصنّاع المحتوى</a:t>
            </a:r>
            <a:br/>
            <a:r>
              <a:rPr sz="1800" b="1">
                <a:solidFill>
                  <a:srgbClr val="F2F4FF"/>
                </a:solidFill>
              </a:rPr>
              <a:t>منظومة استدلال مقيدة بالاسترجاع (Grounded RAG) لمكافحة الهلوسة ونفي الروايات غير الثابتة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sz="1800" b="1">
                <a:solidFill>
                  <a:srgbClr val="FFFFFF"/>
                </a:solidFill>
              </a:rPr>
              <a:t>فريق بَيّنة AI — تحدي الذكاء الاصطناعي في خدمة المحتوى الإسلامي 2026</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sz="1800" b="1">
                <a:solidFill>
                  <a:srgbClr val="2EF2C2"/>
                </a:solidFill>
              </a:rPr>
              <a:t>ربيع الأول 1448هـ /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المشكلة وسياق التحدي</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معضلة الموثوقية في عصر الذكاء الاصطناعي</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تحديات واقعية تمس الأمانة العلمية وسلامة المحتوى الإسلامي الرقمي</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هلوسة النماذج التوليدية (LLMs)</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اختلاق أسانيد ومتون وهمية ونسبتها زوراً إلى النبي ﷺ لافتقار النماذج للتأصيل الحديثي.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انتشار الروايات المكذوبة والضعيفة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تداول مقولات لا أصل لها على شبكات التواصل بكثافة دون وجود أداة تحقق فورية وميسرة.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مشقة التخريج والتحقق السريع</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صعوبة وصول الدعاة وصناع المحتوى للمصادر المسندة والتأكد من صحة المتن في ثوانٍ معدودة.</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غياب بطاقات الإسناد الرقمية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افتقار المحتوى المنشور لوثائق إسناد رقمية معتمدة تدعم مصداقية الطرح أمام الجمهور العالمي.</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180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الحل المبتكر</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الركائز الهندسية الأربع لمنظومة بَيّنة AI</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حل تقني متكامل يجمع بين الصرامة العلمية وأحدث تقنيات الذكاء الاصطناعي</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التقييد الصارم بالأصول (Grounded RAG)</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نفي التوليد الحر تماماً وحصر الاستدلال بمتون البخاري ومسلم والأربعين النووية.</a:t>
            </a:r>
            <a:endParaRPr/>
          </a:p>
          <a:p>
            <a:pPr indent="0" lvl="0" marL="0" rtl="1" algn="ctr">
              <a:lnSpc>
                <a:spcPct val="100000"/>
              </a:lnSpc>
              <a:spcBef>
                <a:spcPts val="0"/>
              </a:spcBef>
              <a:spcAft>
                <a:spcPts val="0"/>
              </a:spcAft>
              <a:buSzPts val="2250"/>
              <a:buNone/>
            </a:pP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محرك البحث الدلالي والمعجمي الهجين</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فهارس pgvector المتجهية مع البحث المعجمي بخوارزمية RRF لضمان أعلى دقة.</a:t>
            </a:r>
            <a:endParaRPr/>
          </a:p>
          <a:p>
            <a:pPr indent="0" lvl="0" marL="0" rtl="1" algn="ctr">
              <a:lnSpc>
                <a:spcPct val="100000"/>
              </a:lnSpc>
              <a:spcBef>
                <a:spcPts val="0"/>
              </a:spcBef>
              <a:spcAft>
                <a:spcPts val="0"/>
              </a:spcAft>
              <a:buSzPts val="2250"/>
              <a:buNone/>
            </a:pP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بروتوكول الرفض الذكي (Smart Refusal)</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رصد فوري للأحاديث الباطلة والموضوعة ونفي نسبتها بحكم علمي معلل وصريح.</a:t>
            </a:r>
            <a:endParaRPr/>
          </a:p>
          <a:p>
            <a:pPr indent="0" lvl="0" marL="0" rtl="1" algn="ctr">
              <a:lnSpc>
                <a:spcPct val="100000"/>
              </a:lnSpc>
              <a:spcBef>
                <a:spcPts val="0"/>
              </a:spcBef>
              <a:spcAft>
                <a:spcPts val="0"/>
              </a:spcAft>
              <a:buSzPts val="2250"/>
              <a:buNone/>
            </a:pP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بطاقة الإسناد والتصدير الرقمي</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توليد شهادة تحقق رقمية توثق المصدر والباب ورقم الحديث ونسبة التطابق الدلالي.</a:t>
            </a:r>
            <a:endParaRPr/>
          </a:p>
          <a:p>
            <a:pPr indent="0" lvl="0" marL="0" rtl="1" algn="ctr">
              <a:lnSpc>
                <a:spcPct val="100000"/>
              </a:lnSpc>
              <a:spcBef>
                <a:spcPts val="0"/>
              </a:spcBef>
              <a:spcAft>
                <a:spcPts val="0"/>
              </a:spcAft>
              <a:buSzPts val="225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المعمارية الهندسية</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آلية عمل المحرك ومسار البيانات المتكامل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تدفق هندسي محكم من إدخال المتن وحتى إصدار بطاقة الإسناد الموثقة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670" rtl="0" algn="r">
              <a:lnSpc>
                <a:spcPct val="115000"/>
              </a:lnSpc>
              <a:spcBef>
                <a:spcPts val="0"/>
              </a:spcBef>
              <a:spcAft>
                <a:spcPts val="400"/>
              </a:spcAft>
              <a:buNone/>
            </a:pPr>
            <a:r>
              <a:rPr sz="1800" b="1">
                <a:solidFill>
                  <a:srgbClr val="2EF2C2"/>
                </a:solidFill>
              </a:rPr>
              <a:t>01</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الاستعلام الدلالي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إدخال المتن أو الفكرة المراد فحصها وتحليلها دلالياً</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واجهة المستخدم أو استدعاء الـ API الخارجي</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400"/>
              </a:spcAft>
              <a:buNone/>
            </a:pPr>
            <a:r>
              <a:rP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02</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البحث الهجين RRF</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800" b="1">
                <a:solidFill>
                  <a:srgbClr val="F2F4FF"/>
                </a:solidFill>
              </a:rPr>
              <a:t>استرجاع متجهات text-embedding-004 ومطابقة الألفاظ</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قاعدة PostgreSQL مع امتداد pgvector وفهارس HNSW</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125" rtl="0" algn="r">
              <a:lnSpc>
                <a:spcPct val="115000"/>
              </a:lnSpc>
              <a:spcBef>
                <a:spcPts val="0"/>
              </a:spcBef>
              <a:spcAft>
                <a:spcPts val="400"/>
              </a:spcAft>
              <a:buNone/>
            </a:pPr>
            <a:r>
              <a:rPr sz="1800" b="1">
                <a:solidFill>
                  <a:srgbClr val="2EF2C2"/>
                </a:solidFill>
              </a:rPr>
              <a:t>03</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التحكيم والرفض الذكي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فحص عتبة القبول الصارمة (85%) ونفي الروايات غير الثابتة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طبقة التحكيم المنطقي وبروتوكول منع الهلوسة</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04</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بطاقة الإسناد الموثقة</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إصدار النتيجة موثقة برقم الحديث والباب وتصدير الشهادة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شهادة رقمية قابلة للمشاركة وزمن استجابة &lt; 5ms</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واجهة التطبيق التفاعلية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تجربة تحقق فورية وموثقة عبر واجهة بَيّنة AI</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76" name="Google Shape;576;p13" descr="streamlit_ui_verified.png"/>
          <p:cNvPicPr>
            <a:picLocks noGrp="1" noChangeAspect="1"/>
          </p:cNvPicPr>
          <p:nvPr>
            <p:ph idx="2" type="pic"/>
          </p:nvPr>
        </p:nvPicPr>
        <p:blipFill>
          <a:blip r:embed="rId5"/>
          <a:srcRect t="26000" b="26000"/>
          <a:stretch>
            <a:fillRect/>
          </a:stretch>
        </p:blipFill>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بطاقة التحقق والإسناد المباشرة</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فحص فوري لحديث «إنما الأعمال بالنيات» بنسبة تطابق 96.4%، مع استخراج الكتاب والباب وتخريج الحديث في صحيح البخاري، وإبراز المفاهيم الدلالية المطابقة.</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التوثيق والتصدير الفوري</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إمكانية تصدير بطاقة إسناد وشهادة تحقق رقمية جاهزة للنشر، مع زمن استجابة لحظي يعزز موثوقية المحتوى الدعوي والمعرفي.</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بروتوكول الرفض الذكي</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كشف الروايات المكذوبة والامتناع الصارم عن التوليد</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92" name="Google Shape;592;p14" descr="streamlit_ui_refused.png"/>
          <p:cNvPicPr>
            <a:picLocks noGrp="1" noChangeAspect="1"/>
          </p:cNvPicPr>
          <p:nvPr>
            <p:ph idx="2" type="pic"/>
          </p:nvPr>
        </p:nvPicPr>
        <p:blipFill>
          <a:blip r:embed="rId5"/>
          <a:srcRect t="7333" b="7333"/>
          <a:stretch>
            <a:fillRect/>
          </a:stretch>
        </p:blipFill>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sz="2600" b="1">
                <a:solidFill>
                  <a:srgbClr val="2EF2C2"/>
                </a:solidFill>
              </a:rPr>
              <a:t>تحصين المحتوى ضد الأحاديث الموضوعة والباطلة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sz="1800" b="1">
                <a:solidFill>
                  <a:srgbClr val="F2F4FF"/>
                </a:solidFill>
              </a:rPr>
              <a:t>عند فحص مقولة مشهورة مكذوبة («اطلبوا العلم ولو في الصين»)، يكتشف المحرك عدم ثبوتها في صحيحي البخاري ومسلم، ويهبط مؤشر التطابق إلى ما دون عتبة القبول، فيصدر النظام تنبيهاً صريحاً يمتنع فيه عن الإسناد أو التوليد.</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sz="1800" b="1">
                <a:solidFill>
                  <a:srgbClr val="FFFFFF"/>
                </a:solidFill>
              </a:rPr>
              <a:t>بروتوكول الرفض الذكي لمنظومة بَيّنة AI — تصفير تام للهلوثة وحماية للأمانة العلمية</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الأثر والمؤشرات</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مؤشرات الكفاءة الهندسية والأمانة العلمية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بيئة الإنتاج والقياس المعياري الفعلي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0%</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نسبة الهلوسة الرقمية</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تصفير تام للتوليد الحر</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&lt; 5ms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زمن استجابة الكاش</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استرجاع فوري للذاكرة المؤقتة</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+95%</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دقة المطابقة الدلالية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تطابق دلالي ولفظي هجين</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100%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شفافية الإسناد والعزو</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توثيق قطعي بالأبواب والأرقام</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سجلات القياس المعياري لنظام بَيّنة AI — أكتوبر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المقارنة والتحكيم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مقارنة منهجية التحقق: بَيّنة AI مقابل النماذج العامة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لماذا تتفوق الأنظمة المقيدة بالاسترجاع (Grounded RAG) على روبوتات المحادثة العامة؟</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algn="ctr"/>
                      <a:r>
                        <a:rPr sz="1800" b="1">
                          <a:solidFill>
                            <a:srgbClr val="2EF2C2"/>
                          </a:solidFill>
                        </a:rPr>
                        <a:t>الأثر والتميز</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محرك بَيّنة AI (Grounded RAG)</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نماذج الذكاء الاصطناعي العامة (LLMs)</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معيار المقارنة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algn="ctr"/>
                      <a:r>
                        <a:rPr sz="1600" b="1">
                          <a:solidFill>
                            <a:srgbClr val="2EF2C2"/>
                          </a:solidFill>
                        </a:rPr>
                        <a:t>موثوقية علمية مطلقة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تقييد قطعي بالأصول المسندة (البخاري ومسلم)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توليد احتمالي عام من بيانات الويب غير المنقحة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الاعتماد على المصادر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أمان شرعي ومعرفي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صفرية (0% - بروتوكول رفض صارم)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مرتفعة (تختلق أسانيد ومتون وهمية وتنسبها)</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نسبة الهلوسة واختلاق الأحاديث</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كفاءة تشغيلية فائقة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فورية (&lt; 5ms بالكاش) وتكلفة تشغيل منخفضة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استجابة بطيئة (1.5 - 3 ثوانٍ) وتكلفة متكررة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سرعة الاستجابة والتكلفة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جاهزية تامة للنشر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بطاقة إسناد رقمية معتمدة برقم الحديث والباب</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إجابات نصية إنشائية دون عزو منضبط</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شفافية العزو والتوثيق</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القياس المعياري لبيئة الإنتاج — تحدي الذكاء الاصطناعي في خدمة المحتوى الإسلامي 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1800"/>
              <a:buNone/>
            </a:pPr>
            <a:r>
              <a:rPr sz="1350" b="1">
                <a:solidFill>
                  <a:srgbClr val="2EF2C2"/>
                </a:solidFill>
              </a:rPr>
              <a:t>القدرة التنفيذية</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4500"/>
              <a:buNone/>
            </a:pPr>
            <a:r>
              <a:rPr sz="1350" b="1">
                <a:solidFill>
                  <a:srgbClr val="FFFFFF"/>
                </a:solidFill>
              </a:rPr>
              <a:t>فريق العمل والتنفيذ</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2250"/>
              <a:buNone/>
            </a:pPr>
            <a:r>
              <a:rPr sz="1350" b="1">
                <a:solidFill>
                  <a:srgbClr val="F2F4FF"/>
                </a:solidFill>
              </a:rPr>
              <a:t>فريق بَيّنة AI — تكامل هندسي ومعرفي متكامل</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50800" lIns="0" spcFirstLastPara="1" rIns="0" wrap="square" tIns="50800">
            <a:noAutofit/>
          </a:bodyPr>
          <a:lstStyle/>
          <a:p>
            <a:pPr indent="0" lvl="0" marL="0" rtl="0" algn="l">
              <a:lnSpc>
                <a:spcPct val="115000"/>
              </a:lnSpc>
              <a:spcBef>
                <a:spcPts val="0"/>
              </a:spcBef>
              <a:spcAft>
                <a:spcPts val="400"/>
              </a:spcAft>
              <a:buNone/>
            </a:pPr>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3" name="Google Shape;693;p19"/>
          <p:cNvSpPr txBox="1"/>
          <p:nvPr>
            <p:ph idx="4" type="body"/>
          </p:nvPr>
        </p:nvSpPr>
        <p:spPr>
          <a:xfrm>
            <a:off x="13716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الذكاء الاصطناعي وأنظمة RAG</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800" b="1">
                <a:solidFill>
                  <a:srgbClr val="FFFFFF"/>
                </a:solidFill>
              </a:rPr>
              <a:t>تطوير معمارية البحث الهجين، فهارس pgvector، وضبط نماذج التضمين الدلالي text-embedding-004.</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6" name="Google Shape;696;p19"/>
          <p:cNvSpPr txBox="1"/>
          <p:nvPr>
            <p:ph idx="7" type="body"/>
          </p:nvPr>
        </p:nvSpPr>
        <p:spPr>
          <a:xfrm>
            <a:off x="9715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البرمجيات والبنية التحتية</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بناء خط أنابيب البيانات، خدمات FastAPI، كاش الذاكرة المؤقتة، ونشر الحاويات عبر Docker.</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9" name="Google Shape;699;p19"/>
          <p:cNvSpPr txBox="1"/>
          <p:nvPr>
            <p:ph idx="13" type="body"/>
          </p:nvPr>
        </p:nvSpPr>
        <p:spPr>
          <a:xfrm>
            <a:off x="5715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مستشار المحتوى الرقمي والتحقيق الشرعي</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تدقيق معايير الأمانة العلمية، مطابقة أصول الروايات، وبناء سيناريوهات الرفض الذكي.</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702" name="Google Shape;702;p19"/>
          <p:cNvSpPr txBox="1"/>
          <p:nvPr>
            <p:ph idx="16" type="body"/>
          </p:nvPr>
        </p:nvSpPr>
        <p:spPr>
          <a:xfrm>
            <a:off x="1714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تجربة المستخدم والمنتج الرقمي</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تصميم واجهة Streamlit المتجاوبة، بطاقات الإسناد القابلة للتصدير، وتكامل منصات النشر.</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خطة التنفيذ</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خارطة طريق التطوير من النموذج الأولي إلى الإطلاق الشامل</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الجدول الزمني 2026 - 2027</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تأسيس قاعدة المعرفة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1: الربع الأول 2026</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جمع وتدقيق متون صحيحي البخاري ومسلم والأربعين النووية وتوليد متجهات pgvector.</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تطوير محرك البحث والكاش</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2: الربع الثاني 2026</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خوارزمية RRF الهجينة وتفعيل ذاكرة الكاش اللحظية واستقرار خدمات FastAPI.</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بناء الواجهة وبطاقات الإسناد</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3: الربع الثالث 2026</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إطلاق واجهة المستخدم التفاعلية وتضمين ميزة تصدير بطاقات الإسناد وشهادات التحقق.</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التحكيم والقياس المعياري</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4: أكتوبر 2026</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المشاركة في هاكاثون المحتوى الإسلامي، اختبار صفر هلوسة، وإثبات تفوق الأداء.</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التوسع السحابي (VaaS API)</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5: 2027</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إتاحة محرك التحقق كخدمة سحابية لكافة التطبيقات والمنصات الإسلامية وصناع المحتوى.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800" b="1">
                <a:solidFill>
                  <a:srgbClr val="FFFFFF"/>
                </a:solidFill>
              </a:rPr>
              <a:t>فريق بَيّنة AI — Bayyinah Engine</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t>النموذج الحي التفاعلي: https://critics-occupations-aspect-physiology.trycloudflare.com | تحدي الذكاء الاصطناعي في خدمة المحتوى الإسلامي 2026</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b="1">
                <a:solidFill>
                  <a:srgbClr val="2EF2C2"/>
                </a:solidFill>
                <a:latin typeface="Readex Pro"/>
                <a:ea typeface="Readex Pro"/>
                <a:cs typeface="Readex Pro"/>
                <a:sym typeface="Readex Pro"/>
              </a:rPr>
              <a:t>شركاؤنا</a:t>
            </a:r>
            <a:r>
              <a:rPr lang="ar-SA" sz="1800" b="1">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itle 2"/>
          <p:cNvSpPr>
            <a:spLocks noGrp="1"/>
          </p:cNvSpPr>
          <p:nvPr>
            <p:ph type="title"/>
          </p:nvPr>
        </p:nvSpPr>
        <p:spPr/>
        <p:txBody>
          <a:bodyPr/>
          <a:lstStyle/>
          <a:p/>
        </p:txBody>
      </p:sp>
      <p:sp>
        <p:nvSpPr>
          <p:cNvPr id="4" name="Text Placeholder 3"/>
          <p:cNvSpPr>
            <a:spLocks noGrp="1"/>
          </p:cNvSpPr>
          <p:nvPr>
            <p:ph type="body" idx="2"/>
          </p:nvPr>
        </p:nvSpPr>
        <p:spPr/>
        <p:txBody>
          <a:bodyPr/>
          <a:lstStyle/>
          <a:p/>
        </p:txBody>
      </p:sp>
      <p:sp>
        <p:nvSpPr>
          <p:cNvPr id="5" name="Text Placeholder 4"/>
          <p:cNvSpPr>
            <a:spLocks noGrp="1"/>
          </p:cNvSpPr>
          <p:nvPr>
            <p:ph type="body" idx="3"/>
          </p:nvPr>
        </p:nvSpPr>
        <p:spPr/>
        <p:txBody>
          <a:bodyPr/>
          <a:lstStyle/>
          <a:p/>
        </p:txBody>
      </p:sp>
      <p:sp>
        <p:nvSpPr>
          <p:cNvPr id="6" name="Text Placeholder 5"/>
          <p:cNvSpPr>
            <a:spLocks noGrp="1"/>
          </p:cNvSpPr>
          <p:nvPr>
            <p:ph type="body" idx="4"/>
          </p:nvPr>
        </p:nvSpPr>
        <p:spPr/>
        <p:txBody>
          <a:bodyPr/>
          <a:lstStyle/>
          <a:p/>
        </p:txBody>
      </p:sp>
      <p:sp>
        <p:nvSpPr>
          <p:cNvPr id="7" name="Text Placeholder 6"/>
          <p:cNvSpPr>
            <a:spLocks noGrp="1"/>
          </p:cNvSpPr>
          <p:nvPr>
            <p:ph type="body" idx="5"/>
          </p:nvPr>
        </p:nvSpPr>
        <p:spPr/>
        <p:txBody>
          <a:bodyPr/>
          <a:lstStyle/>
          <a:p/>
        </p:txBody>
      </p:sp>
      <p:sp>
        <p:nvSpPr>
          <p:cNvPr id="8" name="Text Placeholder 7"/>
          <p:cNvSpPr>
            <a:spLocks noGrp="1"/>
          </p:cNvSpPr>
          <p:nvPr>
            <p:ph type="body" idx="6"/>
          </p:nvPr>
        </p:nvSpPr>
        <p:spPr/>
        <p:txBody>
          <a:bodyPr/>
          <a:lstStyle/>
          <a:p/>
        </p:txBody>
      </p:sp>
      <p:sp>
        <p:nvSpPr>
          <p:cNvPr id="9" name="Text Placeholder 8"/>
          <p:cNvSpPr>
            <a:spLocks noGrp="1"/>
          </p:cNvSpPr>
          <p:nvPr>
            <p:ph type="body" idx="7"/>
          </p:nvPr>
        </p:nvSpPr>
        <p:spPr/>
        <p:txBody>
          <a:bodyPr/>
          <a:lstStyle/>
          <a:p/>
        </p:txBody>
      </p:sp>
      <p:sp>
        <p:nvSpPr>
          <p:cNvPr id="10" name="Text Placeholder 9"/>
          <p:cNvSpPr>
            <a:spLocks noGrp="1"/>
          </p:cNvSpPr>
          <p:nvPr>
            <p:ph type="body" idx="8"/>
          </p:nvPr>
        </p:nvSpPr>
        <p:spPr/>
        <p:txBody>
          <a:bodyPr/>
          <a:lstStyle/>
          <a:p/>
        </p:txBody>
      </p:sp>
      <p:sp>
        <p:nvSpPr>
          <p:cNvPr id="11" name="Text Placeholder 10"/>
          <p:cNvSpPr>
            <a:spLocks noGrp="1"/>
          </p:cNvSpPr>
          <p:nvPr>
            <p:ph type="body" idx="9"/>
          </p:nvPr>
        </p:nvSpPr>
        <p:spPr/>
        <p:txBody>
          <a:bodyPr/>
          <a:lstStyle/>
          <a:p/>
        </p:txBody>
      </p:sp>
      <p:sp>
        <p:nvSpPr>
          <p:cNvPr id="12" name="Text Placeholder 11"/>
          <p:cNvSpPr>
            <a:spLocks noGrp="1"/>
          </p:cNvSpPr>
          <p:nvPr>
            <p:ph type="body" idx="13"/>
          </p:nvPr>
        </p:nvSpPr>
        <p:spPr/>
        <p:txBody>
          <a:bodyPr/>
          <a:lstStyle/>
          <a:p/>
        </p:txBody>
      </p:sp>
      <p:sp>
        <p:nvSpPr>
          <p:cNvPr id="13" name="Text Placeholder 12"/>
          <p:cNvSpPr>
            <a:spLocks noGrp="1"/>
          </p:cNvSpPr>
          <p:nvPr>
            <p:ph type="body" idx="14"/>
          </p:nvPr>
        </p:nvSpPr>
        <p:spPr/>
        <p:txBody>
          <a:bodyPr/>
          <a:lstStyle/>
          <a:p/>
        </p:txBody>
      </p:sp>
      <p:sp>
        <p:nvSpPr>
          <p:cNvPr id="14" name="Text Placeholder 13"/>
          <p:cNvSpPr>
            <a:spLocks noGrp="1"/>
          </p:cNvSpPr>
          <p:nvPr>
            <p:ph type="body" idx="15"/>
          </p:nvPr>
        </p:nvSpPr>
        <p:spPr/>
        <p:txBody>
          <a:bodyPr/>
          <a:lstStyle/>
          <a:p/>
        </p:txBody>
      </p:sp>
      <p:sp>
        <p:nvSpPr>
          <p:cNvPr id="15" name="Text Placeholder 14"/>
          <p:cNvSpPr>
            <a:spLocks noGrp="1"/>
          </p:cNvSpPr>
          <p:nvPr>
            <p:ph type="body" idx="16"/>
          </p:nvPr>
        </p:nvSpPr>
        <p:spPr/>
        <p:txBody>
          <a:bodyPr/>
          <a:lstStyle/>
          <a:p/>
        </p:txBody>
      </p:sp>
      <p:sp>
        <p:nvSpPr>
          <p:cNvPr id="16" name="Text Placeholder 15"/>
          <p:cNvSpPr>
            <a:spLocks noGrp="1"/>
          </p:cNvSpPr>
          <p:nvPr>
            <p:ph type="body" idx="17"/>
          </p:nvPr>
        </p:nvSpPr>
        <p:spPr/>
        <p:txBody>
          <a:bodyPr/>
          <a:lstStyle/>
          <a:p/>
        </p:txBody>
      </p:sp>
      <p:sp>
        <p:nvSpPr>
          <p:cNvPr id="17" name="Text Placeholder 16"/>
          <p:cNvSpPr>
            <a:spLocks noGrp="1"/>
          </p:cNvSpPr>
          <p:nvPr>
            <p:ph type="body" idx="18"/>
          </p:nvPr>
        </p:nvSpPr>
        <p:spPr/>
        <p:txBody>
          <a:bodyPr/>
          <a:lstStyle/>
          <a:p/>
        </p:txBody>
      </p:sp>
      <p:sp>
        <p:nvSpPr>
          <p:cNvPr id="18" name="TextBox 17"/>
          <p:cNvSpPr txBox="1"/>
          <p:nvPr/>
        </p:nvSpPr>
        <p:spPr>
          <a:xfrm>
            <a:off x="914400" y="731520"/>
            <a:ext cx="10332720" cy="1097280"/>
          </a:xfrm>
          <a:prstGeom prst="rect">
            <a:avLst/>
          </a:prstGeom>
          <a:noFill/>
        </p:spPr>
        <p:txBody>
          <a:bodyPr wrap="square">
            <a:spAutoFit/>
          </a:bodyPr>
          <a:lstStyle/>
          <a:p>
            <a:pPr algn="r">
              <a:defRPr sz="2800" b="1">
                <a:solidFill>
                  <a:srgbClr val="FFFFFF"/>
                </a:solidFill>
              </a:defRPr>
            </a:pPr>
            <a:r>
              <a:t>مصفوفة الاختبارات ومستويات القرار الثلاثية</a:t>
            </a:r>
          </a:p>
          <a:p>
            <a:pPr algn="r">
              <a:defRPr sz="1600">
                <a:solidFill>
                  <a:srgbClr val="B4C8E6"/>
                </a:solidFill>
              </a:defRPr>
            </a:pPr>
            <a:r>
              <a:t>الاستجابة المنهجية للحالات المثالية وغير المثالية لتمكين صانع القرار والدعاة</a:t>
            </a:r>
          </a:p>
        </p:txBody>
      </p:sp>
      <p:sp>
        <p:nvSpPr>
          <p:cNvPr id="19" name="TextBox 18"/>
          <p:cNvSpPr txBox="1"/>
          <p:nvPr/>
        </p:nvSpPr>
        <p:spPr>
          <a:xfrm>
            <a:off x="7772400" y="2103120"/>
            <a:ext cx="3474720" cy="3840480"/>
          </a:xfrm>
          <a:prstGeom prst="rect">
            <a:avLst/>
          </a:prstGeom>
          <a:noFill/>
        </p:spPr>
        <p:txBody>
          <a:bodyPr wrap="square">
            <a:spAutoFit/>
          </a:bodyPr>
          <a:lstStyle/>
          <a:p>
            <a:pPr algn="r">
              <a:defRPr sz="1800" b="1">
                <a:solidFill>
                  <a:srgbClr val="46DC96"/>
                </a:solidFill>
              </a:defRPr>
            </a:pPr>
            <a:r>
              <a:t>🟢 المستوى الأول (≥ 85%)</a:t>
            </a:r>
            <a:br/>
            <a:r>
              <a:t>معتمد وصالح للنشر</a:t>
            </a:r>
          </a:p>
          <a:p>
            <a:pPr algn="r">
              <a:defRPr sz="1300">
                <a:solidFill>
                  <a:srgbClr val="DCE6F0"/>
                </a:solidFill>
              </a:defRPr>
            </a:pPr>
            <a:r>
              <a:t>• حالة الفحص: تطابق لفظي مباشر («إنما الأعمال بالنيات»).</a:t>
            </a:r>
          </a:p>
          <a:p>
            <a:pPr algn="r">
              <a:defRPr sz="1300">
                <a:solidFill>
                  <a:srgbClr val="DCE6F0"/>
                </a:solidFill>
              </a:defRPr>
            </a:pPr>
            <a:r>
              <a:t>• نسبة الثقة: 86.5% - استرجاع فوري من صحيح البخاري.</a:t>
            </a:r>
          </a:p>
          <a:p>
            <a:pPr algn="r">
              <a:defRPr sz="1300">
                <a:solidFill>
                  <a:srgbClr val="DCE6F0"/>
                </a:solidFill>
              </a:defRPr>
            </a:pPr>
            <a:r>
              <a:t>• الإجراء: إجازة النشر الفوري مع بطاقة الإسناد والتخريج.</a:t>
            </a:r>
          </a:p>
          <a:p>
            <a:pPr algn="r">
              <a:defRPr sz="1300">
                <a:solidFill>
                  <a:srgbClr val="DCE6F0"/>
                </a:solidFill>
              </a:defRPr>
            </a:pPr>
            <a:r>
              <a:t>• الشفافية: توثيق الباب ورقم الحديث والحكم المعتمد.</a:t>
            </a:r>
          </a:p>
        </p:txBody>
      </p:sp>
      <p:sp>
        <p:nvSpPr>
          <p:cNvPr id="20" name="TextBox 19"/>
          <p:cNvSpPr txBox="1"/>
          <p:nvPr/>
        </p:nvSpPr>
        <p:spPr>
          <a:xfrm>
            <a:off x="4389120" y="2103120"/>
            <a:ext cx="3474720" cy="3840480"/>
          </a:xfrm>
          <a:prstGeom prst="rect">
            <a:avLst/>
          </a:prstGeom>
          <a:noFill/>
        </p:spPr>
        <p:txBody>
          <a:bodyPr wrap="square">
            <a:spAutoFit/>
          </a:bodyPr>
          <a:lstStyle/>
          <a:p>
            <a:pPr algn="r">
              <a:defRPr sz="1800" b="1">
                <a:solidFill>
                  <a:srgbClr val="FFAA32"/>
                </a:solidFill>
              </a:defRPr>
            </a:pPr>
            <a:r>
              <a:t>🟠 المستوى الثاني (60% - 84%)</a:t>
            </a:r>
            <a:br/>
            <a:r>
              <a:t>يتطلب مراجعة وتثبت بشري</a:t>
            </a:r>
          </a:p>
          <a:p>
            <a:pPr algn="r">
              <a:defRPr sz="1300">
                <a:solidFill>
                  <a:srgbClr val="DCE6F0"/>
                </a:solidFill>
              </a:defRPr>
            </a:pPr>
            <a:r>
              <a:t>• حالة الفحص: فهم دلالي معاصر مع تباين لفظي («كف الأذى»).</a:t>
            </a:r>
          </a:p>
          <a:p>
            <a:pPr algn="r">
              <a:defRPr sz="1300">
                <a:solidFill>
                  <a:srgbClr val="DCE6F0"/>
                </a:solidFill>
              </a:defRPr>
            </a:pPr>
            <a:r>
              <a:t>• نسبة الثقة: 75.1% - تقارب معنوي دون تطابق كامل.</a:t>
            </a:r>
          </a:p>
          <a:p>
            <a:pPr algn="r">
              <a:defRPr sz="1300">
                <a:solidFill>
                  <a:srgbClr val="DCE6F0"/>
                </a:solidFill>
              </a:defRPr>
            </a:pPr>
            <a:r>
              <a:t>• الإجراء: تنبيه احترازي وإحالة للمدقق البشري.</a:t>
            </a:r>
          </a:p>
          <a:p>
            <a:pPr algn="r">
              <a:defRPr sz="1300">
                <a:solidFill>
                  <a:srgbClr val="DCE6F0"/>
                </a:solidFill>
              </a:defRPr>
            </a:pPr>
            <a:r>
              <a:t>• الميزة: مقارنة فورية جنباً إلى جنب (Side-by-Side).</a:t>
            </a:r>
          </a:p>
        </p:txBody>
      </p:sp>
      <p:sp>
        <p:nvSpPr>
          <p:cNvPr id="21" name="TextBox 20"/>
          <p:cNvSpPr txBox="1"/>
          <p:nvPr/>
        </p:nvSpPr>
        <p:spPr>
          <a:xfrm>
            <a:off x="914400" y="2103120"/>
            <a:ext cx="3474720" cy="3840480"/>
          </a:xfrm>
          <a:prstGeom prst="rect">
            <a:avLst/>
          </a:prstGeom>
          <a:noFill/>
        </p:spPr>
        <p:txBody>
          <a:bodyPr wrap="square">
            <a:spAutoFit/>
          </a:bodyPr>
          <a:lstStyle/>
          <a:p>
            <a:pPr algn="r">
              <a:defRPr sz="1800" b="1">
                <a:solidFill>
                  <a:srgbClr val="FF5A5A"/>
                </a:solidFill>
              </a:defRPr>
            </a:pPr>
            <a:r>
              <a:t>🔴 المستوى الثالث (&lt; 60%)</a:t>
            </a:r>
            <a:br/>
            <a:r>
              <a:t>غير ثابت (Smart Abstention)</a:t>
            </a:r>
          </a:p>
          <a:p>
            <a:pPr algn="r">
              <a:defRPr sz="1300">
                <a:solidFill>
                  <a:srgbClr val="DCE6F0"/>
                </a:solidFill>
              </a:defRPr>
            </a:pPr>
            <a:r>
              <a:t>• حالة الفحص: مقولة مشاعة مكذوبة («اطلبوا العلم ولو في الصين»).</a:t>
            </a:r>
          </a:p>
          <a:p>
            <a:pPr algn="r">
              <a:defRPr sz="1300">
                <a:solidFill>
                  <a:srgbClr val="DCE6F0"/>
                </a:solidFill>
              </a:defRPr>
            </a:pPr>
            <a:r>
              <a:t>• النتيجة: امتناع صارم وتصفير تام للهلوثة التوليدية.</a:t>
            </a:r>
          </a:p>
          <a:p>
            <a:pPr algn="r">
              <a:defRPr sz="1300">
                <a:solidFill>
                  <a:srgbClr val="DCE6F0"/>
                </a:solidFill>
              </a:defRPr>
            </a:pPr>
            <a:r>
              <a:t>• الإجراء: حظر النشر ونفي النسبة لعدم الثبوت بالأصول.</a:t>
            </a:r>
          </a:p>
          <a:p>
            <a:pPr algn="r">
              <a:defRPr sz="1300">
                <a:solidFill>
                  <a:srgbClr val="DCE6F0"/>
                </a:solidFill>
              </a:defRPr>
            </a:pPr>
            <a:r>
              <a:t>• التعليل: إيضاح صريح لسبب الامتناع لخدمة الأمانة العلمية.</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