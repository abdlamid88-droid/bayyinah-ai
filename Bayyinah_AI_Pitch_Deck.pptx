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الترتيب المقترح إرشادي. لم يُحدّد هذا القالب مدة العرض أو عدد الشرائح أو موعد التسليم. اتبع تعليمات المنظم الخاصة بالمشاركة. راجع العرض في وضع عرض الشرائح، ثم احفظ نسخة PPTX. صدّر PDF إذا طُلب منك.</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57" name="Google Shape;45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اسم المشروع والوصف واسم الفريق والتاريخ. اجعل اسم المشروع موجزًا. اكتب في الوصف ما يقدمه الحل ولمن. احتفظ بشعار باذل وشعار التحدي كما هما.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عرّف بأقسام العرض في كلمات قليلة. عدّل العدد بحسب أقسامك، واحذف العناصر التي لا تحتاجها.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96" name="Google Shape;49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استخدم هذه الشريحة بين الأقسام الرئيسة عند الحاجة. غيّر الرقم والعنوان والجملة التمهيدية.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24" name="Google Shape;52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استخدم فقرة واحدة قصيرة. اجعل السطر بطول مريح للقراءة. يمكن حذف العنوان الداعم والملاحظة عند عدم الحاجة.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54" name="Google Shape;55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لقطة شاشة أو صورة بنسبة تقارب 16:9. ضع تفسيرًا بجانبها، واحذف أي بيانات شخصية من لقطات الاختبار قبل استخدامها.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رسالة قصيرة ترتبط بمشروعك. إذا استخدمت اقتباسًا، انقله بدقة واذكر صاحبه والمصدر. احذف خانة المصدر إذا كانت الرسالة من صياغة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24" name="Google Shape;62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بديل فاتح لعرض النقاط. استخدم النص الكحلي للتباين. يمكن استخدام البنفسجي للتأكيد.</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مناسب لخطة المهام أو المقارنة التفصيلية. استبدل بيانات الأعمدة والصفوف وأضف المصدر عند الحاجة.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26" name="Google Shape;7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a608e3085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g3fa608e3085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الرسم أصلي قابل للتحرير ومرتبط بجدول بيانات مضمن. اختر تحرير البيانات لاستبدال أسماء الفئات والقيم. القيم 20، 35، 50، 65 أمثلة توضيحية. حدّث عنوان الشريحة والوحدة والمصدر، واحذف عبارة البيانات التوضيحية بعد إدخال البيانات الحقيقية.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39" name="Google Shape;739;g3fa608e3085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9" name="Google Shape;78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الرسم أصلي قابل للتحرير ومرتبط بجدول بيانات مضمن. القيم 40، 30، 20، 10 أمثلة فقط. استبدل الفئات وقيمها ببياناتك. تأكد أن الفئات أجزاء من إجمالي واحد. يعرض الرسم النسب من مجموع القيم المدخلة.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90" name="Google Shape;79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أو لقطة واجهة واضحة داخل المساحة المخصصة. الصورة تشغل معظم الشريحة مع مساحة مستقلة للنص لضمان القراءة.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30" name="Google Shape;83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اختر صورًا مترابطة، وأضف تعليقًا موجزًا تحت كل صورة. حافظ على أحجام الإطارات والمحاذاة.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قارن الخيارين باستخدام الأبعاد نفسها، مع وصف منصف لكل خيار. يمكن استخدام هذا النموذج لمقارنة الوضع الحالي والحل المقترح.</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مساحة فارغة لإضافة محتوى خاص بالمشروع. حافظ على الهوامش والخط وألوان الهوية. لإضافة محتوى اختر إدراج ثم مربع نص أو صورة. ضع المحتوى الرئيس بين 180 و1800 أفقيًا، وبين 250 و930 رأسيًا. الخلفية والشعار والتذييل ضمن التخطيط.</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96" name="Google Shape;896;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مساحة فارغة لإضافة محتوى خاص بالمشروع. حافظ على الهوامش والخط وألوان الهوية. لإضافة محتوى اختر إدراج ثم مربع نص أو صورة. ضع المحتوى الرئيس بين 180 و1800 أفقيًا، وبين 250 و930 رأسيًا. الخلفية والشعار والتذييل ضمن التخطيط.</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04" name="Google Shape;90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2.png"/><Relationship Id="rId7"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458" name="Shape 458"/>
        <p:cNvGrpSpPr/>
        <p:nvPr/>
      </p:nvGrpSpPr>
      <p:grpSpPr>
        <a:xfrm>
          <a:off x="0" y="0"/>
          <a:ext cx="0" cy="0"/>
          <a:chOff x="0" y="0"/>
          <a:chExt cx="0" cy="0"/>
        </a:xfrm>
      </p:grpSpPr>
      <p:pic>
        <p:nvPicPr>
          <p:cNvPr id="459" name="Google Shape;459;p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60" name="Google Shape;460;p7"/>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461" name="Google Shape;461;p7"/>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01</a:t>
            </a:r>
            <a:endParaRPr/>
          </a:p>
        </p:txBody>
      </p:sp>
      <p:sp>
        <p:nvSpPr>
          <p:cNvPr id="462" name="Google Shape;462;p7"/>
          <p:cNvSpPr/>
          <p:nvPr/>
        </p:nvSpPr>
        <p:spPr>
          <a:xfrm>
            <a:off x="1714500" y="385762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t>تم اعتماد الأصول المسندة ونفي التوليد الحر والهندسة الصارمة.</a:t>
            </a:r>
            <a:endParaRPr/>
          </a:p>
        </p:txBody>
      </p:sp>
      <p:sp>
        <p:nvSpPr>
          <p:cNvPr id="463" name="Google Shape;463;p7"/>
          <p:cNvSpPr/>
          <p:nvPr/>
        </p:nvSpPr>
        <p:spPr>
          <a:xfrm>
            <a:off x="1714500" y="509587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t>خط Readex Pro والمحاذاة من اليمين لليسار (RTL) بدون أي اقتطاع نصوص.</a:t>
            </a:r>
            <a:endParaRPr/>
          </a:p>
        </p:txBody>
      </p:sp>
      <p:sp>
        <p:nvSpPr>
          <p:cNvPr id="464" name="Google Shape;464;p7"/>
          <p:cNvSpPr/>
          <p:nvPr/>
        </p:nvSpPr>
        <p:spPr>
          <a:xfrm>
            <a:off x="1714500" y="633412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t>زمن استجابة &lt; 5ms من الكاش ونسبة هلوسة 0% وتوثيق قطعي 100%.</a:t>
            </a:r>
            <a:endParaRPr/>
          </a:p>
        </p:txBody>
      </p:sp>
      <p:sp>
        <p:nvSpPr>
          <p:cNvPr id="465" name="Google Shape;465;p7"/>
          <p:cNvSpPr/>
          <p:nvPr/>
        </p:nvSpPr>
        <p:spPr>
          <a:xfrm>
            <a:off x="1714500" y="757237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t>العرض النهائي: Bayyinah_AI_Pitch_Deck.pptx جاهز للتحكيم الرسمي.</a:t>
            </a:r>
            <a:endParaRPr/>
          </a:p>
        </p:txBody>
      </p:sp>
      <p:sp>
        <p:nvSpPr>
          <p:cNvPr id="466" name="Google Shape;466;p7"/>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t>بَيّنة AI</a:t>
            </a:r>
            <a:endParaRPr/>
          </a:p>
        </p:txBody>
      </p:sp>
      <p:sp>
        <p:nvSpPr>
          <p:cNvPr id="467" name="Google Shape;467;p7"/>
          <p:cNvSpPr/>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t>الميثاق العلمي ومعايير الامتثال والجودة الهندسية</a:t>
            </a:r>
            <a:endParaRPr/>
          </a:p>
        </p:txBody>
      </p:sp>
      <p:sp>
        <p:nvSpPr>
          <p:cNvPr id="468" name="Google Shape;468;p7"/>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t>منظومة استدلال مقيدة بالاسترجاع (Grounded RAG) لمكافحة الهلوسة</a:t>
            </a:r>
            <a:endParaRPr/>
          </a:p>
        </p:txBody>
      </p:sp>
      <p:sp>
        <p:nvSpPr>
          <p:cNvPr id="469" name="Google Shape;469;p7"/>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470" name="Google Shape;470;p7"/>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471" name="Google Shape;471;p7"/>
          <p:cNvSpPr/>
          <p:nvPr/>
        </p:nvSpPr>
        <p:spPr>
          <a:xfrm>
            <a:off x="8458200" y="38100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المحتوى</a:t>
            </a:r>
            <a:endParaRPr/>
          </a:p>
        </p:txBody>
      </p:sp>
      <p:sp>
        <p:nvSpPr>
          <p:cNvPr id="472" name="Google Shape;472;p7"/>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473" name="Google Shape;473;p7"/>
          <p:cNvSpPr/>
          <p:nvPr/>
        </p:nvSpPr>
        <p:spPr>
          <a:xfrm>
            <a:off x="8458200" y="50482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الوضوح</a:t>
            </a:r>
            <a:endParaRPr/>
          </a:p>
        </p:txBody>
      </p:sp>
      <p:sp>
        <p:nvSpPr>
          <p:cNvPr id="474" name="Google Shape;474;p7"/>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475" name="Google Shape;475;p7"/>
          <p:cNvSpPr/>
          <p:nvPr/>
        </p:nvSpPr>
        <p:spPr>
          <a:xfrm>
            <a:off x="8458200" y="62865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الدقة</a:t>
            </a:r>
            <a:endParaRPr/>
          </a:p>
        </p:txBody>
      </p:sp>
      <p:sp>
        <p:nvSpPr>
          <p:cNvPr id="476" name="Google Shape;476;p7"/>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477" name="Google Shape;477;p7"/>
          <p:cNvSpPr/>
          <p:nvPr/>
        </p:nvSpPr>
        <p:spPr>
          <a:xfrm>
            <a:off x="8458200" y="75247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ملف التسليم</a:t>
            </a:r>
            <a:endParaRPr/>
          </a:p>
        </p:txBody>
      </p:sp>
      <p:sp>
        <p:nvSpPr>
          <p:cNvPr id="478" name="Google Shape;478;p7"/>
          <p:cNvSpPr/>
          <p:nvPr/>
        </p:nvSpPr>
        <p:spPr>
          <a:xfrm>
            <a:off x="1409700" y="8858250"/>
            <a:ext cx="15430500" cy="6096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t>تكامل هندسي موثق: المشكلة، الحل، المعمارية، آلية العمل، الأثر والمؤشرات، وخطة التنفيذ.</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t>بَيّنة AI — Bayyinah Engine</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t>محرك التحقق المعرفي وتتبع الأدلة الشرعية لتمكين المعرّفين بالإسلام وصنّاع المحتوى</a:t>
            </a:r>
            <a:br/>
            <a:r>
              <a:t>منظومة استدلال مقيدة بالاسترجاع (Grounded RAG) لمكافحة الهلوسة ونفي الروايات غير الثابتة</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t>فريق بَيّنة AI — تحدي الذكاء الاصطناعي في خدمة المحتوى الإسلامي 2026</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t>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97" name="Shape 497"/>
        <p:cNvGrpSpPr/>
        <p:nvPr/>
      </p:nvGrpSpPr>
      <p:grpSpPr>
        <a:xfrm>
          <a:off x="0" y="0"/>
          <a:ext cx="0" cy="0"/>
          <a:chOff x="0" y="0"/>
          <a:chExt cx="0" cy="0"/>
        </a:xfrm>
      </p:grpSpPr>
      <p:pic>
        <p:nvPicPr>
          <p:cNvPr id="498" name="Google Shape;498;p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99" name="Google Shape;499;p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00" name="Google Shape;500;p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بَيّنة AI</a:t>
            </a:r>
            <a:endParaRPr/>
          </a:p>
        </p:txBody>
      </p:sp>
      <p:sp>
        <p:nvSpPr>
          <p:cNvPr id="501" name="Google Shape;501;p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محتويات العرض</a:t>
            </a:r>
            <a:endParaRPr/>
          </a:p>
        </p:txBody>
      </p:sp>
      <p:sp>
        <p:nvSpPr>
          <p:cNvPr id="502" name="Google Shape;502;p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03" name="Google Shape;503;p9"/>
          <p:cNvSpPr txBox="1"/>
          <p:nvPr>
            <p:ph idx="2" type="body"/>
          </p:nvPr>
        </p:nvSpPr>
        <p:spPr>
          <a:xfrm>
            <a:off x="12077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504" name="Google Shape;504;p9"/>
          <p:cNvSpPr txBox="1"/>
          <p:nvPr>
            <p:ph idx="3" type="body"/>
          </p:nvPr>
        </p:nvSpPr>
        <p:spPr>
          <a:xfrm>
            <a:off x="12077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المشكلة وسياق التحدي</a:t>
            </a:r>
            <a:endParaRPr/>
          </a:p>
        </p:txBody>
      </p:sp>
      <p:sp>
        <p:nvSpPr>
          <p:cNvPr id="505" name="Google Shape;505;p9"/>
          <p:cNvSpPr txBox="1"/>
          <p:nvPr>
            <p:ph idx="4" type="body"/>
          </p:nvPr>
        </p:nvSpPr>
        <p:spPr>
          <a:xfrm>
            <a:off x="12077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تسرب الروايات الضعيفة والهلوسة في نماذج الذكاء الاصطناعي</a:t>
            </a:r>
            <a:endParaRPr/>
          </a:p>
        </p:txBody>
      </p:sp>
      <p:sp>
        <p:nvSpPr>
          <p:cNvPr id="506" name="Google Shape;506;p9"/>
          <p:cNvSpPr txBox="1"/>
          <p:nvPr>
            <p:ph idx="5" type="body"/>
          </p:nvPr>
        </p:nvSpPr>
        <p:spPr>
          <a:xfrm>
            <a:off x="6743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507" name="Google Shape;507;p9"/>
          <p:cNvSpPr txBox="1"/>
          <p:nvPr>
            <p:ph idx="6" type="body"/>
          </p:nvPr>
        </p:nvSpPr>
        <p:spPr>
          <a:xfrm>
            <a:off x="6743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الحل المبتكر: بَيّنة AI</a:t>
            </a:r>
            <a:endParaRPr/>
          </a:p>
        </p:txBody>
      </p:sp>
      <p:sp>
        <p:nvSpPr>
          <p:cNvPr id="508" name="Google Shape;508;p9"/>
          <p:cNvSpPr txBox="1"/>
          <p:nvPr>
            <p:ph idx="7" type="body"/>
          </p:nvPr>
        </p:nvSpPr>
        <p:spPr>
          <a:xfrm>
            <a:off x="6743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منظومة استدلال مقيدة بالاسترجاع وبطاقة إسناد رقمية موثقة</a:t>
            </a:r>
            <a:endParaRPr>
              <a:latin typeface="Readex Pro Light"/>
              <a:ea typeface="Readex Pro Light"/>
              <a:cs typeface="Readex Pro Light"/>
              <a:sym typeface="Readex Pro Light"/>
            </a:endParaRPr>
          </a:p>
        </p:txBody>
      </p:sp>
      <p:sp>
        <p:nvSpPr>
          <p:cNvPr id="509" name="Google Shape;509;p9"/>
          <p:cNvSpPr txBox="1"/>
          <p:nvPr>
            <p:ph idx="8" type="body"/>
          </p:nvPr>
        </p:nvSpPr>
        <p:spPr>
          <a:xfrm>
            <a:off x="1409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510" name="Google Shape;510;p9"/>
          <p:cNvSpPr txBox="1"/>
          <p:nvPr>
            <p:ph idx="9" type="body"/>
          </p:nvPr>
        </p:nvSpPr>
        <p:spPr>
          <a:xfrm>
            <a:off x="1409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المعمارية ومسار البيانات</a:t>
            </a:r>
            <a:endParaRPr/>
          </a:p>
        </p:txBody>
      </p:sp>
      <p:sp>
        <p:nvSpPr>
          <p:cNvPr id="511" name="Google Shape;511;p9"/>
          <p:cNvSpPr txBox="1"/>
          <p:nvPr>
            <p:ph idx="13" type="body"/>
          </p:nvPr>
        </p:nvSpPr>
        <p:spPr>
          <a:xfrm>
            <a:off x="1409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بحث هجين (pgvector + BM25) مع كاش ذكي وتحكيم دقيق</a:t>
            </a:r>
            <a:endParaRPr>
              <a:latin typeface="Readex Pro Light"/>
              <a:ea typeface="Readex Pro Light"/>
              <a:cs typeface="Readex Pro Light"/>
              <a:sym typeface="Readex Pro Light"/>
            </a:endParaRPr>
          </a:p>
        </p:txBody>
      </p:sp>
      <p:sp>
        <p:nvSpPr>
          <p:cNvPr id="512" name="Google Shape;512;p9"/>
          <p:cNvSpPr txBox="1"/>
          <p:nvPr>
            <p:ph idx="14" type="body"/>
          </p:nvPr>
        </p:nvSpPr>
        <p:spPr>
          <a:xfrm>
            <a:off x="12077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513" name="Google Shape;513;p9"/>
          <p:cNvSpPr txBox="1"/>
          <p:nvPr>
            <p:ph idx="15" type="body"/>
          </p:nvPr>
        </p:nvSpPr>
        <p:spPr>
          <a:xfrm>
            <a:off x="12077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الموثوقية ومنع الهلوسة</a:t>
            </a:r>
            <a:endParaRPr/>
          </a:p>
        </p:txBody>
      </p:sp>
      <p:sp>
        <p:nvSpPr>
          <p:cNvPr id="514" name="Google Shape;514;p9"/>
          <p:cNvSpPr txBox="1"/>
          <p:nvPr>
            <p:ph idx="16" type="body"/>
          </p:nvPr>
        </p:nvSpPr>
        <p:spPr>
          <a:xfrm>
            <a:off x="12077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0% هلوسة مع بروتوكول الرفض الذكي للمكذوبات والتحكيم الشرعي</a:t>
            </a:r>
            <a:endParaRPr>
              <a:latin typeface="Readex Pro Light"/>
              <a:ea typeface="Readex Pro Light"/>
              <a:cs typeface="Readex Pro Light"/>
              <a:sym typeface="Readex Pro Light"/>
            </a:endParaRPr>
          </a:p>
        </p:txBody>
      </p:sp>
      <p:sp>
        <p:nvSpPr>
          <p:cNvPr id="515" name="Google Shape;515;p9"/>
          <p:cNvSpPr txBox="1"/>
          <p:nvPr>
            <p:ph idx="17" type="body"/>
          </p:nvPr>
        </p:nvSpPr>
        <p:spPr>
          <a:xfrm>
            <a:off x="6743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516" name="Google Shape;516;p9"/>
          <p:cNvSpPr txBox="1"/>
          <p:nvPr>
            <p:ph idx="18" type="body"/>
          </p:nvPr>
        </p:nvSpPr>
        <p:spPr>
          <a:xfrm>
            <a:off x="6743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خطة التنفيذ وخارطة الطريق</a:t>
            </a:r>
            <a:endParaRPr/>
          </a:p>
        </p:txBody>
      </p:sp>
      <p:sp>
        <p:nvSpPr>
          <p:cNvPr id="517" name="Google Shape;517;p9"/>
          <p:cNvSpPr txBox="1"/>
          <p:nvPr>
            <p:ph idx="19" type="body"/>
          </p:nvPr>
        </p:nvSpPr>
        <p:spPr>
          <a:xfrm>
            <a:off x="6743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بناء المنتج الأولي وتوسيعه لخدمة المنصات الدعوية الكبرى</a:t>
            </a:r>
            <a:endParaRPr>
              <a:latin typeface="Readex Pro Light"/>
              <a:ea typeface="Readex Pro Light"/>
              <a:cs typeface="Readex Pro Light"/>
              <a:sym typeface="Readex Pro Light"/>
            </a:endParaRPr>
          </a:p>
        </p:txBody>
      </p:sp>
      <p:sp>
        <p:nvSpPr>
          <p:cNvPr id="518" name="Google Shape;518;p9"/>
          <p:cNvSpPr txBox="1"/>
          <p:nvPr>
            <p:ph idx="20" type="body"/>
          </p:nvPr>
        </p:nvSpPr>
        <p:spPr>
          <a:xfrm>
            <a:off x="1409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06</a:t>
            </a:r>
            <a:endParaRPr/>
          </a:p>
        </p:txBody>
      </p:sp>
      <p:sp>
        <p:nvSpPr>
          <p:cNvPr id="519" name="Google Shape;519;p9"/>
          <p:cNvSpPr txBox="1"/>
          <p:nvPr>
            <p:ph idx="21" type="body"/>
          </p:nvPr>
        </p:nvSpPr>
        <p:spPr>
          <a:xfrm>
            <a:off x="1409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فريق العمل والرؤية المستقبلية</a:t>
            </a:r>
            <a:endParaRPr/>
          </a:p>
        </p:txBody>
      </p:sp>
      <p:sp>
        <p:nvSpPr>
          <p:cNvPr id="520" name="Google Shape;520;p9"/>
          <p:cNvSpPr txBox="1"/>
          <p:nvPr>
            <p:ph idx="22" type="body"/>
          </p:nvPr>
        </p:nvSpPr>
        <p:spPr>
          <a:xfrm>
            <a:off x="1409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تكامل الخبرات الهندسية والشرعية والتحقق كخدمة (VaaS)</a:t>
            </a:r>
            <a:endParaRPr>
              <a:latin typeface="Readex Pro Light"/>
              <a:ea typeface="Readex Pro Light"/>
              <a:cs typeface="Readex Pro Light"/>
              <a:sym typeface="Readex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01</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t>المشكلة وسياق التحدي</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التحديات الواقعية في الميدان المعرفي والدعوي ومخاطر الهلوسة الرقمية</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المشكلة وسياق التحدي</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التحديات الواقعية في الميدان المعرفي والدعوي</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فجوات حرجة تعيق المعرّفين وصنّاع المحتوى وتفتح الباب لتسرب الروايات غير المحققة</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تحدي الكفاءة والوقت</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استنزاف وقت الباحث في البحث اليدوي الشاق وتأخر الرد الفوري على التساؤلات والشبهات.</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مخاطر الهلوسة الرقمية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توليد نماذج اللغة العامة (LLMs) لأحاديث وروايات مختلقة كلياً ونسبتها زوراً للسنة.</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قصور البحث اللفظي التقليدي</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عجز محركات البحث الحرفية عن فهم الصياغات المعاصرة والشبهات ذات المدلول الدلالي.</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غياب السند والتوثيق الرقمي</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افتقار المنصات إلى بطاقات إسناد رقمية فورية تثبت صحة الرواية برقم الحديث وسنده.</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55" name="Shape 555"/>
        <p:cNvGrpSpPr/>
        <p:nvPr/>
      </p:nvGrpSpPr>
      <p:grpSpPr>
        <a:xfrm>
          <a:off x="0" y="0"/>
          <a:ext cx="0" cy="0"/>
          <a:chOff x="0" y="0"/>
          <a:chExt cx="0" cy="0"/>
        </a:xfrm>
      </p:grpSpPr>
      <p:pic>
        <p:nvPicPr>
          <p:cNvPr id="556" name="Google Shape;556;p12"/>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57" name="Google Shape;557;p12"/>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8" name="Google Shape;558;p12"/>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59" name="Google Shape;559;p12"/>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سياق الحاجة</a:t>
            </a:r>
            <a:endParaRPr/>
          </a:p>
        </p:txBody>
      </p:sp>
      <p:sp>
        <p:nvSpPr>
          <p:cNvPr id="560" name="Google Shape;560;p12"/>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لماذا نحتاج «بَيّنة AI» اليوم أكثر من أي وقت مضى؟</a:t>
            </a:r>
            <a:endParaRPr/>
          </a:p>
        </p:txBody>
      </p:sp>
      <p:sp>
        <p:nvSpPr>
          <p:cNvPr id="561" name="Google Shape;561;p1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62" name="Google Shape;562;p12"/>
          <p:cNvSpPr txBox="1"/>
          <p:nvPr>
            <p:ph idx="2" type="body"/>
          </p:nvPr>
        </p:nvSpPr>
        <p:spPr>
          <a:xfrm>
            <a:off x="5886450" y="3604500"/>
            <a:ext cx="10953900" cy="22398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3225"/>
              <a:buNone/>
            </a:pPr>
            <a:r>
              <a:t>مع الانتشار المتسارع للمحتوى الرقمي الإسلامي واعتماد الملايين على روبوتات الذكاء الاصطناعي العامة للإجابة عن الأسئلة الشرعية، بات تسرب الأحاديث الضعيفة والموضوعة يمثل تهديداً حقيقياً للأمانة العلمية. محرك «بَيّنة AI» يعيد بناء الثقة عبر منظومة تحقق هندسية مقيدة حصراً بالمتون المسندة.</a:t>
            </a:r>
            <a:endParaRPr>
              <a:latin typeface="Readex Pro Light"/>
              <a:ea typeface="Readex Pro Light"/>
              <a:cs typeface="Readex Pro Light"/>
              <a:sym typeface="Readex Pro Light"/>
            </a:endParaRPr>
          </a:p>
        </p:txBody>
      </p:sp>
      <p:sp>
        <p:nvSpPr>
          <p:cNvPr id="563" name="Google Shape;563;p12"/>
          <p:cNvSpPr txBox="1"/>
          <p:nvPr>
            <p:ph idx="3" type="body"/>
          </p:nvPr>
        </p:nvSpPr>
        <p:spPr>
          <a:xfrm>
            <a:off x="5886450" y="7239000"/>
            <a:ext cx="1095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700"/>
              <a:buNone/>
            </a:pPr>
            <a:r>
              <a:t>الأثر الميداني المباشر</a:t>
            </a:r>
            <a:endParaRPr/>
          </a:p>
        </p:txBody>
      </p:sp>
      <p:sp>
        <p:nvSpPr>
          <p:cNvPr id="564" name="Google Shape;564;p12"/>
          <p:cNvSpPr txBox="1"/>
          <p:nvPr>
            <p:ph idx="4" type="body"/>
          </p:nvPr>
        </p:nvSpPr>
        <p:spPr>
          <a:xfrm>
            <a:off x="5886450" y="8001000"/>
            <a:ext cx="10953900" cy="857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t>تمكين الدعاة والباحثين وصناع المحتوى من إصدار بطاقة تحقق وإسناد فورية خلال أقل من ثانية واحدة.</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واجهة التطبيق التفاعلية</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تجربة تحقق فورية وسلسة عبر واجهة بَيّنة AI</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576" name="Google Shape;576;p13" descr="slide_preview-3.png"/>
          <p:cNvPicPr>
            <a:picLocks noGrp="1" noChangeAspect="1"/>
          </p:cNvPicPr>
          <p:nvPr>
            <p:ph idx="2" type="pic"/>
          </p:nvPr>
        </p:nvPicPr>
        <p:blipFill>
          <a:blip r:embed="rId5"/>
          <a:srcRect t="1" b="1"/>
          <a:stretch>
            <a:fillRect/>
          </a:stretch>
        </p:blipFill>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بطاقة الإسناد المعتمدة والتحليل الدلالي</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t>تستعرض الواجهة التفاعلية نص المتن النبوي المعتمد، المصدر، الباب، رقم الحديث، وحكم المحققين، مع إبراز المفاهيم المشتركة والوجه الدلالي.</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t>التصدير الفوري بشهادة معتمدة</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t>إمكانية تنزيل شهادة التحقق بصيغة نصية (TXT) وبطاقة نشر رقمية منسقة (HTML) للمشاركة الفورية عبر المنصات الدعوية.</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بروتوكول الرفض الذكي</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كشف الروايات المكذوبة والامتناع الصارم</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592" name="Google Shape;592;p14" descr="slide_preview-5.png"/>
          <p:cNvPicPr>
            <a:picLocks noGrp="1" noChangeAspect="1"/>
          </p:cNvPicPr>
          <p:nvPr>
            <p:ph idx="2" type="pic"/>
          </p:nvPr>
        </p:nvPicPr>
        <p:blipFill>
          <a:blip r:embed="rId5"/>
          <a:srcRect l="21875" r="21875"/>
          <a:stretch>
            <a:fillRect/>
          </a:stretch>
        </p:blipFill>
        <p:spPr/>
      </p:pic>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t>الامتناع عند انعدام السند الصحيح</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t>عند إدخال مقولة مشهورة لا أصل لها (مثل: «اطلبوا العلم ولو في الصين»)، يمتنع المحرك بحزم عن إثبات النسبة ويُصدر إشعار الرفض الذكي: «لم يتم العثور على أصل مطابق في مصادر السنة المعتمدة، ولا يُنسب إلى النبي ﷺ ما لم يثبت إسناده».</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t>حماية المحتوى الإسلامي من الروايات الدخيلة</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الأثر والمؤشرات</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مؤشرات الأداء والكفاءة الهندسية</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بيئة الاختبار والإنتاج الفعلي 2026</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0%</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نسبة الهلوسة الرقمية</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تصفير تام للتوليد الحر</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&lt; 5ms</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زمن الاستجابة بالكاش</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استرجاع فوري للذاكرة</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+95%</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دقة المطابقة الدلالية</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تطابق دلالي ولفظي هجين</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100%</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شفافية الإسناد والعزو</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عزو مسند قطعي للمصادر</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سجلات القياس المعياري لنظام بَيّنة AI — أكتوبر 2026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625" name="Shape 625"/>
        <p:cNvGrpSpPr/>
        <p:nvPr/>
      </p:nvGrpSpPr>
      <p:grpSpPr>
        <a:xfrm>
          <a:off x="0" y="0"/>
          <a:ext cx="0" cy="0"/>
          <a:chOff x="0" y="0"/>
          <a:chExt cx="0" cy="0"/>
        </a:xfrm>
      </p:grpSpPr>
      <p:pic>
        <p:nvPicPr>
          <p:cNvPr id="626" name="Google Shape;626;p16"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627" name="Google Shape;627;p1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628" name="Google Shape;628;p16"/>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5550"/>
              <a:buNone/>
            </a:pPr>
            <a:r>
              <a:t>«لا يُنسب إلى النبي ﷺ ما لم يثبت إسناده، ولا يُعتمد في الدين إلا الأصل المحقق»</a:t>
            </a:r>
            <a:endParaRPr/>
          </a:p>
          <a:p>
            <a:pPr indent="0" lvl="0" marL="0" rtl="1" algn="ctr">
              <a:lnSpc>
                <a:spcPct val="100000"/>
              </a:lnSpc>
              <a:spcBef>
                <a:spcPts val="0"/>
              </a:spcBef>
              <a:spcAft>
                <a:spcPts val="0"/>
              </a:spcAft>
              <a:buSzPts val="5550"/>
              <a:buNone/>
            </a:pPr>
            <a:endParaRPr/>
          </a:p>
        </p:txBody>
      </p:sp>
      <p:sp>
        <p:nvSpPr>
          <p:cNvPr id="629" name="Google Shape;629;p16"/>
          <p:cNvSpPr txBox="1"/>
          <p:nvPr>
            <p:ph idx="1" type="body"/>
          </p:nvPr>
        </p:nvSpPr>
        <p:spPr>
          <a:xfrm>
            <a:off x="4202375" y="6905625"/>
            <a:ext cx="10752000" cy="5667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t>القاعدة المنهجية الحاكمة لمنظومة بَيّنة AI في خدمة المحتوى الإسلامي</a:t>
            </a:r>
            <a:endParaRPr/>
          </a:p>
        </p:txBody>
      </p:sp>
      <p:sp>
        <p:nvSpPr>
          <p:cNvPr id="630" name="Google Shape;630;p16"/>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1950"/>
              <a:buNone/>
            </a:pPr>
            <a:r>
              <a:t>ميثاق الأمانة العلمية والتحقق الرقمي 2026</a:t>
            </a:r>
            <a:endParaRPr/>
          </a:p>
        </p:txBody>
      </p:sp>
      <p:pic>
        <p:nvPicPr>
          <p:cNvPr id="631" name="Google Shape;631;p16"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المقارنة والتحكيم</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مقارنة منهجية التحقق: بَيّنة AI مقابل النماذج العامة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فروق جوهرية في الدقة، الإسناد، ومكافحة التضليل المعرفي</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r>
                        <a:t>الأثر والنتيجة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r>
                        <a:t>النماذج العامة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r>
                        <a:t>محرك بَيّنة AI</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r>
                        <a:t>المعيار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r>
                        <a:t>حماية السنة من الاختلاق</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توليد احتمالي مفتوح</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استرجاع مقيد بالأصول</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ثبوت المتن والسند</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r>
                        <a:t>منع انتشار الأحاديث الباطلة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تأليف وتبرير الروايات</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بروتوكول الرفض الذكي</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مكافحة المكذوبات</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r>
                        <a:t>تجربة مستخدم فورية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ثوانٍ متعددة (بطء وتكلفة)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&lt; 5ms (كاش ذكي)</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سرعة الاستجابة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r>
                        <a:t>شهادة رقمية قابلة للتصدير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غياب التخريج والسند</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بطاقة إسناد برقم الحديث</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r>
                        <a:t>التوثيق والتخريج</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معايير الاختبار والتقييم في تحدي الذكاء الاصطناعي 2026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خطة التنفيذ</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خارطة الطريق لبناء وتطوير المنتج الأولي (MVP)</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جدول زمني مكثف ومحكم (أكتوبر 2026 وما بعدها)</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البنية التحتية والبيانات</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المرحلة 1</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فهرسة 251 متناً مسنداً عبر pgvector وPostgreSQL وضبط المعاجم.</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المحرك الهجين والرفض الذكي</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المرحلة 2</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دمج البحث الدلالي مع BM25 عبر RRF وبرمجة بروتوكول الامتناع الذكي.</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الواجهة وتصدير البطاقات</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المرحلة 3</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إطلاق واجهة Streamlit وبطاقات الإسناد وتصدير شهادات TXT وHTML.</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حزمة SDK والتكامل الخارجي</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المرحلة 4</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إتاحة API للمنصات وتوفير إضافة المتصفح للتحقق الفوري بنقرة زر.</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التوسع المعرفي والشراكات</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المرحلة 5</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توسيع الفهرسة لتشمل السنن والمسانيد ودعم اللغات العالمية الحية.</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القدرة التنفيذية</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فريق العمل وتكامل الخبرات</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فريق بَيّنة AI</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3" name="Google Shape;693;p19"/>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مهندس ذكاء اصطناعي ونظم RAG</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هندسة التضمينات، ضبط مسارات البحث الهجين، وتطوير خوارزميات الاسترجاع الدلالي.</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6" name="Google Shape;696;p19"/>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مهندس نظم خلفية وقواعد بيانات</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بناء مسارات الـ API بـ FastAPI، تحسين أداء PostgreSQL وpgvector والكاش السريع.</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9" name="Google Shape;699;p19"/>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باحث متخصص في علوم الحديث</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التدقيق العلمي لرتب الأحاديث، صياغة بروتوكولات التحكيم، وضبط ميثاق الأمانة العلمية.</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702" name="Google Shape;702;p19"/>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مهندس واجهات وتجربة مستخدم</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تصميم وتطوير واجهات الاستعراض التفاعلية، بطاقات الإسناد، ومسارات التصدير الرقمي.</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الحل المبتكر</a:t>
            </a:r>
            <a:endParaRPr/>
          </a:p>
        </p:txBody>
      </p:sp>
      <p:sp>
        <p:nvSpPr>
          <p:cNvPr id="711" name="Google Shape;711;p20"/>
          <p:cNvSpPr txBox="1"/>
          <p:nvPr>
            <p:ph type="title"/>
          </p:nvPr>
        </p:nvSpPr>
        <p:spPr>
          <a:xfrm>
            <a:off x="6637950" y="1809750"/>
            <a:ext cx="102024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الركائز الأربع لمنظومة بَيّنة AI</a:t>
            </a:r>
            <a:endParaRPr/>
          </a:p>
        </p:txBody>
      </p:sp>
      <p:sp>
        <p:nvSpPr>
          <p:cNvPr id="712" name="Google Shape;712;p20"/>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منظومة متكاملة تدمج الضبط الشرعي الصارم مع أحدث تقنيات البحث الدلالي</a:t>
            </a:r>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الاسترجاع الهجين المقيد (Hybrid RAG)</a:t>
            </a:r>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دمج البحث المتجهي للأبعاد الدلالية مع البحث النصي الحرفي لضمان الدقة ونفي التوليد الحر.</a:t>
            </a:r>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بطاقة الإسناد المعتمدة (Evidence Card)</a:t>
            </a:r>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استخراج وثيقة إثبات رقمية تحتوي على المتن، الكتاب، الباب، رقم الحديث، وحكم المحققين.</a:t>
            </a:r>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بروتوكول الرفض الذكي (Smart Refusal)</a:t>
            </a:r>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كشف الروايات المكذوبة والضعيفة والامتناع الفوري عن إثبات النسبة حماية للسنة النبوية.</a:t>
            </a:r>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التفسير الدلالي الموضوعي (Explainability)</a:t>
            </a:r>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بيان أوجه الارتباط الدلالي والمفاهيم المشتركة بين لغة الاستعلام والمتن النبوي بدقة.</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graphicFrame>
        <p:nvGraphicFramePr>
          <p:cNvPr id="731" name="Google Shape;731;p21"/>
          <p:cNvGraphicFramePr/>
          <p:nvPr/>
        </p:nvGraphicFramePr>
        <p:xfrm>
          <a:off x="171450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r>
                        <a:t>البند</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r>
                        <a:t>التفاصيل</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r>
                        <a:t>المسؤول</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r>
                        <a:t>الموعد</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r>
              <a:tr h="923925">
                <a:tc>
                  <a:txBody>
                    <a:bodyPr/>
                    <a:lstStyle/>
                    <a:p>
                      <a:r>
                        <a:t>تجهيز البيانات والفهرسة</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هيكلة المتون وتوليد متجهات التضمين بـ pgvector</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مهندس الذكاء الاصطناعي</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اليوم الأول</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r>
                        <a:t>بناء المحرك الهجين</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دمج خوارزمية RRF وبروتوكول الامتناع الذكي</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مهندس النظم الخلفية</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اليوم الثاني</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r>
                        <a:t>الواجهة والتصدير</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إطلاق الواجهة التفاعلية وتصدير شهادات TXT وHTML</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مهندس الواجهات</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اليوم الثالث</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r>
                        <a:t>ضمان الجودة والتحكيم</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التدقيق والمراجعة الشاملة لضبط الأمانة العلمية</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المحقق الشرعي</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r>
                        <a:t>مستمر</a:t>
                      </a: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bl>
          </a:graphicData>
        </a:graphic>
      </p:graphicFrame>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إدارة المشروع</a:t>
            </a:r>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مصفوفة المهام والمخرجات التنفيذية</a:t>
            </a:r>
            <a:endParaRPr/>
          </a:p>
        </p:txBody>
      </p:sp>
      <p:sp>
        <p:nvSpPr>
          <p:cNvPr id="734" name="Google Shape;734;p2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توزيع المهام والمسؤوليات لضمان الإطلاق الناجح للمنتج</a:t>
            </a:r>
            <a:endParaRPr/>
          </a:p>
        </p:txBody>
      </p:sp>
      <p:sp>
        <p:nvSpPr>
          <p:cNvPr id="735" name="Google Shape;735;p21"/>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جدول تسليم مخرجات التحدي 2026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g3fa608e3085_0_0"/>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42" name="Google Shape;742;g3fa608e3085_0_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المقارنة والقياس المعياري</a:t>
            </a:r>
            <a:endParaRPr/>
          </a:p>
        </p:txBody>
      </p:sp>
      <p:sp>
        <p:nvSpPr>
          <p:cNvPr id="743" name="Google Shape;743;g3fa608e3085_0_0"/>
          <p:cNvSpPr txBox="1"/>
          <p:nvPr>
            <p:ph type="title"/>
          </p:nvPr>
        </p:nvSpPr>
        <p:spPr>
          <a:xfrm>
            <a:off x="1409700" y="15811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زمن الاستجابة ونسبة الهلوسة في التحقق</a:t>
            </a:r>
            <a:endParaRPr/>
          </a:p>
        </p:txBody>
      </p:sp>
      <p:sp>
        <p:nvSpPr>
          <p:cNvPr id="744" name="Google Shape;744;g3fa608e3085_0_0"/>
          <p:cNvSpPr txBox="1"/>
          <p:nvPr>
            <p:ph idx="2" type="body"/>
          </p:nvPr>
        </p:nvSpPr>
        <p:spPr>
          <a:xfrm>
            <a:off x="1409700" y="2324100"/>
            <a:ext cx="15430500" cy="685800"/>
          </a:xfrm>
          <a:prstGeom prst="rect">
            <a:avLst/>
          </a:prstGeom>
          <a:noFill/>
          <a:ln>
            <a:noFill/>
          </a:ln>
        </p:spPr>
        <p:txBody>
          <a:bodyPr anchorCtr="0" anchor="ctr" bIns="0" lIns="0" spcFirstLastPara="1" rIns="0" wrap="square" tIns="0">
            <a:noAutofit/>
          </a:bodyPr>
          <a:lstStyle/>
          <a:p>
            <a:pPr indent="0" lvl="0" marL="0" rtl="1" algn="r">
              <a:lnSpc>
                <a:spcPct val="100000"/>
              </a:lnSpc>
              <a:spcBef>
                <a:spcPts val="0"/>
              </a:spcBef>
              <a:spcAft>
                <a:spcPts val="0"/>
              </a:spcAft>
              <a:buSzPts val="2250"/>
              <a:buNone/>
            </a:pPr>
            <a:r>
              <a:t>محرك بَيّنة AI مقابل نماذج الذكاء الاصطناعي العامة</a:t>
            </a:r>
            <a:endParaRPr/>
          </a:p>
        </p:txBody>
      </p:sp>
      <p:sp>
        <p:nvSpPr>
          <p:cNvPr id="745" name="Google Shape;745;g3fa608e3085_0_0"/>
          <p:cNvSpPr txBox="1"/>
          <p:nvPr>
            <p:ph idx="12" type="sldNum"/>
          </p:nvPr>
        </p:nvSpPr>
        <p:spPr>
          <a:xfrm>
            <a:off x="1066800" y="9467850"/>
            <a:ext cx="9525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46" name="Google Shape;746;g3fa608e3085_0_0"/>
          <p:cNvSpPr txBox="1"/>
          <p:nvPr>
            <p:ph idx="3" type="body"/>
          </p:nvPr>
        </p:nvSpPr>
        <p:spPr>
          <a:xfrm>
            <a:off x="2095500" y="8905875"/>
            <a:ext cx="141921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الزمن (مللي ثانية) • أكتوبر 2026</a:t>
            </a:r>
            <a:endParaRPr/>
          </a:p>
        </p:txBody>
      </p:sp>
      <p:sp>
        <p:nvSpPr>
          <p:cNvPr id="747" name="Google Shape;747;g3fa608e3085_0_0"/>
          <p:cNvSpPr txBox="1"/>
          <p:nvPr/>
        </p:nvSpPr>
        <p:spPr>
          <a:xfrm>
            <a:off x="2095308" y="8033292"/>
            <a:ext cx="14685648" cy="490752"/>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محرك بَيّنة AI: استجابة فورية &lt; 5ms مع صفر هلوسة</a:t>
            </a:r>
            <a:endParaRPr sz="1451">
              <a:solidFill>
                <a:srgbClr val="FFFFFF"/>
              </a:solidFill>
              <a:latin typeface="Readex Pro SemiBold"/>
              <a:ea typeface="Readex Pro SemiBold"/>
              <a:cs typeface="Readex Pro SemiBold"/>
              <a:sym typeface="Readex Pro SemiBold"/>
            </a:endParaRPr>
          </a:p>
        </p:txBody>
      </p:sp>
      <p:grpSp>
        <p:nvGrpSpPr>
          <p:cNvPr id="748" name="Google Shape;748;g3fa608e3085_0_0"/>
          <p:cNvGrpSpPr/>
          <p:nvPr/>
        </p:nvGrpSpPr>
        <p:grpSpPr>
          <a:xfrm>
            <a:off x="5783050" y="6309900"/>
            <a:ext cx="1723097" cy="1558652"/>
            <a:chOff x="7838420" y="2860757"/>
            <a:chExt cx="144600" cy="1073822"/>
          </a:xfrm>
        </p:grpSpPr>
        <p:grpSp>
          <p:nvGrpSpPr>
            <p:cNvPr id="749" name="Google Shape;749;g3fa608e3085_0_0"/>
            <p:cNvGrpSpPr/>
            <p:nvPr/>
          </p:nvGrpSpPr>
          <p:grpSpPr>
            <a:xfrm>
              <a:off x="7838420" y="3212056"/>
              <a:ext cx="144600" cy="722523"/>
              <a:chOff x="7838420" y="3212056"/>
              <a:chExt cx="144600" cy="722523"/>
            </a:xfrm>
          </p:grpSpPr>
          <p:sp>
            <p:nvSpPr>
              <p:cNvPr id="750" name="Google Shape;750;g3fa608e3085_0_0"/>
              <p:cNvSpPr/>
              <p:nvPr/>
            </p:nvSpPr>
            <p:spPr>
              <a:xfrm>
                <a:off x="7838420" y="3212056"/>
                <a:ext cx="144600" cy="722400"/>
              </a:xfrm>
              <a:prstGeom prst="roundRect">
                <a:avLst>
                  <a:gd fmla="val 16667" name="adj"/>
                </a:avLst>
              </a:prstGeom>
              <a:solidFill>
                <a:srgbClr val="E0D9FB"/>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1" name="Google Shape;75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52" name="Google Shape;752;g3fa608e3085_0_0"/>
            <p:cNvSpPr txBox="1"/>
            <p:nvPr/>
          </p:nvSpPr>
          <p:spPr>
            <a:xfrm>
              <a:off x="7838420" y="2860757"/>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20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3" name="Google Shape;753;g3fa608e3085_0_0"/>
          <p:cNvGrpSpPr/>
          <p:nvPr/>
        </p:nvGrpSpPr>
        <p:grpSpPr>
          <a:xfrm>
            <a:off x="2888200" y="6843825"/>
            <a:ext cx="1723200" cy="1024727"/>
            <a:chOff x="2888200" y="6843825"/>
            <a:chExt cx="1723200" cy="1024727"/>
          </a:xfrm>
        </p:grpSpPr>
        <p:grpSp>
          <p:nvGrpSpPr>
            <p:cNvPr id="754" name="Google Shape;754;g3fa608e3085_0_0"/>
            <p:cNvGrpSpPr/>
            <p:nvPr/>
          </p:nvGrpSpPr>
          <p:grpSpPr>
            <a:xfrm>
              <a:off x="2888300" y="7277774"/>
              <a:ext cx="1723097" cy="590778"/>
              <a:chOff x="7838420" y="3527567"/>
              <a:chExt cx="144600" cy="407012"/>
            </a:xfrm>
          </p:grpSpPr>
          <p:sp>
            <p:nvSpPr>
              <p:cNvPr id="755" name="Google Shape;755;g3fa608e3085_0_0"/>
              <p:cNvSpPr/>
              <p:nvPr/>
            </p:nvSpPr>
            <p:spPr>
              <a:xfrm>
                <a:off x="7838420" y="3527567"/>
                <a:ext cx="144600" cy="406800"/>
              </a:xfrm>
              <a:prstGeom prst="roundRect">
                <a:avLst>
                  <a:gd fmla="val 16667" name="adj"/>
                </a:avLst>
              </a:prstGeom>
              <a:solidFill>
                <a:schemeClr val="accent5"/>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6" name="Google Shape;756;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57" name="Google Shape;757;g3fa608e3085_0_0"/>
            <p:cNvSpPr txBox="1"/>
            <p:nvPr/>
          </p:nvSpPr>
          <p:spPr>
            <a:xfrm>
              <a:off x="2888200" y="6843825"/>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10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8" name="Google Shape;758;g3fa608e3085_0_0"/>
          <p:cNvGrpSpPr/>
          <p:nvPr/>
        </p:nvGrpSpPr>
        <p:grpSpPr>
          <a:xfrm>
            <a:off x="8677800" y="3003044"/>
            <a:ext cx="1723200" cy="4866586"/>
            <a:chOff x="8677800" y="6309899"/>
            <a:chExt cx="1723200" cy="1559054"/>
          </a:xfrm>
        </p:grpSpPr>
        <p:grpSp>
          <p:nvGrpSpPr>
            <p:cNvPr id="759" name="Google Shape;759;g3fa608e3085_0_0"/>
            <p:cNvGrpSpPr/>
            <p:nvPr/>
          </p:nvGrpSpPr>
          <p:grpSpPr>
            <a:xfrm>
              <a:off x="8677800" y="6474599"/>
              <a:ext cx="1723097" cy="1394354"/>
              <a:chOff x="7838420" y="2974225"/>
              <a:chExt cx="144600" cy="960629"/>
            </a:xfrm>
          </p:grpSpPr>
          <p:sp>
            <p:nvSpPr>
              <p:cNvPr id="760" name="Google Shape;760;g3fa608e3085_0_0"/>
              <p:cNvSpPr/>
              <p:nvPr/>
            </p:nvSpPr>
            <p:spPr>
              <a:xfrm>
                <a:off x="7838420" y="2974225"/>
                <a:ext cx="144600" cy="960300"/>
              </a:xfrm>
              <a:prstGeom prst="roundRect">
                <a:avLst>
                  <a:gd fmla="val 16667" name="adj"/>
                </a:avLst>
              </a:prstGeom>
              <a:solidFill>
                <a:srgbClr val="F2F4FF"/>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1" name="Google Shape;761;g3fa608e3085_0_0"/>
              <p:cNvSpPr txBox="1"/>
              <p:nvPr/>
            </p:nvSpPr>
            <p:spPr>
              <a:xfrm>
                <a:off x="7838420" y="3764455"/>
                <a:ext cx="144600" cy="170400"/>
              </a:xfrm>
              <a:prstGeom prst="rect">
                <a:avLst/>
              </a:prstGeom>
              <a:noFill/>
              <a:ln>
                <a:noFill/>
              </a:ln>
            </p:spPr>
            <p:txBody>
              <a:bodyPr anchorCtr="0" anchor="ctr" bIns="0" lIns="0" spcFirstLastPara="1" rIns="0" wrap="square" tIns="0">
                <a:noAutofit/>
              </a:bodyPr>
              <a:lstStyle/>
              <a:p>
                <a:pPr indent="0" lvl="0" marL="0" rtl="1" algn="ctr">
                  <a:spcBef>
                    <a:spcPts val="0"/>
                  </a:spcBef>
                  <a:spcAft>
                    <a:spcPts val="0"/>
                  </a:spcAft>
                  <a:buNone/>
                </a:pPr>
                <a:r>
                  <a:rPr lang="ar-SA" sz="1161">
                    <a:latin typeface="Readex Pro"/>
                    <a:ea typeface="Readex Pro"/>
                    <a:cs typeface="Readex Pro"/>
                    <a:sym typeface="Readex Pro"/>
                  </a:rPr>
                  <a:t>الموضوع</a:t>
                </a:r>
                <a:endParaRPr sz="1161">
                  <a:solidFill>
                    <a:srgbClr val="000000"/>
                  </a:solidFill>
                  <a:latin typeface="Readex Pro"/>
                  <a:ea typeface="Readex Pro"/>
                  <a:cs typeface="Readex Pro"/>
                  <a:sym typeface="Readex Pro"/>
                </a:endParaRPr>
              </a:p>
            </p:txBody>
          </p:sp>
        </p:grpSp>
        <p:sp>
          <p:nvSpPr>
            <p:cNvPr id="762" name="Google Shape;762;g3fa608e3085_0_0"/>
            <p:cNvSpPr txBox="1"/>
            <p:nvPr/>
          </p:nvSpPr>
          <p:spPr>
            <a:xfrm>
              <a:off x="8677800" y="6309899"/>
              <a:ext cx="17232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100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3" name="Google Shape;763;g3fa608e3085_0_0"/>
          <p:cNvGrpSpPr/>
          <p:nvPr/>
        </p:nvGrpSpPr>
        <p:grpSpPr>
          <a:xfrm>
            <a:off x="14500050" y="3699260"/>
            <a:ext cx="1723200" cy="4169464"/>
            <a:chOff x="14500050" y="6309902"/>
            <a:chExt cx="1723200" cy="1558736"/>
          </a:xfrm>
        </p:grpSpPr>
        <p:grpSp>
          <p:nvGrpSpPr>
            <p:cNvPr id="764" name="Google Shape;764;g3fa608e3085_0_0"/>
            <p:cNvGrpSpPr/>
            <p:nvPr/>
          </p:nvGrpSpPr>
          <p:grpSpPr>
            <a:xfrm>
              <a:off x="14500050" y="6575033"/>
              <a:ext cx="1723097" cy="1293605"/>
              <a:chOff x="7838420" y="3043418"/>
              <a:chExt cx="144600" cy="891220"/>
            </a:xfrm>
          </p:grpSpPr>
          <p:sp>
            <p:nvSpPr>
              <p:cNvPr id="765" name="Google Shape;765;g3fa608e3085_0_0"/>
              <p:cNvSpPr/>
              <p:nvPr/>
            </p:nvSpPr>
            <p:spPr>
              <a:xfrm>
                <a:off x="7838420" y="3043418"/>
                <a:ext cx="144600" cy="891000"/>
              </a:xfrm>
              <a:prstGeom prst="roundRect">
                <a:avLst>
                  <a:gd fmla="val 16667" name="adj"/>
                </a:avLst>
              </a:prstGeom>
              <a:solidFill>
                <a:srgbClr val="6150EA"/>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6" name="Google Shape;766;g3fa608e3085_0_0"/>
              <p:cNvSpPr txBox="1"/>
              <p:nvPr/>
            </p:nvSpPr>
            <p:spPr>
              <a:xfrm>
                <a:off x="7838420" y="3803838"/>
                <a:ext cx="144600" cy="13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67" name="Google Shape;767;g3fa608e3085_0_0"/>
            <p:cNvSpPr txBox="1"/>
            <p:nvPr/>
          </p:nvSpPr>
          <p:spPr>
            <a:xfrm>
              <a:off x="14500050" y="6309902"/>
              <a:ext cx="1723200" cy="23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80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8" name="Google Shape;768;g3fa608e3085_0_0"/>
          <p:cNvGrpSpPr/>
          <p:nvPr/>
        </p:nvGrpSpPr>
        <p:grpSpPr>
          <a:xfrm>
            <a:off x="11588925" y="4790547"/>
            <a:ext cx="1723200" cy="3078036"/>
            <a:chOff x="11588925" y="5315225"/>
            <a:chExt cx="1723200" cy="2553327"/>
          </a:xfrm>
        </p:grpSpPr>
        <p:grpSp>
          <p:nvGrpSpPr>
            <p:cNvPr id="769" name="Google Shape;769;g3fa608e3085_0_0"/>
            <p:cNvGrpSpPr/>
            <p:nvPr/>
          </p:nvGrpSpPr>
          <p:grpSpPr>
            <a:xfrm>
              <a:off x="11588925" y="5806027"/>
              <a:ext cx="1723097" cy="2062526"/>
              <a:chOff x="7838420" y="2513618"/>
              <a:chExt cx="144600" cy="1420961"/>
            </a:xfrm>
          </p:grpSpPr>
          <p:sp>
            <p:nvSpPr>
              <p:cNvPr id="770" name="Google Shape;770;g3fa608e3085_0_0"/>
              <p:cNvSpPr/>
              <p:nvPr/>
            </p:nvSpPr>
            <p:spPr>
              <a:xfrm>
                <a:off x="7838420" y="2513618"/>
                <a:ext cx="144600" cy="1420800"/>
              </a:xfrm>
              <a:prstGeom prst="roundRect">
                <a:avLst>
                  <a:gd fmla="val 16667" name="adj"/>
                </a:avLst>
              </a:prstGeom>
              <a:solidFill>
                <a:srgbClr val="2EF2C2"/>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71" name="Google Shape;77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72" name="Google Shape;772;g3fa608e3085_0_0"/>
            <p:cNvSpPr txBox="1"/>
            <p:nvPr/>
          </p:nvSpPr>
          <p:spPr>
            <a:xfrm>
              <a:off x="11588925" y="5315225"/>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60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cxnSp>
        <p:nvCxnSpPr>
          <p:cNvPr id="773" name="Google Shape;773;g3fa608e3085_0_0"/>
          <p:cNvCxnSpPr/>
          <p:nvPr/>
        </p:nvCxnSpPr>
        <p:spPr>
          <a:xfrm flipH="1" rot="10800000">
            <a:off x="2011600" y="3016275"/>
            <a:ext cx="24000" cy="4866600"/>
          </a:xfrm>
          <a:prstGeom prst="straightConnector1">
            <a:avLst/>
          </a:prstGeom>
          <a:noFill/>
          <a:ln cap="flat" cmpd="sng" w="9525">
            <a:solidFill>
              <a:srgbClr val="FAF9FF"/>
            </a:solidFill>
            <a:prstDash val="solid"/>
            <a:round/>
            <a:headEnd len="med" w="med" type="diamond"/>
            <a:tailEnd len="med" w="med" type="triangle"/>
          </a:ln>
        </p:spPr>
      </p:cxnSp>
      <p:sp>
        <p:nvSpPr>
          <p:cNvPr id="774" name="Google Shape;774;g3fa608e3085_0_0"/>
          <p:cNvSpPr txBox="1"/>
          <p:nvPr/>
        </p:nvSpPr>
        <p:spPr>
          <a:xfrm>
            <a:off x="1427184" y="768740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0</a:t>
            </a:r>
            <a:endParaRPr sz="800">
              <a:solidFill>
                <a:srgbClr val="F2F4FF"/>
              </a:solidFill>
              <a:latin typeface="Readex Pro"/>
              <a:ea typeface="Readex Pro"/>
              <a:cs typeface="Readex Pro"/>
              <a:sym typeface="Readex Pro"/>
            </a:endParaRPr>
          </a:p>
        </p:txBody>
      </p:sp>
      <p:sp>
        <p:nvSpPr>
          <p:cNvPr id="775" name="Google Shape;775;g3fa608e3085_0_0"/>
          <p:cNvSpPr txBox="1"/>
          <p:nvPr/>
        </p:nvSpPr>
        <p:spPr>
          <a:xfrm>
            <a:off x="1427184" y="721611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a:t>
            </a:r>
            <a:endParaRPr sz="800">
              <a:solidFill>
                <a:srgbClr val="F2F4FF"/>
              </a:solidFill>
              <a:latin typeface="Readex Pro"/>
              <a:ea typeface="Readex Pro"/>
              <a:cs typeface="Readex Pro"/>
              <a:sym typeface="Readex Pro"/>
            </a:endParaRPr>
          </a:p>
        </p:txBody>
      </p:sp>
      <p:sp>
        <p:nvSpPr>
          <p:cNvPr id="776" name="Google Shape;776;g3fa608e3085_0_0"/>
          <p:cNvSpPr txBox="1"/>
          <p:nvPr/>
        </p:nvSpPr>
        <p:spPr>
          <a:xfrm>
            <a:off x="1427184" y="6744822"/>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20</a:t>
            </a:r>
            <a:endParaRPr sz="800">
              <a:solidFill>
                <a:srgbClr val="F2F4FF"/>
              </a:solidFill>
              <a:latin typeface="Readex Pro"/>
              <a:ea typeface="Readex Pro"/>
              <a:cs typeface="Readex Pro"/>
              <a:sym typeface="Readex Pro"/>
            </a:endParaRPr>
          </a:p>
        </p:txBody>
      </p:sp>
      <p:sp>
        <p:nvSpPr>
          <p:cNvPr id="777" name="Google Shape;777;g3fa608e3085_0_0"/>
          <p:cNvSpPr txBox="1"/>
          <p:nvPr/>
        </p:nvSpPr>
        <p:spPr>
          <a:xfrm>
            <a:off x="1427184" y="6273534"/>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30</a:t>
            </a:r>
            <a:endParaRPr sz="800">
              <a:solidFill>
                <a:srgbClr val="F2F4FF"/>
              </a:solidFill>
              <a:latin typeface="Readex Pro"/>
              <a:ea typeface="Readex Pro"/>
              <a:cs typeface="Readex Pro"/>
              <a:sym typeface="Readex Pro"/>
            </a:endParaRPr>
          </a:p>
        </p:txBody>
      </p:sp>
      <p:sp>
        <p:nvSpPr>
          <p:cNvPr id="778" name="Google Shape;778;g3fa608e3085_0_0"/>
          <p:cNvSpPr txBox="1"/>
          <p:nvPr/>
        </p:nvSpPr>
        <p:spPr>
          <a:xfrm>
            <a:off x="1427184" y="5802245"/>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40</a:t>
            </a:r>
            <a:endParaRPr sz="800">
              <a:solidFill>
                <a:srgbClr val="F2F4FF"/>
              </a:solidFill>
              <a:latin typeface="Readex Pro"/>
              <a:ea typeface="Readex Pro"/>
              <a:cs typeface="Readex Pro"/>
              <a:sym typeface="Readex Pro"/>
            </a:endParaRPr>
          </a:p>
        </p:txBody>
      </p:sp>
      <p:sp>
        <p:nvSpPr>
          <p:cNvPr id="779" name="Google Shape;779;g3fa608e3085_0_0"/>
          <p:cNvSpPr txBox="1"/>
          <p:nvPr/>
        </p:nvSpPr>
        <p:spPr>
          <a:xfrm>
            <a:off x="1427184" y="5330956"/>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50</a:t>
            </a:r>
            <a:endParaRPr sz="800">
              <a:solidFill>
                <a:srgbClr val="F2F4FF"/>
              </a:solidFill>
              <a:latin typeface="Readex Pro"/>
              <a:ea typeface="Readex Pro"/>
              <a:cs typeface="Readex Pro"/>
              <a:sym typeface="Readex Pro"/>
            </a:endParaRPr>
          </a:p>
        </p:txBody>
      </p:sp>
      <p:sp>
        <p:nvSpPr>
          <p:cNvPr id="780" name="Google Shape;780;g3fa608e3085_0_0"/>
          <p:cNvSpPr txBox="1"/>
          <p:nvPr/>
        </p:nvSpPr>
        <p:spPr>
          <a:xfrm>
            <a:off x="1427184" y="4859667"/>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60</a:t>
            </a:r>
            <a:endParaRPr sz="800">
              <a:solidFill>
                <a:srgbClr val="F2F4FF"/>
              </a:solidFill>
              <a:latin typeface="Readex Pro"/>
              <a:ea typeface="Readex Pro"/>
              <a:cs typeface="Readex Pro"/>
              <a:sym typeface="Readex Pro"/>
            </a:endParaRPr>
          </a:p>
        </p:txBody>
      </p:sp>
      <p:sp>
        <p:nvSpPr>
          <p:cNvPr id="781" name="Google Shape;781;g3fa608e3085_0_0"/>
          <p:cNvSpPr txBox="1"/>
          <p:nvPr/>
        </p:nvSpPr>
        <p:spPr>
          <a:xfrm>
            <a:off x="1427184" y="4388379"/>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70</a:t>
            </a:r>
            <a:endParaRPr sz="800">
              <a:solidFill>
                <a:srgbClr val="F2F4FF"/>
              </a:solidFill>
              <a:latin typeface="Readex Pro"/>
              <a:ea typeface="Readex Pro"/>
              <a:cs typeface="Readex Pro"/>
              <a:sym typeface="Readex Pro"/>
            </a:endParaRPr>
          </a:p>
        </p:txBody>
      </p:sp>
      <p:sp>
        <p:nvSpPr>
          <p:cNvPr id="782" name="Google Shape;782;g3fa608e3085_0_0"/>
          <p:cNvSpPr txBox="1"/>
          <p:nvPr/>
        </p:nvSpPr>
        <p:spPr>
          <a:xfrm>
            <a:off x="1427184" y="391709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80</a:t>
            </a:r>
            <a:endParaRPr sz="800">
              <a:solidFill>
                <a:srgbClr val="F2F4FF"/>
              </a:solidFill>
              <a:latin typeface="Readex Pro"/>
              <a:ea typeface="Readex Pro"/>
              <a:cs typeface="Readex Pro"/>
              <a:sym typeface="Readex Pro"/>
            </a:endParaRPr>
          </a:p>
        </p:txBody>
      </p:sp>
      <p:sp>
        <p:nvSpPr>
          <p:cNvPr id="783" name="Google Shape;783;g3fa608e3085_0_0"/>
          <p:cNvSpPr txBox="1"/>
          <p:nvPr/>
        </p:nvSpPr>
        <p:spPr>
          <a:xfrm>
            <a:off x="1427184" y="344580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90</a:t>
            </a:r>
            <a:endParaRPr sz="800">
              <a:solidFill>
                <a:srgbClr val="F2F4FF"/>
              </a:solidFill>
              <a:latin typeface="Readex Pro"/>
              <a:ea typeface="Readex Pro"/>
              <a:cs typeface="Readex Pro"/>
              <a:sym typeface="Readex Pro"/>
            </a:endParaRPr>
          </a:p>
        </p:txBody>
      </p:sp>
      <p:sp>
        <p:nvSpPr>
          <p:cNvPr id="784" name="Google Shape;784;g3fa608e3085_0_0"/>
          <p:cNvSpPr txBox="1"/>
          <p:nvPr/>
        </p:nvSpPr>
        <p:spPr>
          <a:xfrm>
            <a:off x="1372725" y="3025575"/>
            <a:ext cx="5148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100</a:t>
            </a:r>
            <a:endParaRPr sz="800">
              <a:solidFill>
                <a:srgbClr val="F2F4FF"/>
              </a:solidFill>
              <a:latin typeface="Readex Pro"/>
              <a:ea typeface="Readex Pro"/>
              <a:cs typeface="Readex Pro"/>
              <a:sym typeface="Readex Pro"/>
            </a:endParaRPr>
          </a:p>
        </p:txBody>
      </p:sp>
      <p:pic>
        <p:nvPicPr>
          <p:cNvPr id="785" name="Google Shape;785;g3fa608e3085_0_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786" name="Google Shape;786;g3fa608e3085_0_0"/>
          <p:cNvCxnSpPr/>
          <p:nvPr/>
        </p:nvCxnSpPr>
        <p:spPr>
          <a:xfrm rot="10800000">
            <a:off x="2289875" y="7941775"/>
            <a:ext cx="14453700" cy="0"/>
          </a:xfrm>
          <a:prstGeom prst="straightConnector1">
            <a:avLst/>
          </a:prstGeom>
          <a:noFill/>
          <a:ln cap="flat" cmpd="sng" w="9525">
            <a:solidFill>
              <a:srgbClr val="8E99CC"/>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p23"/>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93" name="Google Shape;793;p2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مصادر السنة المعتمدة</a:t>
            </a:r>
            <a:endParaRPr/>
          </a:p>
        </p:txBody>
      </p:sp>
      <p:sp>
        <p:nvSpPr>
          <p:cNvPr id="794" name="Google Shape;794;p2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توزيع المتون المسندة المفهرسة في النظام</a:t>
            </a:r>
            <a:endParaRPr/>
          </a:p>
        </p:txBody>
      </p:sp>
      <p:sp>
        <p:nvSpPr>
          <p:cNvPr id="795" name="Google Shape;795;p23"/>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صحيح البخاري، صحيح مسلم، والأربعون النووية</a:t>
            </a:r>
            <a:endParaRPr/>
          </a:p>
        </p:txBody>
      </p:sp>
      <p:sp>
        <p:nvSpPr>
          <p:cNvPr id="796" name="Google Shape;796;p2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97" name="Google Shape;797;p23"/>
          <p:cNvSpPr txBox="1"/>
          <p:nvPr>
            <p:ph idx="3" type="body"/>
          </p:nvPr>
        </p:nvSpPr>
        <p:spPr>
          <a:xfrm>
            <a:off x="1409700" y="890587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قاعدة بيانات بَيّنة AI (251 متناً مسنداً)</a:t>
            </a:r>
            <a:endParaRPr/>
          </a:p>
        </p:txBody>
      </p:sp>
      <p:grpSp>
        <p:nvGrpSpPr>
          <p:cNvPr id="798" name="Google Shape;798;p23"/>
          <p:cNvGrpSpPr/>
          <p:nvPr/>
        </p:nvGrpSpPr>
        <p:grpSpPr>
          <a:xfrm>
            <a:off x="6531752" y="3082259"/>
            <a:ext cx="5501766" cy="5503883"/>
            <a:chOff x="9818123" y="3876685"/>
            <a:chExt cx="3913341" cy="3914847"/>
          </a:xfrm>
        </p:grpSpPr>
        <p:grpSp>
          <p:nvGrpSpPr>
            <p:cNvPr id="799" name="Google Shape;799;p23"/>
            <p:cNvGrpSpPr/>
            <p:nvPr/>
          </p:nvGrpSpPr>
          <p:grpSpPr>
            <a:xfrm>
              <a:off x="9818123" y="3876685"/>
              <a:ext cx="3913341" cy="3914847"/>
              <a:chOff x="7227167" y="3027486"/>
              <a:chExt cx="1559100" cy="1559700"/>
            </a:xfrm>
          </p:grpSpPr>
          <p:sp>
            <p:nvSpPr>
              <p:cNvPr id="800" name="Google Shape;800;p23"/>
              <p:cNvSpPr/>
              <p:nvPr/>
            </p:nvSpPr>
            <p:spPr>
              <a:xfrm rot="2694635">
                <a:off x="7471537" y="3255980"/>
                <a:ext cx="1087390" cy="1087390"/>
              </a:xfrm>
              <a:prstGeom prst="ellipse">
                <a:avLst/>
              </a:prstGeom>
              <a:solidFill>
                <a:srgbClr val="6150EA"/>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id="801" name="Google Shape;801;p23"/>
              <p:cNvSpPr/>
              <p:nvPr/>
            </p:nvSpPr>
            <p:spPr>
              <a:xfrm>
                <a:off x="7455575" y="3255975"/>
                <a:ext cx="1102500" cy="1102500"/>
              </a:xfrm>
              <a:prstGeom prst="pie">
                <a:avLst>
                  <a:gd fmla="val 0" name="adj1"/>
                  <a:gd fmla="val 16200000" name="adj2"/>
                </a:avLst>
              </a:prstGeom>
              <a:solidFill>
                <a:srgbClr val="2EF2C2"/>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descr="A pie chart comparing sales across online stores, physical stores, and social media. " id="802" name="Google Shape;802;p23"/>
              <p:cNvSpPr/>
              <p:nvPr/>
            </p:nvSpPr>
            <p:spPr>
              <a:xfrm rot="2701323">
                <a:off x="7455386" y="3256005"/>
                <a:ext cx="1102662" cy="1102662"/>
              </a:xfrm>
              <a:prstGeom prst="pie">
                <a:avLst>
                  <a:gd fmla="val 2686087" name="adj1"/>
                  <a:gd fmla="val 13563496" name="adj2"/>
                </a:avLst>
              </a:prstGeom>
              <a:solidFill>
                <a:schemeClr val="accent1"/>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grpSp>
        <p:sp>
          <p:nvSpPr>
            <p:cNvPr id="803" name="Google Shape;803;p23"/>
            <p:cNvSpPr/>
            <p:nvPr/>
          </p:nvSpPr>
          <p:spPr>
            <a:xfrm>
              <a:off x="11022135" y="5060983"/>
              <a:ext cx="1546200" cy="1546200"/>
            </a:xfrm>
            <a:prstGeom prst="ellipse">
              <a:avLst/>
            </a:prstGeom>
            <a:solidFill>
              <a:srgbClr val="12183F"/>
            </a:solidFill>
            <a:ln cap="flat" cmpd="sng" w="13400">
              <a:solidFill>
                <a:schemeClr val="dk2"/>
              </a:solidFill>
              <a:prstDash val="solid"/>
              <a:round/>
              <a:headEnd len="sm" w="sm" type="none"/>
              <a:tailEnd len="sm" w="sm" type="none"/>
            </a:ln>
          </p:spPr>
          <p:txBody>
            <a:bodyPr anchorCtr="0" anchor="ctr" bIns="128525" lIns="128525" spcFirstLastPara="1" rIns="128525" wrap="square" tIns="128525">
              <a:noAutofit/>
            </a:bodyPr>
            <a:lstStyle/>
            <a:p>
              <a:pPr indent="0" lvl="0" marL="0" rtl="0" algn="ctr">
                <a:spcBef>
                  <a:spcPts val="0"/>
                </a:spcBef>
                <a:spcAft>
                  <a:spcPts val="0"/>
                </a:spcAft>
                <a:buNone/>
              </a:pPr>
              <a:r>
                <a:t/>
              </a:r>
              <a:endParaRPr sz="1968"/>
            </a:p>
          </p:txBody>
        </p:sp>
      </p:grpSp>
      <p:sp>
        <p:nvSpPr>
          <p:cNvPr id="804" name="Google Shape;804;p23"/>
          <p:cNvSpPr txBox="1"/>
          <p:nvPr/>
        </p:nvSpPr>
        <p:spPr>
          <a:xfrm>
            <a:off x="5810250" y="563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50%</a:t>
            </a:r>
            <a:endParaRPr sz="1451">
              <a:solidFill>
                <a:schemeClr val="lt1"/>
              </a:solidFill>
              <a:latin typeface="Readex Pro SemiBold"/>
              <a:ea typeface="Readex Pro SemiBold"/>
              <a:cs typeface="Readex Pro SemiBold"/>
              <a:sym typeface="Readex Pro SemiBold"/>
            </a:endParaRPr>
          </a:p>
        </p:txBody>
      </p:sp>
      <p:sp>
        <p:nvSpPr>
          <p:cNvPr id="805" name="Google Shape;805;p23"/>
          <p:cNvSpPr txBox="1"/>
          <p:nvPr/>
        </p:nvSpPr>
        <p:spPr>
          <a:xfrm>
            <a:off x="5810250" y="602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صحيح البخاري</a:t>
            </a:r>
            <a:endParaRPr sz="1451">
              <a:solidFill>
                <a:schemeClr val="lt1"/>
              </a:solidFill>
              <a:latin typeface="Readex Pro SemiBold"/>
              <a:ea typeface="Readex Pro SemiBold"/>
              <a:cs typeface="Readex Pro SemiBold"/>
              <a:sym typeface="Readex Pro SemiBold"/>
            </a:endParaRPr>
          </a:p>
        </p:txBody>
      </p:sp>
      <p:sp>
        <p:nvSpPr>
          <p:cNvPr id="806" name="Google Shape;806;p23"/>
          <p:cNvSpPr txBox="1"/>
          <p:nvPr/>
        </p:nvSpPr>
        <p:spPr>
          <a:xfrm>
            <a:off x="11017250" y="3994938"/>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25</a:t>
            </a:r>
            <a:r>
              <a:rPr lang="ar-SA" sz="1451">
                <a:solidFill>
                  <a:schemeClr val="lt1"/>
                </a:solidFill>
                <a:latin typeface="Readex Pro SemiBold"/>
                <a:ea typeface="Readex Pro SemiBold"/>
                <a:cs typeface="Readex Pro SemiBold"/>
                <a:sym typeface="Readex Pro SemiBold"/>
              </a:rPr>
              <a:t>%</a:t>
            </a:r>
            <a:endParaRPr sz="1451">
              <a:solidFill>
                <a:schemeClr val="lt1"/>
              </a:solidFill>
              <a:latin typeface="Readex Pro SemiBold"/>
              <a:ea typeface="Readex Pro SemiBold"/>
              <a:cs typeface="Readex Pro SemiBold"/>
              <a:sym typeface="Readex Pro SemiBold"/>
            </a:endParaRPr>
          </a:p>
        </p:txBody>
      </p:sp>
      <p:sp>
        <p:nvSpPr>
          <p:cNvPr id="807" name="Google Shape;807;p23"/>
          <p:cNvSpPr txBox="1"/>
          <p:nvPr/>
        </p:nvSpPr>
        <p:spPr>
          <a:xfrm>
            <a:off x="11017250" y="4385450"/>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صحيح مسلم</a:t>
            </a:r>
            <a:endParaRPr sz="1451">
              <a:solidFill>
                <a:schemeClr val="lt1"/>
              </a:solidFill>
              <a:latin typeface="Readex Pro SemiBold"/>
              <a:ea typeface="Readex Pro SemiBold"/>
              <a:cs typeface="Readex Pro SemiBold"/>
              <a:sym typeface="Readex Pro SemiBold"/>
            </a:endParaRPr>
          </a:p>
        </p:txBody>
      </p:sp>
      <p:sp>
        <p:nvSpPr>
          <p:cNvPr id="808" name="Google Shape;808;p23"/>
          <p:cNvSpPr txBox="1"/>
          <p:nvPr/>
        </p:nvSpPr>
        <p:spPr>
          <a:xfrm>
            <a:off x="11017250" y="690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25</a:t>
            </a:r>
            <a:r>
              <a:rPr lang="ar-SA" sz="1451">
                <a:solidFill>
                  <a:schemeClr val="lt1"/>
                </a:solidFill>
                <a:latin typeface="Readex Pro SemiBold"/>
                <a:ea typeface="Readex Pro SemiBold"/>
                <a:cs typeface="Readex Pro SemiBold"/>
                <a:sym typeface="Readex Pro SemiBold"/>
              </a:rPr>
              <a:t>%</a:t>
            </a:r>
            <a:endParaRPr sz="1451">
              <a:solidFill>
                <a:schemeClr val="lt1"/>
              </a:solidFill>
              <a:latin typeface="Readex Pro SemiBold"/>
              <a:ea typeface="Readex Pro SemiBold"/>
              <a:cs typeface="Readex Pro SemiBold"/>
              <a:sym typeface="Readex Pro SemiBold"/>
            </a:endParaRPr>
          </a:p>
        </p:txBody>
      </p:sp>
      <p:sp>
        <p:nvSpPr>
          <p:cNvPr id="809" name="Google Shape;809;p23"/>
          <p:cNvSpPr txBox="1"/>
          <p:nvPr/>
        </p:nvSpPr>
        <p:spPr>
          <a:xfrm>
            <a:off x="11017250" y="729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الأربعون النووية</a:t>
            </a:r>
            <a:endParaRPr sz="1451">
              <a:solidFill>
                <a:schemeClr val="lt1"/>
              </a:solidFill>
              <a:latin typeface="Readex Pro SemiBold"/>
              <a:ea typeface="Readex Pro SemiBold"/>
              <a:cs typeface="Readex Pro SemiBold"/>
              <a:sym typeface="Readex Pro SemiBold"/>
            </a:endParaRPr>
          </a:p>
        </p:txBody>
      </p:sp>
      <p:sp>
        <p:nvSpPr>
          <p:cNvPr id="810" name="Google Shape;810;p23"/>
          <p:cNvSpPr txBox="1"/>
          <p:nvPr/>
        </p:nvSpPr>
        <p:spPr>
          <a:xfrm>
            <a:off x="1790508" y="8033292"/>
            <a:ext cx="146856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فهرسة هجينة متكاملة موثقة بالأرقام والأبواب</a:t>
            </a:r>
            <a:endParaRPr sz="1451">
              <a:solidFill>
                <a:srgbClr val="FFFFFF"/>
              </a:solidFill>
              <a:latin typeface="Readex Pro SemiBold"/>
              <a:ea typeface="Readex Pro SemiBold"/>
              <a:cs typeface="Readex Pro SemiBold"/>
              <a:sym typeface="Readex Pro SemiBold"/>
            </a:endParaRPr>
          </a:p>
        </p:txBody>
      </p:sp>
      <p:pic>
        <p:nvPicPr>
          <p:cNvPr id="811" name="Google Shape;811;p2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المعمارية الهندسية</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آلية عمل المحرك ومسار البيانات المتكامل</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خط أنابيب برمجي يربط بين استعلام المستخدم والمخرج المحقق خلال أجزاء من الثانية</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t>المدخلات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t>استعلام المستخدم (متن، صياغة معاصرة، أو شبهة)</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t>تطبيع لغوي وإزالة التشكيل واستخراج الكلمات المفتاحية</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t>المعالجة والبحث</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t>توليد التضمين الدلالي وبحث هجين متزامن</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t>مطابقة متجهات HNSW مع البحث النصي TSV في PostgreSQL</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t>التحكيم والفرز</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t>دمج الترتيب بـ RRF وتطبيق عتبة الثقة</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t>توليد الشرح الدلالي بـ Gemini أو إطلاق الرفض الذكي</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t>المخرجات والأثر</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t>بطاقة إسناد معتمدة قابلة للتصدير (TXT/HTML)</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t>توثيق قطعي فوري يحمي المحتوى الإسلامي من التحريف</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p25"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33" name="Google Shape;833;p2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34" name="Google Shape;834;p25" descr="slide_preview-4.png"/>
          <p:cNvPicPr>
            <a:picLocks noGrp="1" noChangeAspect="1"/>
          </p:cNvPicPr>
          <p:nvPr>
            <p:ph idx="2" type="pic"/>
          </p:nvPr>
        </p:nvPicPr>
        <p:blipFill>
          <a:blip r:embed="rId4"/>
          <a:srcRect t="11829" b="11829"/>
          <a:stretch>
            <a:fillRect/>
          </a:stretch>
        </p:blipFill>
        <p:spPr/>
      </p:pic>
      <p:sp>
        <p:nvSpPr>
          <p:cNvPr id="835" name="Google Shape;835;p25"/>
          <p:cNvSpPr txBox="1"/>
          <p:nvPr>
            <p:ph type="title"/>
          </p:nvPr>
        </p:nvSpPr>
        <p:spPr>
          <a:xfrm>
            <a:off x="2038350" y="7962900"/>
            <a:ext cx="14763900" cy="838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900"/>
              <a:buNone/>
            </a:pPr>
            <a:r>
              <a:t>معمارية التحقق الهجين: دمج البحث الدلالي والمعجمي</a:t>
            </a:r>
            <a:endParaRPr/>
          </a:p>
        </p:txBody>
      </p:sp>
      <p:sp>
        <p:nvSpPr>
          <p:cNvPr id="836" name="Google Shape;836;p25"/>
          <p:cNvSpPr txBox="1"/>
          <p:nvPr>
            <p:ph idx="1" type="body"/>
          </p:nvPr>
        </p:nvSpPr>
        <p:spPr>
          <a:xfrm>
            <a:off x="1990725" y="8824913"/>
            <a:ext cx="14763900" cy="428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100"/>
              <a:buNone/>
            </a:pPr>
            <a:r>
              <a:t>مسار تدفق البيانات في محرك بَيّنة AI من الاستعلام إلى بطاقة الإسناد المعتمدة</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معرض الواجهات</a:t>
            </a:r>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واجهات الاستخدام التفاعلية لمنظومة بَيّنة AI</a:t>
            </a:r>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46" name="Google Shape;846;p26" descr="slide_preview-2.png"/>
          <p:cNvPicPr>
            <a:picLocks noGrp="1" noChangeAspect="1"/>
          </p:cNvPicPr>
          <p:nvPr>
            <p:ph idx="2" type="pic"/>
          </p:nvPr>
        </p:nvPicPr>
        <p:blipFill>
          <a:blip r:embed="rId5"/>
          <a:srcRect l="18751" r="18751"/>
          <a:stretch>
            <a:fillRect/>
          </a:stretch>
        </p:blipFill>
        <p:spPr/>
      </p:pic>
      <p:sp>
        <p:nvSpPr>
          <p:cNvPr id="847" name="Google Shape;847;p26"/>
          <p:cNvSpPr txBox="1"/>
          <p:nvPr>
            <p:ph idx="3" type="body"/>
          </p:nvPr>
        </p:nvSpPr>
        <p:spPr>
          <a:xfrm>
            <a:off x="121158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شاشة الفحص والتحقق الفوري مع سيناريوهات التجربة السريعة بنقرة واحدة.</a:t>
            </a:r>
            <a:endParaRPr/>
          </a:p>
        </p:txBody>
      </p:sp>
      <p:sp>
        <p:nvSpPr>
          <p:cNvPr id="848" name="Google Shape;848;p26"/>
          <p:cNvSpPr txBox="1"/>
          <p:nvPr>
            <p:ph idx="5" type="body"/>
          </p:nvPr>
        </p:nvSpPr>
        <p:spPr>
          <a:xfrm>
            <a:off x="676275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بطاقة الإسناد المعتمدة المبرزة مع التحليل الدلالي والمفاهيم المشتركة.</a:t>
            </a:r>
            <a:endParaRPr/>
          </a:p>
        </p:txBody>
      </p:sp>
      <p:sp>
        <p:nvSpPr>
          <p:cNvPr id="849" name="Google Shape;849;p26"/>
          <p:cNvSpPr txBox="1"/>
          <p:nvPr>
            <p:ph idx="7" type="body"/>
          </p:nvPr>
        </p:nvSpPr>
        <p:spPr>
          <a:xfrm>
            <a:off x="14097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نافذة التصدير الرقمي لتنزيل شهادات التحقق (TXT) وبطاقات النشر (HTML).</a:t>
            </a:r>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pic>
        <p:nvPicPr>
          <p:cNvPr id="851" name="Google Shape;851;p26" descr="slide_preview-3.png"/>
          <p:cNvPicPr>
            <a:picLocks noGrp="1" noChangeAspect="1"/>
          </p:cNvPicPr>
          <p:nvPr>
            <p:ph idx="2" type="pic"/>
          </p:nvPr>
        </p:nvPicPr>
        <p:blipFill>
          <a:blip r:embed="rId6"/>
          <a:srcRect l="18751" r="18751"/>
          <a:stretch>
            <a:fillRect/>
          </a:stretch>
        </p:blipFill>
        <p:spPr/>
      </p:pic>
      <p:pic>
        <p:nvPicPr>
          <p:cNvPr id="852" name="Google Shape;852;p26" descr="slide_preview-6.png"/>
          <p:cNvPicPr>
            <a:picLocks noGrp="1" noChangeAspect="1"/>
          </p:cNvPicPr>
          <p:nvPr>
            <p:ph idx="2" type="pic"/>
          </p:nvPr>
        </p:nvPicPr>
        <p:blipFill>
          <a:blip r:embed="rId7"/>
          <a:srcRect l="18751" r="18751"/>
          <a:stretch>
            <a:fillRect/>
          </a:stretch>
        </p:blipFill>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مكونات النظام</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المكونات الهندسية الأساسية لمنظومة بَيّنة AI</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بنية تقنية موجهة للإنتاج والاعتمادية العالية</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قاعدة البيانات المتجهية</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PostgreSQL مع امتداد pgvector لتخزين واسترجاع متجهات التضمين وفهارس HNSW بكفاءة فائقة.</a:t>
            </a:r>
            <a:endParaRPr/>
          </a:p>
          <a:p>
            <a:pPr indent="0" lvl="0" marL="0" rtl="1" algn="ctr">
              <a:lnSpc>
                <a:spcPct val="100000"/>
              </a:lnSpc>
              <a:spcBef>
                <a:spcPts val="0"/>
              </a:spcBef>
              <a:spcAft>
                <a:spcPts val="0"/>
              </a:spcAft>
              <a:buSzPts val="2250"/>
              <a:buNone/>
            </a:pP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محرك التضمين الدلالي</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text-embedding-004 المخصص لاستيعاب البلاغة العربية وفهم دلالات الألفاظ الشرعية بدقة.</a:t>
            </a:r>
            <a:endParaRPr/>
          </a:p>
          <a:p>
            <a:pPr indent="0" lvl="0" marL="0" rtl="1" algn="ctr">
              <a:lnSpc>
                <a:spcPct val="100000"/>
              </a:lnSpc>
              <a:spcBef>
                <a:spcPts val="0"/>
              </a:spcBef>
              <a:spcAft>
                <a:spcPts val="0"/>
              </a:spcAft>
              <a:buSzPts val="2250"/>
              <a:buNone/>
            </a:pP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طبقة التحكيم والأمان</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خوارزمية RRF مع بروتوكول الرفض الذكي لمكافحة الهلوسة ونفي الروايات غير المسندة.</a:t>
            </a:r>
            <a:endParaRPr/>
          </a:p>
          <a:p>
            <a:pPr indent="0" lvl="0" marL="0" rtl="1" algn="ctr">
              <a:lnSpc>
                <a:spcPct val="100000"/>
              </a:lnSpc>
              <a:spcBef>
                <a:spcPts val="0"/>
              </a:spcBef>
              <a:spcAft>
                <a:spcPts val="0"/>
              </a:spcAft>
              <a:buSzPts val="2250"/>
              <a:buNone/>
            </a:pP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الواجهة ومنصة التصدير</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واجهة Streamlit حديثة وسريعة تتيح فحص المتون وتنزيل شهادات التحقق وبطاقات النشر الرقمية.</a:t>
            </a:r>
            <a:endParaRPr/>
          </a:p>
          <a:p>
            <a:pPr indent="0" lvl="0" marL="0" rtl="1" algn="ctr">
              <a:lnSpc>
                <a:spcPct val="100000"/>
              </a:lnSpc>
              <a:spcBef>
                <a:spcPts val="0"/>
              </a:spcBef>
              <a:spcAft>
                <a:spcPts val="0"/>
              </a:spcAft>
              <a:buSzPts val="225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t>المقارنة والتميز</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t>محرك بَيّنة AI مقابل نماذج الذكاء الاصطناعي العامة</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t>لماذا تتفوق الأنظمة المقيدة بالاسترجاع (Grounded) على النماذج التوليدية؟</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محرك بَيّنة AI (Grounded RAG)</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منظومة استدلال مقيدة حصراً بمتون السنة المسندة</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نماذج الذكاء الاصطناعي العامة (LLMs)</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روبوتات المحادثة التجارية المفتوحة (ChatGPT, Claude, etc.)</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t>الميزة: نسبة هلوسة 0% وتوثيق قطعي برقم الحديث والمصدر المعتمد.</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t>القيد: يلتزم بحدود الأصول المسندة دون أي توليد حر أو استنباط غير منصوص.</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t>الملاءمة: مثالي للباحثين، الدعاة، وصناع المحتوى والمنصات الرقمية الكبرى.</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t>الميزة: قدرة لغوية عامة وتوليد إنشائي طليق في مختلف المواضيع.</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t>القيد: احتمالية عالية لاختلاق أحاديث وروايات وهمية وتضليل معرفي خطير.</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t>الملاءمة: غير آمنة للاستدلال والتحقق الشرعي وتفتقر لتوثيق الأسانيد المعتمدة.</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2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901" name="TextBox 900"/>
          <p:cNvSpPr txBox="1"/>
          <p:nvPr/>
        </p:nvSpPr>
        <p:spPr>
          <a:xfrm>
            <a:off x="1371600" y="2286000"/>
            <a:ext cx="9445752" cy="2286000"/>
          </a:xfrm>
          <a:prstGeom prst="rect">
            <a:avLst/>
          </a:prstGeom>
          <a:noFill/>
        </p:spPr>
        <p:txBody>
          <a:bodyPr wrap="square">
            <a:spAutoFit/>
          </a:bodyPr>
          <a:lstStyle/>
          <a:p>
            <a:pPr algn="ctr">
              <a:defRPr sz="3600" b="1">
                <a:solidFill>
                  <a:srgbClr val="FFFFFF"/>
                </a:solidFill>
              </a:defRPr>
            </a:pPr>
            <a:r>
              <a:t>بَيّنة AI — Bayyinah Engine</a:t>
            </a:r>
          </a:p>
          <a:p>
            <a:pPr algn="ctr">
              <a:spcBef>
                <a:spcPts val="1400"/>
              </a:spcBef>
              <a:defRPr sz="2000">
                <a:solidFill>
                  <a:srgbClr val="2EF2C2"/>
                </a:solidFill>
              </a:defRPr>
            </a:pPr>
            <a:r>
              <a:t>نحو محتوى إسلامي موثق، رصين، ومحصّن ضد الهلوسة بأحدث حلول الذكاء الاصطناعي الهندسية</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909" name="TextBox 908"/>
          <p:cNvSpPr txBox="1"/>
          <p:nvPr/>
        </p:nvSpPr>
        <p:spPr>
          <a:xfrm>
            <a:off x="1097280" y="1828800"/>
            <a:ext cx="9966960" cy="3200400"/>
          </a:xfrm>
          <a:prstGeom prst="rect">
            <a:avLst/>
          </a:prstGeom>
          <a:noFill/>
        </p:spPr>
        <p:txBody>
          <a:bodyPr wrap="square">
            <a:spAutoFit/>
          </a:bodyPr>
          <a:lstStyle/>
          <a:p>
            <a:pPr algn="r">
              <a:defRPr sz="3000" b="1">
                <a:solidFill>
                  <a:srgbClr val="12183F"/>
                </a:solidFill>
              </a:defRPr>
            </a:pPr>
            <a:r>
              <a:t>الملخص التنفيذي لمنظومة بَيّنة AI</a:t>
            </a:r>
          </a:p>
          <a:p>
            <a:pPr algn="r">
              <a:spcBef>
                <a:spcPts val="800"/>
              </a:spcBef>
              <a:defRPr sz="1600">
                <a:solidFill>
                  <a:srgbClr val="334155"/>
                </a:solidFill>
              </a:defRPr>
            </a:pPr>
            <a:r>
              <a:t>✔  جاهزية كاملة للإنتاج: خط أنابيب برمجي مكتمل يجمع بين PostgreSQL وpgvector وFastAPI وStreamlit.</a:t>
            </a:r>
          </a:p>
          <a:p>
            <a:pPr algn="r">
              <a:spcBef>
                <a:spcPts val="800"/>
              </a:spcBef>
              <a:defRPr sz="1600">
                <a:solidFill>
                  <a:srgbClr val="334155"/>
                </a:solidFill>
              </a:defRPr>
            </a:pPr>
            <a:r>
              <a:t>✔  موثوقية علمية مطلقة: نفي التوليد الحر تماماً، والاعتماد الحصري على الأصول المسندة وصحيحي البخاري ومسلم.</a:t>
            </a:r>
          </a:p>
          <a:p>
            <a:pPr algn="r">
              <a:spcBef>
                <a:spcPts val="800"/>
              </a:spcBef>
              <a:defRPr sz="1600">
                <a:solidFill>
                  <a:srgbClr val="334155"/>
                </a:solidFill>
              </a:defRPr>
            </a:pPr>
            <a:r>
              <a:t>✔  أداء فائق واستجابة لحظية: سرعة استرجاع &lt; 5ms عبر الذاكرة التخزينية المؤقتة للأسئلة الشائعة.</a:t>
            </a:r>
          </a:p>
          <a:p>
            <a:pPr algn="r">
              <a:spcBef>
                <a:spcPts val="800"/>
              </a:spcBef>
              <a:defRPr sz="1600">
                <a:solidFill>
                  <a:srgbClr val="334155"/>
                </a:solidFill>
              </a:defRPr>
            </a:pPr>
            <a:r>
              <a:t>✔  استدامة وتوسع مستمر: توفير النظام كخدمة تحقق سحابية (VaaS API) لحماية التطبيقات والمواقع الإسلامية.</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t>فريق بَيّنة AI — Bayyinah Engine</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t>النموذج الحي التفاعلي: http://localhost:8504 | تحدي الذكاء الاصطناعي في خدمة المحتوى الإسلامي 2026</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